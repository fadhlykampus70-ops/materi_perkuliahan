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4630400" cy="8229600"/>
  <p:notesSz cx="8229600" cy="14630400"/>
  <p:embeddedFontLst>
    <p:embeddedFont>
      <p:font typeface="Alexandria Semi Bold" pitchFamily="34" charset="0"/>
      <p:regular r:id="rId16"/>
    </p:embeddedFont>
    <p:embeddedFont>
      <p:font typeface="Alexandria Semi Bold" pitchFamily="34" charset="-122"/>
      <p:regular r:id="rId17"/>
    </p:embeddedFont>
    <p:embeddedFont>
      <p:font typeface="Alexandria Semi Bold" pitchFamily="34" charset="-120"/>
      <p:regular r:id="rId18"/>
    </p:embeddedFont>
    <p:embeddedFont>
      <p:font typeface="Sora Light" pitchFamily="34" charset="0"/>
      <p:regular r:id="rId19"/>
    </p:embeddedFont>
    <p:embeddedFont>
      <p:font typeface="Sora Light" pitchFamily="34" charset="-122"/>
      <p:regular r:id="rId20"/>
    </p:embeddedFont>
    <p:embeddedFont>
      <p:font typeface="Sora Light" pitchFamily="34" charset="-120"/>
      <p:regular r:id="rId21"/>
    </p:embeddedFont>
    <p:embeddedFont>
      <p:font typeface="Calibri" panose="020F0502020204030204" charset="0"/>
      <p:regular r:id="rId22"/>
      <p:bold r:id="rId23"/>
      <p:italic r:id="rId24"/>
      <p:boldItalic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font" Target="fonts/font10.fntdata"/><Relationship Id="rId24" Type="http://schemas.openxmlformats.org/officeDocument/2006/relationships/font" Target="fonts/font9.fntdata"/><Relationship Id="rId23" Type="http://schemas.openxmlformats.org/officeDocument/2006/relationships/font" Target="fonts/font8.fntdata"/><Relationship Id="rId22" Type="http://schemas.openxmlformats.org/officeDocument/2006/relationships/font" Target="fonts/font7.fntdata"/><Relationship Id="rId21" Type="http://schemas.openxmlformats.org/officeDocument/2006/relationships/font" Target="fonts/font6.fntdata"/><Relationship Id="rId20" Type="http://schemas.openxmlformats.org/officeDocument/2006/relationships/font" Target="fonts/font5.fntdata"/><Relationship Id="rId2" Type="http://schemas.openxmlformats.org/officeDocument/2006/relationships/theme" Target="theme/theme1.xml"/><Relationship Id="rId19" Type="http://schemas.openxmlformats.org/officeDocument/2006/relationships/font" Target="fonts/font4.fntdata"/><Relationship Id="rId18" Type="http://schemas.openxmlformats.org/officeDocument/2006/relationships/font" Target="fonts/font3.fntdata"/><Relationship Id="rId17" Type="http://schemas.openxmlformats.org/officeDocument/2006/relationships/font" Target="fonts/font2.fntdata"/><Relationship Id="rId16" Type="http://schemas.openxmlformats.org/officeDocument/2006/relationships/font" Target="fonts/font1.fntdata"/><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p:spPr>
      </p:sp>
      <p:sp>
        <p:nvSpPr>
          <p:cNvPr id="3" name="Shape 1"/>
          <p:cNvSpPr/>
          <p:nvPr/>
        </p:nvSpPr>
        <p:spPr>
          <a:xfrm>
            <a:off x="0" y="0"/>
            <a:ext cx="14630400" cy="8229600"/>
          </a:xfrm>
          <a:prstGeom prst="rect">
            <a:avLst/>
          </a:prstGeom>
          <a:solidFill>
            <a:srgbClr val="FFFA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p:spPr>
      </p:sp>
      <p:sp>
        <p:nvSpPr>
          <p:cNvPr id="3" name="Shape 1"/>
          <p:cNvSpPr/>
          <p:nvPr/>
        </p:nvSpPr>
        <p:spPr>
          <a:xfrm>
            <a:off x="0" y="0"/>
            <a:ext cx="14630400" cy="8229600"/>
          </a:xfrm>
          <a:prstGeom prst="rect">
            <a:avLst/>
          </a:prstGeom>
          <a:solidFill>
            <a:srgbClr val="FFFA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p:spPr>
      </p:sp>
      <p:sp>
        <p:nvSpPr>
          <p:cNvPr id="3" name="Shape 1"/>
          <p:cNvSpPr/>
          <p:nvPr/>
        </p:nvSpPr>
        <p:spPr>
          <a:xfrm>
            <a:off x="0" y="0"/>
            <a:ext cx="14630400" cy="8229600"/>
          </a:xfrm>
          <a:prstGeom prst="rect">
            <a:avLst/>
          </a:prstGeom>
          <a:solidFill>
            <a:srgbClr val="FFFA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p:spPr>
      </p:sp>
      <p:sp>
        <p:nvSpPr>
          <p:cNvPr id="3" name="Shape 1"/>
          <p:cNvSpPr/>
          <p:nvPr/>
        </p:nvSpPr>
        <p:spPr>
          <a:xfrm>
            <a:off x="0" y="0"/>
            <a:ext cx="14630400" cy="8229600"/>
          </a:xfrm>
          <a:prstGeom prst="rect">
            <a:avLst/>
          </a:prstGeom>
          <a:solidFill>
            <a:srgbClr val="FFFA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p:spPr>
      </p:sp>
      <p:sp>
        <p:nvSpPr>
          <p:cNvPr id="3" name="Shape 1"/>
          <p:cNvSpPr/>
          <p:nvPr/>
        </p:nvSpPr>
        <p:spPr>
          <a:xfrm>
            <a:off x="0" y="0"/>
            <a:ext cx="14630400" cy="8229600"/>
          </a:xfrm>
          <a:prstGeom prst="rect">
            <a:avLst/>
          </a:prstGeom>
          <a:solidFill>
            <a:srgbClr val="FFFA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p:spPr>
      </p:sp>
      <p:sp>
        <p:nvSpPr>
          <p:cNvPr id="3" name="Shape 1"/>
          <p:cNvSpPr/>
          <p:nvPr/>
        </p:nvSpPr>
        <p:spPr>
          <a:xfrm>
            <a:off x="0" y="0"/>
            <a:ext cx="14630400" cy="8229600"/>
          </a:xfrm>
          <a:prstGeom prst="rect">
            <a:avLst/>
          </a:prstGeom>
          <a:solidFill>
            <a:srgbClr val="FFFA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p:spPr>
      </p:sp>
      <p:sp>
        <p:nvSpPr>
          <p:cNvPr id="3" name="Shape 1"/>
          <p:cNvSpPr/>
          <p:nvPr/>
        </p:nvSpPr>
        <p:spPr>
          <a:xfrm>
            <a:off x="0" y="0"/>
            <a:ext cx="14630400" cy="8229600"/>
          </a:xfrm>
          <a:prstGeom prst="rect">
            <a:avLst/>
          </a:prstGeom>
          <a:solidFill>
            <a:srgbClr val="FFFA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p:spPr>
      </p:sp>
      <p:sp>
        <p:nvSpPr>
          <p:cNvPr id="3" name="Shape 1"/>
          <p:cNvSpPr/>
          <p:nvPr/>
        </p:nvSpPr>
        <p:spPr>
          <a:xfrm>
            <a:off x="0" y="0"/>
            <a:ext cx="14630400" cy="8229600"/>
          </a:xfrm>
          <a:prstGeom prst="rect">
            <a:avLst/>
          </a:prstGeom>
          <a:solidFill>
            <a:srgbClr val="FFFA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p:spPr>
      </p:sp>
      <p:sp>
        <p:nvSpPr>
          <p:cNvPr id="3" name="Shape 1"/>
          <p:cNvSpPr/>
          <p:nvPr/>
        </p:nvSpPr>
        <p:spPr>
          <a:xfrm>
            <a:off x="0" y="0"/>
            <a:ext cx="14630400" cy="8229600"/>
          </a:xfrm>
          <a:prstGeom prst="rect">
            <a:avLst/>
          </a:prstGeom>
          <a:solidFill>
            <a:srgbClr val="FFFA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s 6"/>
          <p:cNvSpPr/>
          <p:nvPr/>
        </p:nvSpPr>
        <p:spPr>
          <a:xfrm>
            <a:off x="-322580" y="-296545"/>
            <a:ext cx="15467965" cy="858393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2800"/>
          </a:p>
        </p:txBody>
      </p:sp>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709" y="3281243"/>
            <a:ext cx="6887528" cy="623530"/>
          </a:xfrm>
          <a:prstGeom prst="rect">
            <a:avLst/>
          </a:prstGeom>
          <a:noFill/>
        </p:spPr>
        <p:txBody>
          <a:bodyPr wrap="none" lIns="0" tIns="0" rIns="0" bIns="0" rtlCol="0" anchor="t"/>
          <a:lstStyle/>
          <a:p>
            <a:pPr marL="0" indent="0" algn="l">
              <a:lnSpc>
                <a:spcPts val="4900"/>
              </a:lnSpc>
              <a:buNone/>
            </a:pPr>
            <a:r>
              <a:rPr lang="en-US" sz="3900" dirty="0">
                <a:solidFill>
                  <a:srgbClr val="1F1E1E"/>
                </a:solidFill>
                <a:latin typeface="Alexandria Semi Bold" pitchFamily="34" charset="0"/>
                <a:ea typeface="Alexandria Semi Bold" pitchFamily="34" charset="-122"/>
                <a:cs typeface="Alexandria Semi Bold" pitchFamily="34" charset="-120"/>
              </a:rPr>
              <a:t>Web Design II: Pertemuan 1</a:t>
            </a:r>
            <a:endParaRPr lang="en-US" sz="3900" dirty="0"/>
          </a:p>
        </p:txBody>
      </p:sp>
      <p:sp>
        <p:nvSpPr>
          <p:cNvPr id="4" name="Text 1"/>
          <p:cNvSpPr/>
          <p:nvPr/>
        </p:nvSpPr>
        <p:spPr>
          <a:xfrm>
            <a:off x="6244709" y="4189095"/>
            <a:ext cx="7627382" cy="303252"/>
          </a:xfrm>
          <a:prstGeom prst="rect">
            <a:avLst/>
          </a:prstGeom>
          <a:noFill/>
        </p:spPr>
        <p:txBody>
          <a:bodyPr wrap="none" lIns="0" tIns="0" rIns="0" bIns="0" rtlCol="0" anchor="t"/>
          <a:lstStyle/>
          <a:p>
            <a:pPr marL="0" indent="0" algn="l">
              <a:lnSpc>
                <a:spcPts val="2350"/>
              </a:lnSpc>
              <a:buNone/>
            </a:pPr>
            <a:r>
              <a:rPr lang="en-US" sz="1450" dirty="0">
                <a:solidFill>
                  <a:srgbClr val="3B3535"/>
                </a:solidFill>
                <a:latin typeface="Sora Light" pitchFamily="34" charset="0"/>
                <a:ea typeface="Sora Light" pitchFamily="34" charset="-122"/>
                <a:cs typeface="Sora Light" pitchFamily="34" charset="-120"/>
              </a:rPr>
              <a:t>Kontrak Perkuliahan &amp; Pengantar Web Design II</a:t>
            </a:r>
            <a:endParaRPr lang="en-US" sz="1450" dirty="0"/>
          </a:p>
        </p:txBody>
      </p:sp>
      <p:sp>
        <p:nvSpPr>
          <p:cNvPr id="5" name="Text 2"/>
          <p:cNvSpPr/>
          <p:nvPr/>
        </p:nvSpPr>
        <p:spPr>
          <a:xfrm>
            <a:off x="6244709" y="4705588"/>
            <a:ext cx="7627382" cy="242649"/>
          </a:xfrm>
          <a:prstGeom prst="rect">
            <a:avLst/>
          </a:prstGeom>
          <a:noFill/>
        </p:spPr>
        <p:txBody>
          <a:bodyPr wrap="none" lIns="0" tIns="0" rIns="0" bIns="0" rtlCol="0" anchor="t"/>
          <a:lstStyle/>
          <a:p>
            <a:pPr marL="0" indent="0" algn="l">
              <a:lnSpc>
                <a:spcPts val="1900"/>
              </a:lnSpc>
              <a:buNone/>
            </a:pPr>
            <a:r>
              <a:rPr lang="en-US" sz="1150" dirty="0">
                <a:solidFill>
                  <a:srgbClr val="3B3535"/>
                </a:solidFill>
                <a:latin typeface="Sora Light" pitchFamily="34" charset="0"/>
                <a:ea typeface="Sora Light" pitchFamily="34" charset="-122"/>
                <a:cs typeface="Sora Light" pitchFamily="34" charset="-120"/>
              </a:rPr>
              <a:t>Mata Kuliah: Web Design II | Program Studi: D3 Manajemen Informatika</a:t>
            </a:r>
            <a:endParaRPr lang="en-US" sz="1150" dirty="0"/>
          </a:p>
        </p:txBody>
      </p:sp>
      <p:sp>
        <p:nvSpPr>
          <p:cNvPr id="6" name="Rectangles 5"/>
          <p:cNvSpPr/>
          <p:nvPr/>
        </p:nvSpPr>
        <p:spPr>
          <a:xfrm>
            <a:off x="12760960" y="7494905"/>
            <a:ext cx="1869440" cy="734695"/>
          </a:xfrm>
          <a:prstGeom prst="rect">
            <a:avLst/>
          </a:prstGeom>
          <a:solidFill>
            <a:schemeClr val="bg1"/>
          </a:solidFill>
        </p:spPr>
        <p:style>
          <a:lnRef idx="0">
            <a:srgbClr val="FFFFFF"/>
          </a:lnRef>
          <a:fillRef idx="2">
            <a:schemeClr val="accent3"/>
          </a:fillRef>
          <a:effectRef idx="0">
            <a:srgbClr val="FFFFFF"/>
          </a:effectRef>
          <a:fontRef idx="minor">
            <a:schemeClr val="dk1"/>
          </a:fontRef>
        </p:style>
        <p:txBody>
          <a:bodyPr rtlCol="0" anchor="ctr"/>
          <a:p>
            <a:pPr algn="ctr"/>
            <a:endParaRPr lang="en-US">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s 16"/>
          <p:cNvSpPr/>
          <p:nvPr/>
        </p:nvSpPr>
        <p:spPr>
          <a:xfrm>
            <a:off x="-322580" y="-296545"/>
            <a:ext cx="15467965" cy="858393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2800"/>
          </a:p>
        </p:txBody>
      </p:sp>
      <p:sp>
        <p:nvSpPr>
          <p:cNvPr id="2" name="Shape 0"/>
          <p:cNvSpPr/>
          <p:nvPr/>
        </p:nvSpPr>
        <p:spPr>
          <a:xfrm>
            <a:off x="758309" y="952857"/>
            <a:ext cx="913328" cy="356235"/>
          </a:xfrm>
          <a:prstGeom prst="roundRect">
            <a:avLst>
              <a:gd name="adj" fmla="val 17881"/>
            </a:avLst>
          </a:prstGeom>
          <a:solidFill>
            <a:srgbClr val="D5DCF6"/>
          </a:solidFill>
        </p:spPr>
      </p:sp>
      <p:sp>
        <p:nvSpPr>
          <p:cNvPr id="3" name="Text 1"/>
          <p:cNvSpPr/>
          <p:nvPr/>
        </p:nvSpPr>
        <p:spPr>
          <a:xfrm>
            <a:off x="872014" y="1009650"/>
            <a:ext cx="685919" cy="242649"/>
          </a:xfrm>
          <a:prstGeom prst="rect">
            <a:avLst/>
          </a:prstGeom>
          <a:noFill/>
        </p:spPr>
        <p:txBody>
          <a:bodyPr wrap="none" lIns="0" tIns="0" rIns="0" bIns="0" rtlCol="0" anchor="t"/>
          <a:lstStyle/>
          <a:p>
            <a:pPr marL="0" indent="0" algn="l">
              <a:lnSpc>
                <a:spcPts val="1900"/>
              </a:lnSpc>
              <a:buNone/>
            </a:pPr>
            <a:r>
              <a:rPr lang="en-US" sz="1150" dirty="0">
                <a:solidFill>
                  <a:srgbClr val="3B3535"/>
                </a:solidFill>
                <a:latin typeface="Sora Light" pitchFamily="34" charset="0"/>
                <a:ea typeface="Sora Light" pitchFamily="34" charset="-122"/>
                <a:cs typeface="Sora Light" pitchFamily="34" charset="-120"/>
              </a:rPr>
              <a:t>AGENDA</a:t>
            </a:r>
            <a:endParaRPr lang="en-US" sz="1150" dirty="0"/>
          </a:p>
        </p:txBody>
      </p:sp>
      <p:sp>
        <p:nvSpPr>
          <p:cNvPr id="4" name="Text 2"/>
          <p:cNvSpPr/>
          <p:nvPr/>
        </p:nvSpPr>
        <p:spPr>
          <a:xfrm>
            <a:off x="758309" y="1384816"/>
            <a:ext cx="3991094" cy="498872"/>
          </a:xfrm>
          <a:prstGeom prst="rect">
            <a:avLst/>
          </a:prstGeom>
          <a:noFill/>
        </p:spPr>
        <p:txBody>
          <a:bodyPr wrap="none" lIns="0" tIns="0" rIns="0" bIns="0" rtlCol="0" anchor="t"/>
          <a:lstStyle/>
          <a:p>
            <a:pPr marL="0" indent="0" algn="l">
              <a:lnSpc>
                <a:spcPts val="3900"/>
              </a:lnSpc>
              <a:buNone/>
            </a:pPr>
            <a:r>
              <a:rPr lang="en-US" sz="3100" dirty="0">
                <a:solidFill>
                  <a:srgbClr val="1F1E1E"/>
                </a:solidFill>
                <a:latin typeface="Alexandria Semi Bold" pitchFamily="34" charset="0"/>
                <a:ea typeface="Alexandria Semi Bold" pitchFamily="34" charset="-122"/>
                <a:cs typeface="Alexandria Semi Bold" pitchFamily="34" charset="-120"/>
              </a:rPr>
              <a:t>Profile</a:t>
            </a:r>
            <a:endParaRPr lang="en-US" sz="3100" dirty="0"/>
          </a:p>
        </p:txBody>
      </p:sp>
      <p:sp>
        <p:nvSpPr>
          <p:cNvPr id="5" name="Shape 3"/>
          <p:cNvSpPr/>
          <p:nvPr/>
        </p:nvSpPr>
        <p:spPr>
          <a:xfrm>
            <a:off x="758309" y="2168009"/>
            <a:ext cx="6462117" cy="4652724"/>
          </a:xfrm>
          <a:prstGeom prst="roundRect">
            <a:avLst>
              <a:gd name="adj" fmla="val 1711"/>
            </a:avLst>
          </a:prstGeom>
          <a:solidFill>
            <a:srgbClr val="D5DCF6"/>
          </a:solidFill>
          <a:ln w="7620">
            <a:solidFill>
              <a:srgbClr val="BBC2DC"/>
            </a:solidFill>
            <a:prstDash val="solid"/>
          </a:ln>
        </p:spPr>
      </p:sp>
      <p:sp>
        <p:nvSpPr>
          <p:cNvPr id="6" name="Text 4"/>
          <p:cNvSpPr/>
          <p:nvPr/>
        </p:nvSpPr>
        <p:spPr>
          <a:xfrm>
            <a:off x="955477" y="2365177"/>
            <a:ext cx="4739283" cy="311706"/>
          </a:xfrm>
          <a:prstGeom prst="rect">
            <a:avLst/>
          </a:prstGeom>
          <a:noFill/>
        </p:spPr>
        <p:txBody>
          <a:bodyPr wrap="none" lIns="0" tIns="0" rIns="0" bIns="0" rtlCol="0" anchor="t"/>
          <a:lstStyle/>
          <a:p>
            <a:pPr marL="0" indent="0" algn="l">
              <a:lnSpc>
                <a:spcPts val="2450"/>
              </a:lnSpc>
              <a:buNone/>
            </a:pPr>
            <a:r>
              <a:rPr lang="en-US" sz="1950" dirty="0">
                <a:solidFill>
                  <a:srgbClr val="3B3535"/>
                </a:solidFill>
                <a:latin typeface="Alexandria Semi Bold" pitchFamily="34" charset="0"/>
                <a:ea typeface="Alexandria Semi Bold" pitchFamily="34" charset="-122"/>
                <a:cs typeface="Alexandria Semi Bold" pitchFamily="34" charset="-120"/>
              </a:rPr>
              <a:t>Nama : Fadhly Alfallah,S.Kom,M.Kom </a:t>
            </a:r>
            <a:endParaRPr lang="en-US" sz="1950" dirty="0"/>
          </a:p>
        </p:txBody>
      </p:sp>
      <p:sp>
        <p:nvSpPr>
          <p:cNvPr id="7" name="Text 5"/>
          <p:cNvSpPr/>
          <p:nvPr/>
        </p:nvSpPr>
        <p:spPr>
          <a:xfrm>
            <a:off x="955477" y="2752606"/>
            <a:ext cx="5183029" cy="311706"/>
          </a:xfrm>
          <a:prstGeom prst="rect">
            <a:avLst/>
          </a:prstGeom>
          <a:noFill/>
        </p:spPr>
        <p:txBody>
          <a:bodyPr wrap="none" lIns="0" tIns="0" rIns="0" bIns="0" rtlCol="0" anchor="t"/>
          <a:lstStyle/>
          <a:p>
            <a:pPr marL="0" indent="0" algn="l">
              <a:lnSpc>
                <a:spcPts val="2450"/>
              </a:lnSpc>
              <a:buNone/>
            </a:pPr>
            <a:r>
              <a:rPr lang="en-US" sz="1950" dirty="0">
                <a:solidFill>
                  <a:srgbClr val="3B3535"/>
                </a:solidFill>
                <a:latin typeface="Alexandria Semi Bold" pitchFamily="34" charset="0"/>
                <a:ea typeface="Alexandria Semi Bold" pitchFamily="34" charset="-122"/>
                <a:cs typeface="Alexandria Semi Bold" pitchFamily="34" charset="-120"/>
              </a:rPr>
              <a:t>Tempat/Tgl : Sawahlunto,6 Agustus 2001 </a:t>
            </a:r>
            <a:endParaRPr lang="en-US" sz="1950" dirty="0"/>
          </a:p>
        </p:txBody>
      </p:sp>
      <p:sp>
        <p:nvSpPr>
          <p:cNvPr id="8" name="Text 6"/>
          <p:cNvSpPr/>
          <p:nvPr/>
        </p:nvSpPr>
        <p:spPr>
          <a:xfrm>
            <a:off x="955477" y="3140035"/>
            <a:ext cx="3689152" cy="311706"/>
          </a:xfrm>
          <a:prstGeom prst="rect">
            <a:avLst/>
          </a:prstGeom>
          <a:noFill/>
        </p:spPr>
        <p:txBody>
          <a:bodyPr wrap="none" lIns="0" tIns="0" rIns="0" bIns="0" rtlCol="0" anchor="t"/>
          <a:lstStyle/>
          <a:p>
            <a:pPr marL="0" indent="0" algn="l">
              <a:lnSpc>
                <a:spcPts val="2450"/>
              </a:lnSpc>
              <a:buNone/>
            </a:pPr>
            <a:r>
              <a:rPr lang="en-US" sz="1950" dirty="0">
                <a:solidFill>
                  <a:srgbClr val="3B3535"/>
                </a:solidFill>
                <a:latin typeface="Alexandria Semi Bold" pitchFamily="34" charset="0"/>
                <a:ea typeface="Alexandria Semi Bold" pitchFamily="34" charset="-122"/>
                <a:cs typeface="Alexandria Semi Bold" pitchFamily="34" charset="-120"/>
              </a:rPr>
              <a:t>No Hp /WA : 0895623392902 </a:t>
            </a:r>
            <a:endParaRPr lang="en-US" sz="1950" dirty="0"/>
          </a:p>
        </p:txBody>
      </p:sp>
      <p:sp>
        <p:nvSpPr>
          <p:cNvPr id="9" name="Text 7"/>
          <p:cNvSpPr/>
          <p:nvPr/>
        </p:nvSpPr>
        <p:spPr>
          <a:xfrm>
            <a:off x="955477" y="3527465"/>
            <a:ext cx="4573310" cy="311706"/>
          </a:xfrm>
          <a:prstGeom prst="rect">
            <a:avLst/>
          </a:prstGeom>
          <a:noFill/>
        </p:spPr>
        <p:txBody>
          <a:bodyPr wrap="none" lIns="0" tIns="0" rIns="0" bIns="0" rtlCol="0" anchor="t"/>
          <a:lstStyle/>
          <a:p>
            <a:pPr marL="0" indent="0" algn="l">
              <a:lnSpc>
                <a:spcPts val="2450"/>
              </a:lnSpc>
              <a:buNone/>
            </a:pPr>
            <a:r>
              <a:rPr lang="en-US" sz="1950" dirty="0">
                <a:solidFill>
                  <a:srgbClr val="3B3535"/>
                </a:solidFill>
                <a:latin typeface="Alexandria Semi Bold" pitchFamily="34" charset="0"/>
                <a:ea typeface="Alexandria Semi Bold" pitchFamily="34" charset="-122"/>
                <a:cs typeface="Alexandria Semi Bold" pitchFamily="34" charset="-120"/>
              </a:rPr>
              <a:t>Email : </a:t>
            </a:r>
            <a:r>
              <a:rPr lang="en-US" sz="1950" u="sng" dirty="0">
                <a:solidFill>
                  <a:srgbClr val="1A2D7A"/>
                </a:solidFill>
                <a:latin typeface="Alexandria Semi Bold" pitchFamily="34" charset="0"/>
                <a:ea typeface="Alexandria Semi Bold" pitchFamily="34" charset="-122"/>
                <a:cs typeface="Alexandria Semi Bold" pitchFamily="34" charset="-120"/>
              </a:rPr>
              <a:t>fadhlyalfallah07@gmail.com</a:t>
            </a:r>
            <a:endParaRPr lang="en-US" sz="1950" dirty="0"/>
          </a:p>
        </p:txBody>
      </p:sp>
      <p:sp>
        <p:nvSpPr>
          <p:cNvPr id="10" name="Text 8"/>
          <p:cNvSpPr/>
          <p:nvPr/>
        </p:nvSpPr>
        <p:spPr>
          <a:xfrm>
            <a:off x="955477" y="3952875"/>
            <a:ext cx="6067782" cy="303252"/>
          </a:xfrm>
          <a:prstGeom prst="rect">
            <a:avLst/>
          </a:prstGeom>
          <a:noFill/>
        </p:spPr>
        <p:txBody>
          <a:bodyPr wrap="none" lIns="0" tIns="0" rIns="0" bIns="0" rtlCol="0" anchor="t"/>
          <a:lstStyle/>
          <a:p>
            <a:pPr marL="0" indent="0" algn="l">
              <a:lnSpc>
                <a:spcPts val="2350"/>
              </a:lnSpc>
              <a:buNone/>
            </a:pPr>
            <a:endParaRPr lang="en-US" sz="1450" dirty="0"/>
          </a:p>
        </p:txBody>
      </p:sp>
      <p:sp>
        <p:nvSpPr>
          <p:cNvPr id="11" name="Text 9"/>
          <p:cNvSpPr/>
          <p:nvPr/>
        </p:nvSpPr>
        <p:spPr>
          <a:xfrm>
            <a:off x="955477" y="4369832"/>
            <a:ext cx="6067782" cy="379095"/>
          </a:xfrm>
          <a:prstGeom prst="rect">
            <a:avLst/>
          </a:prstGeom>
          <a:noFill/>
        </p:spPr>
        <p:txBody>
          <a:bodyPr wrap="none" lIns="0" tIns="0" rIns="0" bIns="0" rtlCol="0" anchor="t"/>
          <a:lstStyle/>
          <a:p>
            <a:pPr marL="0" indent="0" algn="l">
              <a:lnSpc>
                <a:spcPts val="2950"/>
              </a:lnSpc>
              <a:buNone/>
            </a:pPr>
            <a:r>
              <a:rPr lang="en-US" sz="1850" b="1" dirty="0">
                <a:solidFill>
                  <a:srgbClr val="3B3535"/>
                </a:solidFill>
                <a:latin typeface="Sora Light" pitchFamily="34" charset="0"/>
                <a:ea typeface="Sora Light" pitchFamily="34" charset="-122"/>
                <a:cs typeface="Sora Light" pitchFamily="34" charset="-120"/>
              </a:rPr>
              <a:t>S1 : Angkatan 2019 di UPI “YPTK” Padang </a:t>
            </a:r>
            <a:endParaRPr lang="en-US" sz="1850" dirty="0"/>
          </a:p>
        </p:txBody>
      </p:sp>
      <p:sp>
        <p:nvSpPr>
          <p:cNvPr id="12" name="Text 10"/>
          <p:cNvSpPr/>
          <p:nvPr/>
        </p:nvSpPr>
        <p:spPr>
          <a:xfrm>
            <a:off x="955477" y="4862632"/>
            <a:ext cx="6067782" cy="758190"/>
          </a:xfrm>
          <a:prstGeom prst="rect">
            <a:avLst/>
          </a:prstGeom>
          <a:noFill/>
        </p:spPr>
        <p:txBody>
          <a:bodyPr wrap="square" lIns="0" tIns="0" rIns="0" bIns="0" rtlCol="0" anchor="t"/>
          <a:lstStyle/>
          <a:p>
            <a:pPr marL="0" indent="0" algn="l">
              <a:lnSpc>
                <a:spcPts val="2950"/>
              </a:lnSpc>
              <a:buNone/>
            </a:pPr>
            <a:r>
              <a:rPr lang="en-US" sz="1850" b="1" dirty="0">
                <a:solidFill>
                  <a:srgbClr val="3B3535"/>
                </a:solidFill>
                <a:latin typeface="Sora Light" pitchFamily="34" charset="0"/>
                <a:ea typeface="Sora Light" pitchFamily="34" charset="-122"/>
                <a:cs typeface="Sora Light" pitchFamily="34" charset="-120"/>
              </a:rPr>
              <a:t>S2 : Angkatan 42 2023 Magister Komputer di UPI “YPTK” Padang</a:t>
            </a:r>
            <a:endParaRPr lang="en-US" sz="1850" dirty="0"/>
          </a:p>
        </p:txBody>
      </p:sp>
      <p:sp>
        <p:nvSpPr>
          <p:cNvPr id="13" name="Shape 11"/>
          <p:cNvSpPr/>
          <p:nvPr/>
        </p:nvSpPr>
        <p:spPr>
          <a:xfrm>
            <a:off x="7409974" y="2168009"/>
            <a:ext cx="6462117" cy="4652724"/>
          </a:xfrm>
          <a:prstGeom prst="roundRect">
            <a:avLst>
              <a:gd name="adj" fmla="val 1711"/>
            </a:avLst>
          </a:prstGeom>
          <a:solidFill>
            <a:srgbClr val="D5DCF6"/>
          </a:solidFill>
          <a:ln w="7620">
            <a:solidFill>
              <a:srgbClr val="BBC2DC"/>
            </a:solidFill>
            <a:prstDash val="solid"/>
          </a:ln>
        </p:spPr>
      </p:sp>
      <p:pic>
        <p:nvPicPr>
          <p:cNvPr id="14" name="Image 0" descr="preencoded.png"/>
          <p:cNvPicPr>
            <a:picLocks noChangeAspect="1"/>
          </p:cNvPicPr>
          <p:nvPr/>
        </p:nvPicPr>
        <p:blipFill>
          <a:blip r:embed="rId1"/>
          <a:stretch>
            <a:fillRect/>
          </a:stretch>
        </p:blipFill>
        <p:spPr>
          <a:xfrm>
            <a:off x="8884920" y="2365177"/>
            <a:ext cx="3512225" cy="4258389"/>
          </a:xfrm>
          <a:prstGeom prst="rect">
            <a:avLst/>
          </a:prstGeom>
        </p:spPr>
      </p:pic>
      <p:sp>
        <p:nvSpPr>
          <p:cNvPr id="15" name="Text 12"/>
          <p:cNvSpPr/>
          <p:nvPr/>
        </p:nvSpPr>
        <p:spPr>
          <a:xfrm>
            <a:off x="758309" y="7033974"/>
            <a:ext cx="13113782" cy="242649"/>
          </a:xfrm>
          <a:prstGeom prst="rect">
            <a:avLst/>
          </a:prstGeom>
          <a:noFill/>
        </p:spPr>
        <p:txBody>
          <a:bodyPr wrap="none" lIns="0" tIns="0" rIns="0" bIns="0" rtlCol="0" anchor="t"/>
          <a:lstStyle/>
          <a:p>
            <a:pPr marL="0" indent="0" algn="l">
              <a:lnSpc>
                <a:spcPts val="1900"/>
              </a:lnSpc>
              <a:buNone/>
            </a:pPr>
            <a:endParaRPr lang="en-US" sz="1150" dirty="0"/>
          </a:p>
        </p:txBody>
      </p:sp>
      <p:sp>
        <p:nvSpPr>
          <p:cNvPr id="16" name="Rectangles 15"/>
          <p:cNvSpPr/>
          <p:nvPr/>
        </p:nvSpPr>
        <p:spPr>
          <a:xfrm>
            <a:off x="12760960" y="7494905"/>
            <a:ext cx="1869440" cy="734695"/>
          </a:xfrm>
          <a:prstGeom prst="rect">
            <a:avLst/>
          </a:prstGeom>
          <a:solidFill>
            <a:schemeClr val="bg1"/>
          </a:solidFill>
        </p:spPr>
        <p:style>
          <a:lnRef idx="0">
            <a:srgbClr val="FFFFFF"/>
          </a:lnRef>
          <a:fillRef idx="2">
            <a:schemeClr val="accent3"/>
          </a:fillRef>
          <a:effectRef idx="0">
            <a:srgbClr val="FFFFFF"/>
          </a:effectRef>
          <a:fontRef idx="minor">
            <a:schemeClr val="dk1"/>
          </a:fontRef>
        </p:style>
        <p:txBody>
          <a:bodyPr rtlCol="0" anchor="ctr"/>
          <a:p>
            <a:pPr algn="ctr"/>
            <a:endParaRPr lang="en-US">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s 18"/>
          <p:cNvSpPr/>
          <p:nvPr/>
        </p:nvSpPr>
        <p:spPr>
          <a:xfrm>
            <a:off x="-322580" y="-296545"/>
            <a:ext cx="15467965" cy="858393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2800"/>
          </a:p>
        </p:txBody>
      </p:sp>
      <p:sp>
        <p:nvSpPr>
          <p:cNvPr id="2" name="Shape 0"/>
          <p:cNvSpPr/>
          <p:nvPr/>
        </p:nvSpPr>
        <p:spPr>
          <a:xfrm>
            <a:off x="1818918" y="397193"/>
            <a:ext cx="693777" cy="223242"/>
          </a:xfrm>
          <a:prstGeom prst="roundRect">
            <a:avLst>
              <a:gd name="adj" fmla="val 19932"/>
            </a:avLst>
          </a:prstGeom>
          <a:solidFill>
            <a:srgbClr val="D5DCF6"/>
          </a:solidFill>
        </p:spPr>
      </p:sp>
      <p:sp>
        <p:nvSpPr>
          <p:cNvPr id="3" name="Text 1"/>
          <p:cNvSpPr/>
          <p:nvPr/>
        </p:nvSpPr>
        <p:spPr>
          <a:xfrm>
            <a:off x="1898333" y="436840"/>
            <a:ext cx="534948" cy="143947"/>
          </a:xfrm>
          <a:prstGeom prst="rect">
            <a:avLst/>
          </a:prstGeom>
          <a:noFill/>
        </p:spPr>
        <p:txBody>
          <a:bodyPr wrap="none" lIns="0" tIns="0" rIns="0" bIns="0" rtlCol="0" anchor="t"/>
          <a:lstStyle/>
          <a:p>
            <a:pPr marL="0" indent="0" algn="l">
              <a:lnSpc>
                <a:spcPts val="1100"/>
              </a:lnSpc>
              <a:buNone/>
            </a:pPr>
            <a:r>
              <a:rPr lang="en-US" sz="800" dirty="0">
                <a:solidFill>
                  <a:srgbClr val="3B3535"/>
                </a:solidFill>
                <a:latin typeface="Sora Light" pitchFamily="34" charset="0"/>
                <a:ea typeface="Sora Light" pitchFamily="34" charset="-122"/>
                <a:cs typeface="Sora Light" pitchFamily="34" charset="-120"/>
              </a:rPr>
              <a:t>EVALUASI</a:t>
            </a:r>
            <a:endParaRPr lang="en-US" sz="800" dirty="0"/>
          </a:p>
        </p:txBody>
      </p:sp>
      <p:sp>
        <p:nvSpPr>
          <p:cNvPr id="4" name="Text 2"/>
          <p:cNvSpPr/>
          <p:nvPr/>
        </p:nvSpPr>
        <p:spPr>
          <a:xfrm>
            <a:off x="1818918" y="657344"/>
            <a:ext cx="6262449" cy="348496"/>
          </a:xfrm>
          <a:prstGeom prst="rect">
            <a:avLst/>
          </a:prstGeom>
          <a:noFill/>
        </p:spPr>
        <p:txBody>
          <a:bodyPr wrap="none" lIns="0" tIns="0" rIns="0" bIns="0" rtlCol="0" anchor="t"/>
          <a:lstStyle/>
          <a:p>
            <a:pPr marL="0" indent="0" algn="l">
              <a:lnSpc>
                <a:spcPts val="2700"/>
              </a:lnSpc>
              <a:buNone/>
            </a:pPr>
            <a:r>
              <a:rPr lang="en-US" sz="2150" dirty="0">
                <a:solidFill>
                  <a:srgbClr val="1F1E1E"/>
                </a:solidFill>
                <a:latin typeface="Alexandria Semi Bold" pitchFamily="34" charset="0"/>
                <a:ea typeface="Alexandria Semi Bold" pitchFamily="34" charset="-122"/>
                <a:cs typeface="Alexandria Semi Bold" pitchFamily="34" charset="-120"/>
              </a:rPr>
              <a:t>Sistem Penilaian: Keadilan dan Transparansi</a:t>
            </a:r>
            <a:endParaRPr lang="en-US" sz="2150" dirty="0"/>
          </a:p>
        </p:txBody>
      </p:sp>
      <p:sp>
        <p:nvSpPr>
          <p:cNvPr id="5" name="Text 3"/>
          <p:cNvSpPr/>
          <p:nvPr/>
        </p:nvSpPr>
        <p:spPr>
          <a:xfrm>
            <a:off x="1818918" y="1144548"/>
            <a:ext cx="10992564" cy="179903"/>
          </a:xfrm>
          <a:prstGeom prst="rect">
            <a:avLst/>
          </a:prstGeom>
          <a:noFill/>
        </p:spPr>
        <p:txBody>
          <a:bodyPr wrap="none" lIns="0" tIns="0" rIns="0" bIns="0" rtlCol="0" anchor="t"/>
          <a:lstStyle/>
          <a:p>
            <a:pPr marL="0" indent="0" algn="l">
              <a:lnSpc>
                <a:spcPts val="1400"/>
              </a:lnSpc>
              <a:buNone/>
            </a:pPr>
            <a:r>
              <a:rPr lang="en-US" sz="1000" dirty="0">
                <a:solidFill>
                  <a:srgbClr val="3B3535"/>
                </a:solidFill>
                <a:latin typeface="Sora Light" pitchFamily="34" charset="0"/>
                <a:ea typeface="Sora Light" pitchFamily="34" charset="-122"/>
                <a:cs typeface="Sora Light" pitchFamily="34" charset="-120"/>
              </a:rPr>
              <a:t>Penilaian mata kuliah Web Design II didasarkan pada kombinasi komponen untuk mencerminkan kinerja mahasiswa secara menyeluruh.</a:t>
            </a:r>
            <a:endParaRPr lang="en-US" sz="1000" dirty="0"/>
          </a:p>
        </p:txBody>
      </p:sp>
      <p:pic>
        <p:nvPicPr>
          <p:cNvPr id="6" name="Image 0" descr="preencoded.png"/>
          <p:cNvPicPr>
            <a:picLocks noChangeAspect="1"/>
          </p:cNvPicPr>
          <p:nvPr/>
        </p:nvPicPr>
        <p:blipFill>
          <a:blip r:embed="rId1"/>
          <a:stretch>
            <a:fillRect/>
          </a:stretch>
        </p:blipFill>
        <p:spPr>
          <a:xfrm>
            <a:off x="1818918" y="1428512"/>
            <a:ext cx="10992564" cy="5860494"/>
          </a:xfrm>
          <a:prstGeom prst="rect">
            <a:avLst/>
          </a:prstGeom>
        </p:spPr>
      </p:pic>
      <p:sp>
        <p:nvSpPr>
          <p:cNvPr id="7" name="Shape 4"/>
          <p:cNvSpPr/>
          <p:nvPr/>
        </p:nvSpPr>
        <p:spPr>
          <a:xfrm>
            <a:off x="3314343" y="7319486"/>
            <a:ext cx="132398" cy="132398"/>
          </a:xfrm>
          <a:prstGeom prst="roundRect">
            <a:avLst>
              <a:gd name="adj" fmla="val 13813"/>
            </a:avLst>
          </a:prstGeom>
          <a:solidFill>
            <a:srgbClr val="0D173F"/>
          </a:solidFill>
        </p:spPr>
      </p:sp>
      <p:sp>
        <p:nvSpPr>
          <p:cNvPr id="8" name="Text 5"/>
          <p:cNvSpPr/>
          <p:nvPr/>
        </p:nvSpPr>
        <p:spPr>
          <a:xfrm>
            <a:off x="3507700" y="7319486"/>
            <a:ext cx="387787" cy="132398"/>
          </a:xfrm>
          <a:prstGeom prst="rect">
            <a:avLst/>
          </a:prstGeom>
          <a:noFill/>
        </p:spPr>
        <p:txBody>
          <a:bodyPr wrap="none" lIns="0" tIns="0" rIns="0" bIns="0" rtlCol="0" anchor="t"/>
          <a:lstStyle/>
          <a:p>
            <a:pPr marL="0" indent="0" algn="l">
              <a:lnSpc>
                <a:spcPts val="1000"/>
              </a:lnSpc>
              <a:buNone/>
            </a:pPr>
            <a:r>
              <a:rPr lang="en-US" sz="1000" dirty="0">
                <a:solidFill>
                  <a:srgbClr val="3B3535"/>
                </a:solidFill>
                <a:latin typeface="Sora Light" pitchFamily="34" charset="0"/>
                <a:ea typeface="Sora Light" pitchFamily="34" charset="-122"/>
                <a:cs typeface="Sora Light" pitchFamily="34" charset="-120"/>
              </a:rPr>
              <a:t>Tugas </a:t>
            </a:r>
            <a:endParaRPr lang="en-US" sz="1000" dirty="0"/>
          </a:p>
        </p:txBody>
      </p:sp>
      <p:sp>
        <p:nvSpPr>
          <p:cNvPr id="9" name="Shape 6"/>
          <p:cNvSpPr/>
          <p:nvPr/>
        </p:nvSpPr>
        <p:spPr>
          <a:xfrm>
            <a:off x="4047887" y="7319486"/>
            <a:ext cx="132398" cy="132398"/>
          </a:xfrm>
          <a:prstGeom prst="roundRect">
            <a:avLst>
              <a:gd name="adj" fmla="val 13813"/>
            </a:avLst>
          </a:prstGeom>
          <a:solidFill>
            <a:srgbClr val="1B2E7D"/>
          </a:solidFill>
        </p:spPr>
      </p:sp>
      <p:sp>
        <p:nvSpPr>
          <p:cNvPr id="10" name="Text 7"/>
          <p:cNvSpPr/>
          <p:nvPr/>
        </p:nvSpPr>
        <p:spPr>
          <a:xfrm>
            <a:off x="4241244" y="7319486"/>
            <a:ext cx="1883212" cy="264795"/>
          </a:xfrm>
          <a:prstGeom prst="rect">
            <a:avLst/>
          </a:prstGeom>
          <a:noFill/>
        </p:spPr>
        <p:txBody>
          <a:bodyPr wrap="square" lIns="0" tIns="0" rIns="0" bIns="0" rtlCol="0" anchor="t"/>
          <a:lstStyle/>
          <a:p>
            <a:pPr marL="0" indent="0" algn="l">
              <a:lnSpc>
                <a:spcPts val="1000"/>
              </a:lnSpc>
              <a:buNone/>
            </a:pPr>
            <a:r>
              <a:rPr lang="en-US" sz="1000" dirty="0">
                <a:solidFill>
                  <a:srgbClr val="3B3535"/>
                </a:solidFill>
                <a:latin typeface="Sora Light" pitchFamily="34" charset="0"/>
                <a:ea typeface="Sora Light" pitchFamily="34" charset="-122"/>
                <a:cs typeface="Sora Light" pitchFamily="34" charset="-120"/>
              </a:rPr>
              <a:t>Ujian Tengah Semester (UTS)</a:t>
            </a:r>
            <a:endParaRPr lang="en-US" sz="1000" dirty="0"/>
          </a:p>
        </p:txBody>
      </p:sp>
      <p:sp>
        <p:nvSpPr>
          <p:cNvPr id="11" name="Shape 8"/>
          <p:cNvSpPr/>
          <p:nvPr/>
        </p:nvSpPr>
        <p:spPr>
          <a:xfrm>
            <a:off x="6312337" y="7319486"/>
            <a:ext cx="132398" cy="132398"/>
          </a:xfrm>
          <a:prstGeom prst="roundRect">
            <a:avLst>
              <a:gd name="adj" fmla="val 13813"/>
            </a:avLst>
          </a:prstGeom>
          <a:solidFill>
            <a:srgbClr val="2845BB"/>
          </a:solidFill>
        </p:spPr>
      </p:sp>
      <p:sp>
        <p:nvSpPr>
          <p:cNvPr id="12" name="Text 9"/>
          <p:cNvSpPr/>
          <p:nvPr/>
        </p:nvSpPr>
        <p:spPr>
          <a:xfrm>
            <a:off x="6505694" y="7319486"/>
            <a:ext cx="1812131" cy="132398"/>
          </a:xfrm>
          <a:prstGeom prst="rect">
            <a:avLst/>
          </a:prstGeom>
          <a:noFill/>
        </p:spPr>
        <p:txBody>
          <a:bodyPr wrap="none" lIns="0" tIns="0" rIns="0" bIns="0" rtlCol="0" anchor="t"/>
          <a:lstStyle/>
          <a:p>
            <a:pPr marL="0" indent="0" algn="l">
              <a:lnSpc>
                <a:spcPts val="1000"/>
              </a:lnSpc>
              <a:buNone/>
            </a:pPr>
            <a:r>
              <a:rPr lang="en-US" sz="1000" dirty="0">
                <a:solidFill>
                  <a:srgbClr val="3B3535"/>
                </a:solidFill>
                <a:latin typeface="Sora Light" pitchFamily="34" charset="0"/>
                <a:ea typeface="Sora Light" pitchFamily="34" charset="-122"/>
                <a:cs typeface="Sora Light" pitchFamily="34" charset="-120"/>
              </a:rPr>
              <a:t>Ujian Akhir Semester (UAS)</a:t>
            </a:r>
            <a:endParaRPr lang="en-US" sz="1000" dirty="0"/>
          </a:p>
        </p:txBody>
      </p:sp>
      <p:sp>
        <p:nvSpPr>
          <p:cNvPr id="13" name="Shape 10"/>
          <p:cNvSpPr/>
          <p:nvPr/>
        </p:nvSpPr>
        <p:spPr>
          <a:xfrm>
            <a:off x="9308663" y="7319486"/>
            <a:ext cx="132398" cy="132398"/>
          </a:xfrm>
          <a:prstGeom prst="roundRect">
            <a:avLst>
              <a:gd name="adj" fmla="val 13813"/>
            </a:avLst>
          </a:prstGeom>
          <a:solidFill>
            <a:srgbClr val="546FDB"/>
          </a:solidFill>
        </p:spPr>
      </p:sp>
      <p:sp>
        <p:nvSpPr>
          <p:cNvPr id="14" name="Text 11"/>
          <p:cNvSpPr/>
          <p:nvPr/>
        </p:nvSpPr>
        <p:spPr>
          <a:xfrm>
            <a:off x="9502021" y="7319486"/>
            <a:ext cx="277416" cy="132398"/>
          </a:xfrm>
          <a:prstGeom prst="rect">
            <a:avLst/>
          </a:prstGeom>
          <a:noFill/>
        </p:spPr>
        <p:txBody>
          <a:bodyPr wrap="none" lIns="0" tIns="0" rIns="0" bIns="0" rtlCol="0" anchor="t"/>
          <a:lstStyle/>
          <a:p>
            <a:pPr marL="0" indent="0" algn="l">
              <a:lnSpc>
                <a:spcPts val="1000"/>
              </a:lnSpc>
              <a:buNone/>
            </a:pPr>
            <a:r>
              <a:rPr lang="en-US" sz="1000" dirty="0">
                <a:solidFill>
                  <a:srgbClr val="3B3535"/>
                </a:solidFill>
                <a:latin typeface="Sora Light" pitchFamily="34" charset="0"/>
                <a:ea typeface="Sora Light" pitchFamily="34" charset="-122"/>
                <a:cs typeface="Sora Light" pitchFamily="34" charset="-120"/>
              </a:rPr>
              <a:t>Kuis</a:t>
            </a:r>
            <a:endParaRPr lang="en-US" sz="1000" dirty="0"/>
          </a:p>
        </p:txBody>
      </p:sp>
      <p:sp>
        <p:nvSpPr>
          <p:cNvPr id="15" name="Shape 12"/>
          <p:cNvSpPr/>
          <p:nvPr/>
        </p:nvSpPr>
        <p:spPr>
          <a:xfrm>
            <a:off x="10734794" y="7319486"/>
            <a:ext cx="132398" cy="132398"/>
          </a:xfrm>
          <a:prstGeom prst="roundRect">
            <a:avLst>
              <a:gd name="adj" fmla="val 13813"/>
            </a:avLst>
          </a:prstGeom>
          <a:solidFill>
            <a:srgbClr val="93A3E8"/>
          </a:solidFill>
        </p:spPr>
      </p:sp>
      <p:sp>
        <p:nvSpPr>
          <p:cNvPr id="16" name="Text 13"/>
          <p:cNvSpPr/>
          <p:nvPr/>
        </p:nvSpPr>
        <p:spPr>
          <a:xfrm>
            <a:off x="10928152" y="7319486"/>
            <a:ext cx="668060" cy="132398"/>
          </a:xfrm>
          <a:prstGeom prst="rect">
            <a:avLst/>
          </a:prstGeom>
          <a:noFill/>
        </p:spPr>
        <p:txBody>
          <a:bodyPr wrap="none" lIns="0" tIns="0" rIns="0" bIns="0" rtlCol="0" anchor="t"/>
          <a:lstStyle/>
          <a:p>
            <a:pPr marL="0" indent="0" algn="l">
              <a:lnSpc>
                <a:spcPts val="1000"/>
              </a:lnSpc>
              <a:buNone/>
            </a:pPr>
            <a:r>
              <a:rPr lang="en-US" sz="1000" dirty="0">
                <a:solidFill>
                  <a:srgbClr val="3B3535"/>
                </a:solidFill>
                <a:latin typeface="Sora Light" pitchFamily="34" charset="0"/>
                <a:ea typeface="Sora Light" pitchFamily="34" charset="-122"/>
                <a:cs typeface="Sora Light" pitchFamily="34" charset="-120"/>
              </a:rPr>
              <a:t>Kehadiran </a:t>
            </a:r>
            <a:endParaRPr lang="en-US" sz="1000" dirty="0"/>
          </a:p>
        </p:txBody>
      </p:sp>
      <p:sp>
        <p:nvSpPr>
          <p:cNvPr id="17" name="Text 14"/>
          <p:cNvSpPr/>
          <p:nvPr/>
        </p:nvSpPr>
        <p:spPr>
          <a:xfrm>
            <a:off x="1818918" y="7688342"/>
            <a:ext cx="10992564" cy="143947"/>
          </a:xfrm>
          <a:prstGeom prst="rect">
            <a:avLst/>
          </a:prstGeom>
          <a:noFill/>
        </p:spPr>
        <p:txBody>
          <a:bodyPr wrap="none" lIns="0" tIns="0" rIns="0" bIns="0" rtlCol="0" anchor="t"/>
          <a:lstStyle/>
          <a:p>
            <a:pPr marL="0" indent="0" algn="l">
              <a:lnSpc>
                <a:spcPts val="1100"/>
              </a:lnSpc>
              <a:buNone/>
            </a:pPr>
            <a:endParaRPr lang="en-US" sz="800" dirty="0"/>
          </a:p>
        </p:txBody>
      </p:sp>
      <p:sp>
        <p:nvSpPr>
          <p:cNvPr id="18" name="Rectangles 17"/>
          <p:cNvSpPr/>
          <p:nvPr/>
        </p:nvSpPr>
        <p:spPr>
          <a:xfrm>
            <a:off x="12760960" y="7494905"/>
            <a:ext cx="1869440" cy="734695"/>
          </a:xfrm>
          <a:prstGeom prst="rect">
            <a:avLst/>
          </a:prstGeom>
          <a:solidFill>
            <a:schemeClr val="bg1"/>
          </a:solidFill>
        </p:spPr>
        <p:style>
          <a:lnRef idx="0">
            <a:srgbClr val="FFFFFF"/>
          </a:lnRef>
          <a:fillRef idx="2">
            <a:schemeClr val="accent3"/>
          </a:fillRef>
          <a:effectRef idx="0">
            <a:srgbClr val="FFFFFF"/>
          </a:effectRef>
          <a:fontRef idx="minor">
            <a:schemeClr val="dk1"/>
          </a:fontRef>
        </p:style>
        <p:txBody>
          <a:bodyPr rtlCol="0" anchor="ctr"/>
          <a:p>
            <a:pPr algn="ctr"/>
            <a:endParaRPr lang="en-US">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s 7"/>
          <p:cNvSpPr/>
          <p:nvPr/>
        </p:nvSpPr>
        <p:spPr>
          <a:xfrm>
            <a:off x="-322580" y="-296545"/>
            <a:ext cx="15467965" cy="858393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2800"/>
          </a:p>
        </p:txBody>
      </p:sp>
      <p:sp>
        <p:nvSpPr>
          <p:cNvPr id="2" name="Text 0"/>
          <p:cNvSpPr/>
          <p:nvPr/>
        </p:nvSpPr>
        <p:spPr>
          <a:xfrm>
            <a:off x="758309" y="1694736"/>
            <a:ext cx="9804559" cy="498872"/>
          </a:xfrm>
          <a:prstGeom prst="rect">
            <a:avLst/>
          </a:prstGeom>
          <a:noFill/>
        </p:spPr>
        <p:txBody>
          <a:bodyPr wrap="none" lIns="0" tIns="0" rIns="0" bIns="0" rtlCol="0" anchor="t"/>
          <a:lstStyle/>
          <a:p>
            <a:pPr marL="0" indent="0" algn="l">
              <a:lnSpc>
                <a:spcPts val="3900"/>
              </a:lnSpc>
              <a:buNone/>
            </a:pPr>
            <a:r>
              <a:rPr lang="en-US" sz="3100" dirty="0">
                <a:solidFill>
                  <a:srgbClr val="1F1E1E"/>
                </a:solidFill>
                <a:latin typeface="Alexandria Semi Bold" pitchFamily="34" charset="0"/>
                <a:ea typeface="Alexandria Semi Bold" pitchFamily="34" charset="-122"/>
                <a:cs typeface="Alexandria Semi Bold" pitchFamily="34" charset="-120"/>
              </a:rPr>
              <a:t>Etika dan Harapan: Lingkungan Belajar Kondusif</a:t>
            </a:r>
            <a:endParaRPr lang="en-US" sz="3100" dirty="0"/>
          </a:p>
        </p:txBody>
      </p:sp>
      <p:sp>
        <p:nvSpPr>
          <p:cNvPr id="3" name="Shape 1"/>
          <p:cNvSpPr/>
          <p:nvPr/>
        </p:nvSpPr>
        <p:spPr>
          <a:xfrm>
            <a:off x="621863" y="2477929"/>
            <a:ext cx="8091845" cy="3601045"/>
          </a:xfrm>
          <a:prstGeom prst="roundRect">
            <a:avLst>
              <a:gd name="adj" fmla="val 3790"/>
            </a:avLst>
          </a:prstGeom>
          <a:solidFill>
            <a:srgbClr val="D3DCF6"/>
          </a:solidFill>
        </p:spPr>
      </p:sp>
      <p:sp>
        <p:nvSpPr>
          <p:cNvPr id="4" name="Text 2"/>
          <p:cNvSpPr/>
          <p:nvPr/>
        </p:nvSpPr>
        <p:spPr>
          <a:xfrm>
            <a:off x="811411" y="2648545"/>
            <a:ext cx="7712750" cy="3033271"/>
          </a:xfrm>
          <a:prstGeom prst="rect">
            <a:avLst/>
          </a:prstGeom>
          <a:noFill/>
        </p:spPr>
        <p:txBody>
          <a:bodyPr wrap="square" lIns="0" tIns="0" rIns="0" bIns="0" rtlCol="0" anchor="t"/>
          <a:lstStyle/>
          <a:p>
            <a:pPr marL="342900" indent="-342900" algn="l">
              <a:lnSpc>
                <a:spcPts val="2350"/>
              </a:lnSpc>
              <a:buSzPct val="100000"/>
              <a:buFont typeface="+mj-lt"/>
              <a:buAutoNum type="arabicPeriod"/>
            </a:pPr>
            <a:r>
              <a:rPr lang="en-US" sz="1450" dirty="0">
                <a:solidFill>
                  <a:srgbClr val="3B3535"/>
                </a:solidFill>
                <a:latin typeface="Sora Light" pitchFamily="34" charset="0"/>
                <a:ea typeface="Sora Light" pitchFamily="34" charset="-122"/>
                <a:cs typeface="Sora Light" pitchFamily="34" charset="-120"/>
              </a:rPr>
              <a:t>Kehadiran kuliah mahasiswa minimal 75% dari total Tatap Muka.</a:t>
            </a:r>
            <a:endParaRPr lang="en-US" sz="1450" dirty="0"/>
          </a:p>
          <a:p>
            <a:pPr marL="342900" indent="-342900" algn="l">
              <a:lnSpc>
                <a:spcPts val="2350"/>
              </a:lnSpc>
              <a:buSzPct val="100000"/>
              <a:buFont typeface="+mj-lt"/>
              <a:buAutoNum type="arabicPeriod" startAt="2"/>
            </a:pPr>
            <a:r>
              <a:rPr lang="en-US" sz="1450" dirty="0">
                <a:solidFill>
                  <a:srgbClr val="3B3535"/>
                </a:solidFill>
                <a:latin typeface="Sora Light" pitchFamily="34" charset="0"/>
                <a:ea typeface="Sora Light" pitchFamily="34" charset="-122"/>
                <a:cs typeface="Sora Light" pitchFamily="34" charset="-120"/>
              </a:rPr>
              <a:t>Seluruh tugas / nilai praktek harus dikumpulkan.</a:t>
            </a:r>
            <a:endParaRPr lang="en-US" sz="1450" dirty="0"/>
          </a:p>
          <a:p>
            <a:pPr marL="342900" indent="-342900" algn="l">
              <a:lnSpc>
                <a:spcPts val="2350"/>
              </a:lnSpc>
              <a:buSzPct val="100000"/>
              <a:buFont typeface="+mj-lt"/>
              <a:buAutoNum type="arabicPeriod" startAt="3"/>
            </a:pPr>
            <a:r>
              <a:rPr lang="en-US" sz="1450" dirty="0">
                <a:solidFill>
                  <a:srgbClr val="3B3535"/>
                </a:solidFill>
                <a:latin typeface="Sora Light" pitchFamily="34" charset="0"/>
                <a:ea typeface="Sora Light" pitchFamily="34" charset="-122"/>
                <a:cs typeface="Sora Light" pitchFamily="34" charset="-120"/>
              </a:rPr>
              <a:t>Penampilan sesuai dengan tata tertib yang berlaku yaitu: Dilarang menggunakan Kaos Oblong. Tidak Menggunakan Sendal. Rambut tidak di cat/bigen. Tidak memakai pakaian yang ketat (Wanita). Tidak diperboleh masuk kuliah yang berambut gondrong dan memakai anting (Pria).</a:t>
            </a:r>
            <a:endParaRPr lang="en-US" sz="1450" dirty="0"/>
          </a:p>
          <a:p>
            <a:pPr marL="342900" indent="-342900" algn="l">
              <a:lnSpc>
                <a:spcPts val="2350"/>
              </a:lnSpc>
              <a:buSzPct val="100000"/>
              <a:buFont typeface="+mj-lt"/>
              <a:buAutoNum type="arabicPeriod" startAt="4"/>
            </a:pPr>
            <a:r>
              <a:rPr lang="en-US" sz="1450" dirty="0">
                <a:solidFill>
                  <a:srgbClr val="3B3535"/>
                </a:solidFill>
                <a:latin typeface="Sora Light" pitchFamily="34" charset="0"/>
                <a:ea typeface="Sora Light" pitchFamily="34" charset="-122"/>
                <a:cs typeface="Sora Light" pitchFamily="34" charset="-120"/>
              </a:rPr>
              <a:t>Maksimum keterlambatan 15 menit</a:t>
            </a:r>
            <a:endParaRPr lang="en-US" sz="1450" dirty="0"/>
          </a:p>
          <a:p>
            <a:pPr marL="342900" indent="-342900" algn="l">
              <a:lnSpc>
                <a:spcPts val="2350"/>
              </a:lnSpc>
              <a:buSzPct val="100000"/>
              <a:buFont typeface="+mj-lt"/>
              <a:buAutoNum type="arabicPeriod" startAt="5"/>
            </a:pPr>
            <a:r>
              <a:rPr lang="en-US" sz="1450" dirty="0">
                <a:solidFill>
                  <a:srgbClr val="3B3535"/>
                </a:solidFill>
                <a:latin typeface="Sora Light" pitchFamily="34" charset="0"/>
                <a:ea typeface="Sora Light" pitchFamily="34" charset="-122"/>
                <a:cs typeface="Sora Light" pitchFamily="34" charset="-120"/>
              </a:rPr>
              <a:t>Wajib menggunakan Almamater pada saat masuk ruang perkuliahan</a:t>
            </a:r>
            <a:endParaRPr lang="en-US" sz="1450" dirty="0"/>
          </a:p>
          <a:p>
            <a:pPr marL="342900" indent="-342900" algn="l">
              <a:lnSpc>
                <a:spcPts val="2350"/>
              </a:lnSpc>
              <a:buSzPct val="100000"/>
              <a:buFont typeface="+mj-lt"/>
              <a:buAutoNum type="arabicPeriod" startAt="6"/>
            </a:pPr>
            <a:r>
              <a:rPr lang="en-US" sz="1450" dirty="0">
                <a:solidFill>
                  <a:srgbClr val="3B3535"/>
                </a:solidFill>
                <a:latin typeface="Sora Light" pitchFamily="34" charset="0"/>
                <a:ea typeface="Sora Light" pitchFamily="34" charset="-122"/>
                <a:cs typeface="Sora Light" pitchFamily="34" charset="-120"/>
              </a:rPr>
              <a:t>Khusus bagi yang bekerja, wajib menunjukkan kartu tanda sudah bekerja jika terlambat.</a:t>
            </a:r>
            <a:endParaRPr lang="en-US" sz="1450" dirty="0"/>
          </a:p>
        </p:txBody>
      </p:sp>
      <p:pic>
        <p:nvPicPr>
          <p:cNvPr id="5" name="Image 0" descr="preencoded.png"/>
          <p:cNvPicPr>
            <a:picLocks noChangeAspect="1"/>
          </p:cNvPicPr>
          <p:nvPr/>
        </p:nvPicPr>
        <p:blipFill>
          <a:blip r:embed="rId1"/>
          <a:stretch>
            <a:fillRect/>
          </a:stretch>
        </p:blipFill>
        <p:spPr>
          <a:xfrm>
            <a:off x="9047321" y="2691170"/>
            <a:ext cx="4832271" cy="2738199"/>
          </a:xfrm>
          <a:prstGeom prst="rect">
            <a:avLst/>
          </a:prstGeom>
        </p:spPr>
      </p:pic>
      <p:sp>
        <p:nvSpPr>
          <p:cNvPr id="6" name="Text 3"/>
          <p:cNvSpPr/>
          <p:nvPr/>
        </p:nvSpPr>
        <p:spPr>
          <a:xfrm>
            <a:off x="758309" y="5961375"/>
            <a:ext cx="13113782" cy="242649"/>
          </a:xfrm>
          <a:prstGeom prst="rect">
            <a:avLst/>
          </a:prstGeom>
          <a:noFill/>
        </p:spPr>
        <p:txBody>
          <a:bodyPr wrap="none" lIns="0" tIns="0" rIns="0" bIns="0" rtlCol="0" anchor="t"/>
          <a:lstStyle/>
          <a:p>
            <a:pPr marL="0" indent="0" algn="l">
              <a:lnSpc>
                <a:spcPts val="1900"/>
              </a:lnSpc>
              <a:buNone/>
            </a:pPr>
            <a:r>
              <a:rPr lang="en-US" sz="1150" dirty="0">
                <a:solidFill>
                  <a:srgbClr val="3B3535"/>
                </a:solidFill>
                <a:latin typeface="Sora Light" pitchFamily="34" charset="0"/>
                <a:ea typeface="Sora Light" pitchFamily="34" charset="-122"/>
                <a:cs typeface="Sora Light" pitchFamily="34" charset="-120"/>
              </a:rPr>
              <a:t>Dengan mematuhi prinsip-prinsip ini, kita bersama-sama membangun lingkungan belajar yang suportif, inklusif, dan produktif bagi seluruh civitas akademika.</a:t>
            </a:r>
            <a:endParaRPr lang="en-US" sz="1150" dirty="0"/>
          </a:p>
        </p:txBody>
      </p:sp>
      <p:sp>
        <p:nvSpPr>
          <p:cNvPr id="7" name="Rectangles 6"/>
          <p:cNvSpPr/>
          <p:nvPr/>
        </p:nvSpPr>
        <p:spPr>
          <a:xfrm>
            <a:off x="12760960" y="7494905"/>
            <a:ext cx="1869440" cy="734695"/>
          </a:xfrm>
          <a:prstGeom prst="rect">
            <a:avLst/>
          </a:prstGeom>
          <a:solidFill>
            <a:schemeClr val="bg1"/>
          </a:solidFill>
        </p:spPr>
        <p:style>
          <a:lnRef idx="0">
            <a:srgbClr val="FFFFFF"/>
          </a:lnRef>
          <a:fillRef idx="2">
            <a:schemeClr val="accent3"/>
          </a:fillRef>
          <a:effectRef idx="0">
            <a:srgbClr val="FFFFFF"/>
          </a:effectRef>
          <a:fontRef idx="minor">
            <a:schemeClr val="dk1"/>
          </a:fontRef>
        </p:style>
        <p:txBody>
          <a:bodyPr rtlCol="0" anchor="ctr"/>
          <a:p>
            <a:pPr algn="ctr"/>
            <a:endParaRPr lang="en-US">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s 10"/>
          <p:cNvSpPr/>
          <p:nvPr/>
        </p:nvSpPr>
        <p:spPr>
          <a:xfrm>
            <a:off x="-322580" y="-296545"/>
            <a:ext cx="15467965" cy="858393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2800"/>
          </a:p>
        </p:txBody>
      </p:sp>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8309" y="833914"/>
            <a:ext cx="7627382" cy="997744"/>
          </a:xfrm>
          <a:prstGeom prst="rect">
            <a:avLst/>
          </a:prstGeom>
          <a:noFill/>
        </p:spPr>
        <p:txBody>
          <a:bodyPr wrap="square" lIns="0" tIns="0" rIns="0" bIns="0" rtlCol="0" anchor="t"/>
          <a:lstStyle/>
          <a:p>
            <a:pPr marL="0" indent="0" algn="l">
              <a:lnSpc>
                <a:spcPts val="3900"/>
              </a:lnSpc>
              <a:buNone/>
            </a:pPr>
            <a:r>
              <a:rPr lang="en-US" sz="3100" dirty="0">
                <a:solidFill>
                  <a:srgbClr val="1F1E1E"/>
                </a:solidFill>
                <a:latin typeface="Alexandria Semi Bold" pitchFamily="34" charset="0"/>
                <a:ea typeface="Alexandria Semi Bold" pitchFamily="34" charset="-122"/>
                <a:cs typeface="Alexandria Semi Bold" pitchFamily="34" charset="-120"/>
              </a:rPr>
              <a:t>Struktur Tugas: Membangun Portofolio Praktis</a:t>
            </a:r>
            <a:endParaRPr lang="en-US" sz="3100" dirty="0"/>
          </a:p>
        </p:txBody>
      </p:sp>
      <p:sp>
        <p:nvSpPr>
          <p:cNvPr id="4" name="Text 1"/>
          <p:cNvSpPr/>
          <p:nvPr/>
        </p:nvSpPr>
        <p:spPr>
          <a:xfrm>
            <a:off x="758309" y="2115979"/>
            <a:ext cx="7627382" cy="909757"/>
          </a:xfrm>
          <a:prstGeom prst="rect">
            <a:avLst/>
          </a:prstGeom>
          <a:noFill/>
        </p:spPr>
        <p:txBody>
          <a:bodyPr wrap="square" lIns="0" tIns="0" rIns="0" bIns="0" rtlCol="0" anchor="t"/>
          <a:lstStyle/>
          <a:p>
            <a:pPr marL="0" indent="0" algn="l">
              <a:lnSpc>
                <a:spcPts val="2350"/>
              </a:lnSpc>
              <a:buNone/>
            </a:pPr>
            <a:r>
              <a:rPr lang="en-US" sz="1450" dirty="0">
                <a:solidFill>
                  <a:srgbClr val="3B3535"/>
                </a:solidFill>
                <a:latin typeface="Sora Light" pitchFamily="34" charset="0"/>
                <a:ea typeface="Sora Light" pitchFamily="34" charset="-122"/>
                <a:cs typeface="Sora Light" pitchFamily="34" charset="-120"/>
              </a:rPr>
              <a:t>Tugas terstruktur dirancang untuk memperkuat pemahaman konsep dan aplikasi praktis Web Design II. Setiap tugas memiliki bobot dan tujuan pembelajaran spesifik.</a:t>
            </a:r>
            <a:endParaRPr lang="en-US" sz="1450" dirty="0"/>
          </a:p>
        </p:txBody>
      </p:sp>
      <p:sp>
        <p:nvSpPr>
          <p:cNvPr id="5" name="Text 2"/>
          <p:cNvSpPr/>
          <p:nvPr/>
        </p:nvSpPr>
        <p:spPr>
          <a:xfrm>
            <a:off x="758309" y="3428524"/>
            <a:ext cx="2995136" cy="311706"/>
          </a:xfrm>
          <a:prstGeom prst="rect">
            <a:avLst/>
          </a:prstGeom>
          <a:noFill/>
        </p:spPr>
        <p:txBody>
          <a:bodyPr wrap="none" lIns="0" tIns="0" rIns="0" bIns="0" rtlCol="0" anchor="t"/>
          <a:lstStyle/>
          <a:p>
            <a:pPr marL="0" indent="0" algn="l">
              <a:lnSpc>
                <a:spcPts val="2450"/>
              </a:lnSpc>
              <a:buNone/>
            </a:pPr>
            <a:r>
              <a:rPr lang="en-US" sz="1950" dirty="0">
                <a:solidFill>
                  <a:srgbClr val="1F1E1E"/>
                </a:solidFill>
                <a:latin typeface="Alexandria Semi Bold" pitchFamily="34" charset="0"/>
                <a:ea typeface="Alexandria Semi Bold" pitchFamily="34" charset="-122"/>
                <a:cs typeface="Alexandria Semi Bold" pitchFamily="34" charset="-120"/>
              </a:rPr>
              <a:t>Jenis Tugas Terstruktur:</a:t>
            </a:r>
            <a:endParaRPr lang="en-US" sz="1950" dirty="0"/>
          </a:p>
        </p:txBody>
      </p:sp>
      <p:sp>
        <p:nvSpPr>
          <p:cNvPr id="6" name="Text 3"/>
          <p:cNvSpPr/>
          <p:nvPr/>
        </p:nvSpPr>
        <p:spPr>
          <a:xfrm>
            <a:off x="758309" y="3929777"/>
            <a:ext cx="3582472" cy="2123289"/>
          </a:xfrm>
          <a:prstGeom prst="rect">
            <a:avLst/>
          </a:prstGeom>
          <a:noFill/>
        </p:spPr>
        <p:txBody>
          <a:bodyPr wrap="square" lIns="0" tIns="0" rIns="0" bIns="0" rtlCol="0" anchor="t"/>
          <a:lstStyle/>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Proyek Pengembangan Web (Individu/Kelompok)</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Studi Kasus Desain Responsif</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Latihan Kode dan Implementasi Fitur</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Review Situs Web dan Identifikasi Kelemahan</a:t>
            </a:r>
            <a:endParaRPr lang="en-US" sz="1450" dirty="0"/>
          </a:p>
        </p:txBody>
      </p:sp>
      <p:sp>
        <p:nvSpPr>
          <p:cNvPr id="7" name="Text 4"/>
          <p:cNvSpPr/>
          <p:nvPr/>
        </p:nvSpPr>
        <p:spPr>
          <a:xfrm>
            <a:off x="4810839" y="3428524"/>
            <a:ext cx="2494359" cy="311706"/>
          </a:xfrm>
          <a:prstGeom prst="rect">
            <a:avLst/>
          </a:prstGeom>
          <a:noFill/>
        </p:spPr>
        <p:txBody>
          <a:bodyPr wrap="none" lIns="0" tIns="0" rIns="0" bIns="0" rtlCol="0" anchor="t"/>
          <a:lstStyle/>
          <a:p>
            <a:pPr marL="0" indent="0" algn="l">
              <a:lnSpc>
                <a:spcPts val="2450"/>
              </a:lnSpc>
              <a:buNone/>
            </a:pPr>
            <a:r>
              <a:rPr lang="en-US" sz="1950" dirty="0">
                <a:solidFill>
                  <a:srgbClr val="1F1E1E"/>
                </a:solidFill>
                <a:latin typeface="Alexandria Semi Bold" pitchFamily="34" charset="0"/>
                <a:ea typeface="Alexandria Semi Bold" pitchFamily="34" charset="-122"/>
                <a:cs typeface="Alexandria Semi Bold" pitchFamily="34" charset="-120"/>
              </a:rPr>
              <a:t>Ekspektasi:</a:t>
            </a:r>
            <a:endParaRPr lang="en-US" sz="1950" dirty="0"/>
          </a:p>
        </p:txBody>
      </p:sp>
      <p:sp>
        <p:nvSpPr>
          <p:cNvPr id="8" name="Text 5"/>
          <p:cNvSpPr/>
          <p:nvPr/>
        </p:nvSpPr>
        <p:spPr>
          <a:xfrm>
            <a:off x="4810839" y="3929777"/>
            <a:ext cx="3582472" cy="1516261"/>
          </a:xfrm>
          <a:prstGeom prst="rect">
            <a:avLst/>
          </a:prstGeom>
          <a:noFill/>
        </p:spPr>
        <p:txBody>
          <a:bodyPr wrap="square" lIns="0" tIns="0" rIns="0" bIns="0" rtlCol="0" anchor="t"/>
          <a:lstStyle/>
          <a:p>
            <a:pPr marL="0" indent="0" algn="l">
              <a:lnSpc>
                <a:spcPts val="2350"/>
              </a:lnSpc>
              <a:buNone/>
            </a:pPr>
            <a:r>
              <a:rPr lang="en-US" sz="1450" dirty="0">
                <a:solidFill>
                  <a:srgbClr val="3B3535"/>
                </a:solidFill>
                <a:latin typeface="Sora Light" pitchFamily="34" charset="0"/>
                <a:ea typeface="Sora Light" pitchFamily="34" charset="-122"/>
                <a:cs typeface="Sora Light" pitchFamily="34" charset="-120"/>
              </a:rPr>
              <a:t>Setiap tugas diharapkan dikerjakan secara sistematis dengan mengikuti standar industri. Detail rubrik penilaian akan disediakan untuk setiap tugas.</a:t>
            </a:r>
            <a:endParaRPr lang="en-US" sz="1450" dirty="0"/>
          </a:p>
        </p:txBody>
      </p:sp>
      <p:sp>
        <p:nvSpPr>
          <p:cNvPr id="9" name="Text 6"/>
          <p:cNvSpPr/>
          <p:nvPr/>
        </p:nvSpPr>
        <p:spPr>
          <a:xfrm>
            <a:off x="4810839" y="5616654"/>
            <a:ext cx="3582472" cy="909757"/>
          </a:xfrm>
          <a:prstGeom prst="rect">
            <a:avLst/>
          </a:prstGeom>
          <a:noFill/>
        </p:spPr>
        <p:txBody>
          <a:bodyPr wrap="square" lIns="0" tIns="0" rIns="0" bIns="0" rtlCol="0" anchor="t"/>
          <a:lstStyle/>
          <a:p>
            <a:pPr marL="0" indent="0" algn="l">
              <a:lnSpc>
                <a:spcPts val="2350"/>
              </a:lnSpc>
              <a:buNone/>
            </a:pPr>
            <a:r>
              <a:rPr lang="en-US" sz="1450" dirty="0">
                <a:solidFill>
                  <a:srgbClr val="3B3535"/>
                </a:solidFill>
                <a:latin typeface="Sora Light" pitchFamily="34" charset="0"/>
                <a:ea typeface="Sora Light" pitchFamily="34" charset="-122"/>
                <a:cs typeface="Sora Light" pitchFamily="34" charset="-120"/>
              </a:rPr>
              <a:t>Penting untuk mengumpulkan tugas tepat waktu dan memperhatikan aspek orisinalitas.</a:t>
            </a:r>
            <a:endParaRPr lang="en-US" sz="1450" dirty="0"/>
          </a:p>
        </p:txBody>
      </p:sp>
      <p:sp>
        <p:nvSpPr>
          <p:cNvPr id="10" name="Text 7"/>
          <p:cNvSpPr/>
          <p:nvPr/>
        </p:nvSpPr>
        <p:spPr>
          <a:xfrm>
            <a:off x="758309" y="6711839"/>
            <a:ext cx="7627382" cy="485299"/>
          </a:xfrm>
          <a:prstGeom prst="rect">
            <a:avLst/>
          </a:prstGeom>
          <a:noFill/>
        </p:spPr>
        <p:txBody>
          <a:bodyPr wrap="square" lIns="0" tIns="0" rIns="0" bIns="0" rtlCol="0" anchor="t"/>
          <a:lstStyle/>
          <a:p>
            <a:pPr marL="0" indent="0" algn="l">
              <a:lnSpc>
                <a:spcPts val="1900"/>
              </a:lnSpc>
              <a:buNone/>
            </a:pPr>
            <a:r>
              <a:rPr lang="en-US" sz="1150" dirty="0">
                <a:solidFill>
                  <a:srgbClr val="3B3535"/>
                </a:solidFill>
                <a:latin typeface="Sora Light" pitchFamily="34" charset="0"/>
                <a:ea typeface="Sora Light" pitchFamily="34" charset="-122"/>
                <a:cs typeface="Sora Light" pitchFamily="34" charset="-120"/>
              </a:rPr>
              <a:t>Tugas-tugas ini akan menjadi bagian integral dari portofolio Anda sebagai desainer dan pengembang web.</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s 10"/>
          <p:cNvSpPr/>
          <p:nvPr/>
        </p:nvSpPr>
        <p:spPr>
          <a:xfrm>
            <a:off x="-322580" y="-296545"/>
            <a:ext cx="15467965" cy="858393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2800"/>
          </a:p>
        </p:txBody>
      </p:sp>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709" y="1023580"/>
            <a:ext cx="7627382" cy="997744"/>
          </a:xfrm>
          <a:prstGeom prst="rect">
            <a:avLst/>
          </a:prstGeom>
          <a:noFill/>
        </p:spPr>
        <p:txBody>
          <a:bodyPr wrap="square" lIns="0" tIns="0" rIns="0" bIns="0" rtlCol="0" anchor="t"/>
          <a:lstStyle/>
          <a:p>
            <a:pPr marL="0" indent="0" algn="l">
              <a:lnSpc>
                <a:spcPts val="3900"/>
              </a:lnSpc>
              <a:buNone/>
            </a:pPr>
            <a:r>
              <a:rPr lang="en-US" sz="3100" dirty="0">
                <a:solidFill>
                  <a:srgbClr val="1F1E1E"/>
                </a:solidFill>
                <a:latin typeface="Alexandria Semi Bold" pitchFamily="34" charset="0"/>
                <a:ea typeface="Alexandria Semi Bold" pitchFamily="34" charset="-122"/>
                <a:cs typeface="Alexandria Semi Bold" pitchFamily="34" charset="-120"/>
              </a:rPr>
              <a:t>Pengantar Web Design II: Evolusi dan Interaktivitas</a:t>
            </a:r>
            <a:endParaRPr lang="en-US" sz="3100" dirty="0"/>
          </a:p>
        </p:txBody>
      </p:sp>
      <p:sp>
        <p:nvSpPr>
          <p:cNvPr id="4" name="Text 1"/>
          <p:cNvSpPr/>
          <p:nvPr/>
        </p:nvSpPr>
        <p:spPr>
          <a:xfrm>
            <a:off x="6244709" y="2305645"/>
            <a:ext cx="7627382" cy="1213009"/>
          </a:xfrm>
          <a:prstGeom prst="rect">
            <a:avLst/>
          </a:prstGeom>
          <a:noFill/>
        </p:spPr>
        <p:txBody>
          <a:bodyPr wrap="square" lIns="0" tIns="0" rIns="0" bIns="0" rtlCol="0" anchor="t"/>
          <a:lstStyle/>
          <a:p>
            <a:pPr marL="0" indent="0" algn="l">
              <a:lnSpc>
                <a:spcPts val="2350"/>
              </a:lnSpc>
              <a:buNone/>
            </a:pPr>
            <a:r>
              <a:rPr lang="en-US" sz="1450" dirty="0">
                <a:solidFill>
                  <a:srgbClr val="3B3535"/>
                </a:solidFill>
                <a:latin typeface="Sora Light" pitchFamily="34" charset="0"/>
                <a:ea typeface="Sora Light" pitchFamily="34" charset="-122"/>
                <a:cs typeface="Sora Light" pitchFamily="34" charset="-120"/>
              </a:rPr>
              <a:t>Web Design II adalah kelanjutan dari Web Design I, yang berfokus pada pengembangan situs web yang lebih kompleks dan dinamis. Mata kuliah ini akan membahas berbagai aspek penting dalam menciptakan pengalaman pengguna yang menarik dan responsif.</a:t>
            </a:r>
            <a:endParaRPr lang="en-US" sz="1450" dirty="0"/>
          </a:p>
        </p:txBody>
      </p:sp>
      <p:sp>
        <p:nvSpPr>
          <p:cNvPr id="5" name="Text 2"/>
          <p:cNvSpPr/>
          <p:nvPr/>
        </p:nvSpPr>
        <p:spPr>
          <a:xfrm>
            <a:off x="6244709" y="3921443"/>
            <a:ext cx="2494359" cy="311706"/>
          </a:xfrm>
          <a:prstGeom prst="rect">
            <a:avLst/>
          </a:prstGeom>
          <a:noFill/>
        </p:spPr>
        <p:txBody>
          <a:bodyPr wrap="none" lIns="0" tIns="0" rIns="0" bIns="0" rtlCol="0" anchor="t"/>
          <a:lstStyle/>
          <a:p>
            <a:pPr marL="0" indent="0" algn="l">
              <a:lnSpc>
                <a:spcPts val="2450"/>
              </a:lnSpc>
              <a:buNone/>
            </a:pPr>
            <a:r>
              <a:rPr lang="en-US" sz="1950" dirty="0">
                <a:solidFill>
                  <a:srgbClr val="1F1E1E"/>
                </a:solidFill>
                <a:latin typeface="Alexandria Semi Bold" pitchFamily="34" charset="0"/>
                <a:ea typeface="Alexandria Semi Bold" pitchFamily="34" charset="-122"/>
                <a:cs typeface="Alexandria Semi Bold" pitchFamily="34" charset="-120"/>
              </a:rPr>
              <a:t>Fokus Utama:</a:t>
            </a:r>
            <a:endParaRPr lang="en-US" sz="1950" dirty="0"/>
          </a:p>
        </p:txBody>
      </p:sp>
      <p:sp>
        <p:nvSpPr>
          <p:cNvPr id="6" name="Text 3"/>
          <p:cNvSpPr/>
          <p:nvPr/>
        </p:nvSpPr>
        <p:spPr>
          <a:xfrm>
            <a:off x="6244709" y="4422696"/>
            <a:ext cx="3582472" cy="1819962"/>
          </a:xfrm>
          <a:prstGeom prst="rect">
            <a:avLst/>
          </a:prstGeom>
          <a:noFill/>
        </p:spPr>
        <p:txBody>
          <a:bodyPr wrap="square" lIns="0" tIns="0" rIns="0" bIns="0" rtlCol="0" anchor="t"/>
          <a:lstStyle/>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Desain Responsif dan Adaptif</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Penggunaan Framework dan Library Modern</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Optimasi Kinerja Web</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Keamanan dalam Pengembangan Web</a:t>
            </a:r>
            <a:endParaRPr lang="en-US" sz="1450" dirty="0"/>
          </a:p>
        </p:txBody>
      </p:sp>
      <p:sp>
        <p:nvSpPr>
          <p:cNvPr id="7" name="Text 4"/>
          <p:cNvSpPr/>
          <p:nvPr/>
        </p:nvSpPr>
        <p:spPr>
          <a:xfrm>
            <a:off x="10297239" y="3921443"/>
            <a:ext cx="2749510" cy="311706"/>
          </a:xfrm>
          <a:prstGeom prst="rect">
            <a:avLst/>
          </a:prstGeom>
          <a:noFill/>
        </p:spPr>
        <p:txBody>
          <a:bodyPr wrap="none" lIns="0" tIns="0" rIns="0" bIns="0" rtlCol="0" anchor="t"/>
          <a:lstStyle/>
          <a:p>
            <a:pPr marL="0" indent="0" algn="l">
              <a:lnSpc>
                <a:spcPts val="2450"/>
              </a:lnSpc>
              <a:buNone/>
            </a:pPr>
            <a:r>
              <a:rPr lang="en-US" sz="1950" dirty="0">
                <a:solidFill>
                  <a:srgbClr val="1F1E1E"/>
                </a:solidFill>
                <a:latin typeface="Alexandria Semi Bold" pitchFamily="34" charset="0"/>
                <a:ea typeface="Alexandria Semi Bold" pitchFamily="34" charset="-122"/>
                <a:cs typeface="Alexandria Semi Bold" pitchFamily="34" charset="-120"/>
              </a:rPr>
              <a:t>Tujuan Pembelajaran:</a:t>
            </a:r>
            <a:endParaRPr lang="en-US" sz="1950" dirty="0"/>
          </a:p>
        </p:txBody>
      </p:sp>
      <p:sp>
        <p:nvSpPr>
          <p:cNvPr id="8" name="Text 5"/>
          <p:cNvSpPr/>
          <p:nvPr/>
        </p:nvSpPr>
        <p:spPr>
          <a:xfrm>
            <a:off x="10297239" y="4422696"/>
            <a:ext cx="3582472" cy="1819962"/>
          </a:xfrm>
          <a:prstGeom prst="rect">
            <a:avLst/>
          </a:prstGeom>
          <a:noFill/>
        </p:spPr>
        <p:txBody>
          <a:bodyPr wrap="square" lIns="0" tIns="0" rIns="0" bIns="0" rtlCol="0" anchor="t"/>
          <a:lstStyle/>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Mampu mengembangkan situs web interaktif.</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Mampu mengintegrasikan teknologi terkini.</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Mampu menerapkan praktik terbaik dalam desain web.</a:t>
            </a:r>
            <a:endParaRPr lang="en-US" sz="1450" dirty="0"/>
          </a:p>
        </p:txBody>
      </p:sp>
      <p:sp>
        <p:nvSpPr>
          <p:cNvPr id="9" name="Text 6"/>
          <p:cNvSpPr/>
          <p:nvPr/>
        </p:nvSpPr>
        <p:spPr>
          <a:xfrm>
            <a:off x="6244709" y="6390030"/>
            <a:ext cx="7627382" cy="485299"/>
          </a:xfrm>
          <a:prstGeom prst="rect">
            <a:avLst/>
          </a:prstGeom>
          <a:noFill/>
        </p:spPr>
        <p:txBody>
          <a:bodyPr wrap="square" lIns="0" tIns="0" rIns="0" bIns="0" rtlCol="0" anchor="t"/>
          <a:lstStyle/>
          <a:p>
            <a:pPr marL="0" indent="0" algn="l">
              <a:lnSpc>
                <a:spcPts val="1900"/>
              </a:lnSpc>
              <a:buNone/>
            </a:pPr>
            <a:r>
              <a:rPr lang="en-US" sz="1150" dirty="0">
                <a:solidFill>
                  <a:srgbClr val="3B3535"/>
                </a:solidFill>
                <a:latin typeface="Sora Light" pitchFamily="34" charset="0"/>
                <a:ea typeface="Sora Light" pitchFamily="34" charset="-122"/>
                <a:cs typeface="Sora Light" pitchFamily="34" charset="-120"/>
              </a:rPr>
              <a:t>Melalui Web Design II, mahasiswa akan dibekali dengan keterampilan praktis untuk menghadapi tantangan industri pengembangan web yang terus berkembang.</a:t>
            </a:r>
            <a:endParaRPr lang="en-US" sz="1150" dirty="0"/>
          </a:p>
        </p:txBody>
      </p:sp>
      <p:sp>
        <p:nvSpPr>
          <p:cNvPr id="10" name="Rectangles 9"/>
          <p:cNvSpPr/>
          <p:nvPr/>
        </p:nvSpPr>
        <p:spPr>
          <a:xfrm>
            <a:off x="12760960" y="7494905"/>
            <a:ext cx="1869440" cy="734695"/>
          </a:xfrm>
          <a:prstGeom prst="rect">
            <a:avLst/>
          </a:prstGeom>
          <a:solidFill>
            <a:schemeClr val="bg1"/>
          </a:solidFill>
        </p:spPr>
        <p:style>
          <a:lnRef idx="0">
            <a:srgbClr val="FFFFFF"/>
          </a:lnRef>
          <a:fillRef idx="2">
            <a:schemeClr val="accent3"/>
          </a:fillRef>
          <a:effectRef idx="0">
            <a:srgbClr val="FFFFFF"/>
          </a:effectRef>
          <a:fontRef idx="minor">
            <a:schemeClr val="dk1"/>
          </a:fontRef>
        </p:style>
        <p:txBody>
          <a:bodyPr rtlCol="0" anchor="ctr"/>
          <a:p>
            <a:pPr algn="ctr"/>
            <a:endParaRPr lang="en-US">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s 8"/>
          <p:cNvSpPr/>
          <p:nvPr/>
        </p:nvSpPr>
        <p:spPr>
          <a:xfrm>
            <a:off x="-322580" y="-296545"/>
            <a:ext cx="15467965" cy="858393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2800"/>
          </a:p>
        </p:txBody>
      </p:sp>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8309" y="1014174"/>
            <a:ext cx="7627382" cy="1247061"/>
          </a:xfrm>
          <a:prstGeom prst="rect">
            <a:avLst/>
          </a:prstGeom>
          <a:noFill/>
        </p:spPr>
        <p:txBody>
          <a:bodyPr wrap="square" lIns="0" tIns="0" rIns="0" bIns="0" rtlCol="0" anchor="t"/>
          <a:lstStyle/>
          <a:p>
            <a:pPr marL="0" indent="0" algn="l">
              <a:lnSpc>
                <a:spcPts val="4900"/>
              </a:lnSpc>
              <a:buNone/>
            </a:pPr>
            <a:r>
              <a:rPr lang="en-US" sz="3900" dirty="0">
                <a:solidFill>
                  <a:srgbClr val="1F1E1E"/>
                </a:solidFill>
                <a:latin typeface="Alexandria Semi Bold" pitchFamily="34" charset="0"/>
                <a:ea typeface="Alexandria Semi Bold" pitchFamily="34" charset="-122"/>
                <a:cs typeface="Alexandria Semi Bold" pitchFamily="34" charset="-120"/>
              </a:rPr>
              <a:t>Konsep Web Design II: Pengembangan Lanjutan</a:t>
            </a:r>
            <a:endParaRPr lang="en-US" sz="3900" dirty="0"/>
          </a:p>
        </p:txBody>
      </p:sp>
      <p:sp>
        <p:nvSpPr>
          <p:cNvPr id="4" name="Shape 1"/>
          <p:cNvSpPr/>
          <p:nvPr/>
        </p:nvSpPr>
        <p:spPr>
          <a:xfrm>
            <a:off x="621863" y="2545556"/>
            <a:ext cx="3855363" cy="4669869"/>
          </a:xfrm>
          <a:prstGeom prst="roundRect">
            <a:avLst>
              <a:gd name="adj" fmla="val 3540"/>
            </a:avLst>
          </a:prstGeom>
          <a:solidFill>
            <a:srgbClr val="D3DCF6"/>
          </a:solidFill>
        </p:spPr>
      </p:sp>
      <p:sp>
        <p:nvSpPr>
          <p:cNvPr id="5" name="Text 2"/>
          <p:cNvSpPr/>
          <p:nvPr/>
        </p:nvSpPr>
        <p:spPr>
          <a:xfrm>
            <a:off x="811411" y="2735104"/>
            <a:ext cx="2840236" cy="311706"/>
          </a:xfrm>
          <a:prstGeom prst="rect">
            <a:avLst/>
          </a:prstGeom>
          <a:noFill/>
        </p:spPr>
        <p:txBody>
          <a:bodyPr wrap="none" lIns="0" tIns="0" rIns="0" bIns="0" rtlCol="0" anchor="t"/>
          <a:lstStyle/>
          <a:p>
            <a:pPr marL="0" indent="0" algn="l">
              <a:lnSpc>
                <a:spcPts val="2450"/>
              </a:lnSpc>
              <a:buNone/>
            </a:pPr>
            <a:r>
              <a:rPr lang="en-US" sz="1950" dirty="0">
                <a:solidFill>
                  <a:srgbClr val="1F1E1E"/>
                </a:solidFill>
                <a:latin typeface="Alexandria Semi Bold" pitchFamily="34" charset="0"/>
                <a:ea typeface="Alexandria Semi Bold" pitchFamily="34" charset="-122"/>
                <a:cs typeface="Alexandria Semi Bold" pitchFamily="34" charset="-120"/>
              </a:rPr>
              <a:t>Apa itu Web Design II?</a:t>
            </a:r>
            <a:endParaRPr lang="en-US" sz="1950" dirty="0"/>
          </a:p>
        </p:txBody>
      </p:sp>
      <p:sp>
        <p:nvSpPr>
          <p:cNvPr id="6" name="Text 3"/>
          <p:cNvSpPr/>
          <p:nvPr/>
        </p:nvSpPr>
        <p:spPr>
          <a:xfrm>
            <a:off x="811411" y="3236357"/>
            <a:ext cx="3476268" cy="3336598"/>
          </a:xfrm>
          <a:prstGeom prst="rect">
            <a:avLst/>
          </a:prstGeom>
          <a:noFill/>
        </p:spPr>
        <p:txBody>
          <a:bodyPr wrap="square" lIns="0" tIns="0" rIns="0" bIns="0" rtlCol="0" anchor="t"/>
          <a:lstStyle/>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Kelanjutan dari Web Design I dengan fokus pada kompleksitas yang lebih tinggi</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Pengembangan situs web yang dinamis dan interaktif</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Integrasi teknologi modern dan framework terkini</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Penerapan prinsip UX/UI yang lebih mendalam</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Optimasi performa dan responsivitas lintas perangkat</a:t>
            </a:r>
            <a:endParaRPr lang="en-US" sz="1450" dirty="0"/>
          </a:p>
        </p:txBody>
      </p:sp>
      <p:sp>
        <p:nvSpPr>
          <p:cNvPr id="7" name="Text 4"/>
          <p:cNvSpPr/>
          <p:nvPr/>
        </p:nvSpPr>
        <p:spPr>
          <a:xfrm>
            <a:off x="4810839" y="2735104"/>
            <a:ext cx="3582472" cy="623411"/>
          </a:xfrm>
          <a:prstGeom prst="rect">
            <a:avLst/>
          </a:prstGeom>
          <a:noFill/>
        </p:spPr>
        <p:txBody>
          <a:bodyPr wrap="square" lIns="0" tIns="0" rIns="0" bIns="0" rtlCol="0" anchor="t"/>
          <a:lstStyle/>
          <a:p>
            <a:pPr marL="0" indent="0" algn="l">
              <a:lnSpc>
                <a:spcPts val="2450"/>
              </a:lnSpc>
              <a:buNone/>
            </a:pPr>
            <a:r>
              <a:rPr lang="en-US" sz="1950" dirty="0">
                <a:solidFill>
                  <a:srgbClr val="1F1E1E"/>
                </a:solidFill>
                <a:latin typeface="Alexandria Semi Bold" pitchFamily="34" charset="0"/>
                <a:ea typeface="Alexandria Semi Bold" pitchFamily="34" charset="-122"/>
                <a:cs typeface="Alexandria Semi Bold" pitchFamily="34" charset="-120"/>
              </a:rPr>
              <a:t>Perbedaan Web Design I vs II</a:t>
            </a:r>
            <a:endParaRPr lang="en-US" sz="1950" dirty="0"/>
          </a:p>
        </p:txBody>
      </p:sp>
      <p:sp>
        <p:nvSpPr>
          <p:cNvPr id="8" name="Text 5"/>
          <p:cNvSpPr/>
          <p:nvPr/>
        </p:nvSpPr>
        <p:spPr>
          <a:xfrm>
            <a:off x="4810839" y="3548063"/>
            <a:ext cx="3582472" cy="3336598"/>
          </a:xfrm>
          <a:prstGeom prst="rect">
            <a:avLst/>
          </a:prstGeom>
          <a:noFill/>
        </p:spPr>
        <p:txBody>
          <a:bodyPr wrap="square" lIns="0" tIns="0" rIns="0" bIns="0" rtlCol="0" anchor="t"/>
          <a:lstStyle/>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Web Design I: Fokus pada dasar HTML, CSS, dan layout statis</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Web Design II: Menambahkan JavaScript, framework, dan interaktivitas</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Implementasi desain responsif yang lebih canggih</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Integrasi dengan backend dan database</a:t>
            </a:r>
            <a:endParaRPr lang="en-US" sz="1450" dirty="0"/>
          </a:p>
          <a:p>
            <a:pPr marL="342900" indent="-342900" algn="l">
              <a:lnSpc>
                <a:spcPts val="2350"/>
              </a:lnSpc>
              <a:buSzPct val="100000"/>
              <a:buChar char="•"/>
            </a:pPr>
            <a:r>
              <a:rPr lang="en-US" sz="1450" dirty="0">
                <a:solidFill>
                  <a:srgbClr val="3B3535"/>
                </a:solidFill>
                <a:latin typeface="Sora Light" pitchFamily="34" charset="0"/>
                <a:ea typeface="Sora Light" pitchFamily="34" charset="-122"/>
                <a:cs typeface="Sora Light" pitchFamily="34" charset="-120"/>
              </a:rPr>
              <a:t>Penerapan best practices industri terkini</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s 12"/>
          <p:cNvSpPr/>
          <p:nvPr/>
        </p:nvSpPr>
        <p:spPr>
          <a:xfrm>
            <a:off x="-322580" y="-296545"/>
            <a:ext cx="15467965" cy="858393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2800"/>
          </a:p>
        </p:txBody>
      </p:sp>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44697" y="650081"/>
            <a:ext cx="7827407" cy="1082754"/>
          </a:xfrm>
          <a:prstGeom prst="rect">
            <a:avLst/>
          </a:prstGeom>
          <a:noFill/>
        </p:spPr>
        <p:txBody>
          <a:bodyPr wrap="square" lIns="0" tIns="0" rIns="0" bIns="0" rtlCol="0" anchor="t"/>
          <a:lstStyle/>
          <a:p>
            <a:pPr marL="0" indent="0" algn="l">
              <a:lnSpc>
                <a:spcPts val="4250"/>
              </a:lnSpc>
              <a:buNone/>
            </a:pPr>
            <a:r>
              <a:rPr lang="en-US" sz="3400" dirty="0">
                <a:solidFill>
                  <a:srgbClr val="1F1E1E"/>
                </a:solidFill>
                <a:latin typeface="Alexandria Semi Bold" pitchFamily="34" charset="0"/>
                <a:ea typeface="Alexandria Semi Bold" pitchFamily="34" charset="-122"/>
                <a:cs typeface="Alexandria Semi Bold" pitchFamily="34" charset="-120"/>
              </a:rPr>
              <a:t>Tools yang Diperlukan dalam Web Design II</a:t>
            </a:r>
            <a:endParaRPr lang="en-US" sz="3400" dirty="0"/>
          </a:p>
        </p:txBody>
      </p:sp>
      <p:sp>
        <p:nvSpPr>
          <p:cNvPr id="4" name="Shape 1"/>
          <p:cNvSpPr/>
          <p:nvPr/>
        </p:nvSpPr>
        <p:spPr>
          <a:xfrm>
            <a:off x="6144697" y="1947148"/>
            <a:ext cx="3842266" cy="3359348"/>
          </a:xfrm>
          <a:prstGeom prst="roundRect">
            <a:avLst>
              <a:gd name="adj" fmla="val 2058"/>
            </a:avLst>
          </a:prstGeom>
          <a:solidFill>
            <a:srgbClr val="D5DCF6"/>
          </a:solidFill>
          <a:ln w="7620">
            <a:solidFill>
              <a:srgbClr val="BBC2DC"/>
            </a:solidFill>
            <a:prstDash val="solid"/>
          </a:ln>
        </p:spPr>
      </p:sp>
      <p:sp>
        <p:nvSpPr>
          <p:cNvPr id="5" name="Text 2"/>
          <p:cNvSpPr/>
          <p:nvPr/>
        </p:nvSpPr>
        <p:spPr>
          <a:xfrm>
            <a:off x="6316861" y="2119313"/>
            <a:ext cx="2786301" cy="270629"/>
          </a:xfrm>
          <a:prstGeom prst="rect">
            <a:avLst/>
          </a:prstGeom>
          <a:noFill/>
        </p:spPr>
        <p:txBody>
          <a:bodyPr wrap="none" lIns="0" tIns="0" rIns="0" bIns="0" rtlCol="0" anchor="t"/>
          <a:lstStyle/>
          <a:p>
            <a:pPr marL="0" indent="0" algn="l">
              <a:lnSpc>
                <a:spcPts val="2100"/>
              </a:lnSpc>
              <a:buNone/>
            </a:pPr>
            <a:r>
              <a:rPr lang="en-US" sz="1700" dirty="0">
                <a:solidFill>
                  <a:srgbClr val="3B3535"/>
                </a:solidFill>
                <a:latin typeface="Alexandria Semi Bold" pitchFamily="34" charset="0"/>
                <a:ea typeface="Alexandria Semi Bold" pitchFamily="34" charset="-122"/>
                <a:cs typeface="Alexandria Semi Bold" pitchFamily="34" charset="-120"/>
              </a:rPr>
              <a:t>Framework Bootstrap 4.0</a:t>
            </a:r>
            <a:endParaRPr lang="en-US" sz="1700" dirty="0"/>
          </a:p>
        </p:txBody>
      </p:sp>
      <p:sp>
        <p:nvSpPr>
          <p:cNvPr id="6" name="Text 3"/>
          <p:cNvSpPr/>
          <p:nvPr/>
        </p:nvSpPr>
        <p:spPr>
          <a:xfrm>
            <a:off x="6316861" y="2475667"/>
            <a:ext cx="3497937" cy="2459805"/>
          </a:xfrm>
          <a:prstGeom prst="rect">
            <a:avLst/>
          </a:prstGeom>
          <a:noFill/>
        </p:spPr>
        <p:txBody>
          <a:bodyPr wrap="square" lIns="0" tIns="0" rIns="0" bIns="0" rtlCol="0" anchor="t"/>
          <a:lstStyle/>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Framework CSS dan JavaScript yang powerful</a:t>
            </a:r>
            <a:endParaRPr lang="en-US" sz="1250" dirty="0"/>
          </a:p>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Mempercepat pengembangan dengan komponen siap pakai</a:t>
            </a:r>
            <a:endParaRPr lang="en-US" sz="1250" dirty="0"/>
          </a:p>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Memastikan desain responsif dan konsisten</a:t>
            </a:r>
            <a:endParaRPr lang="en-US" sz="1250" dirty="0"/>
          </a:p>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Kompatibel dengan berbagai browser modern</a:t>
            </a:r>
            <a:endParaRPr lang="en-US" sz="1250" dirty="0"/>
          </a:p>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Dokumentasi lengkap dan komunitas besar</a:t>
            </a:r>
            <a:endParaRPr lang="en-US" sz="1250" dirty="0"/>
          </a:p>
        </p:txBody>
      </p:sp>
      <p:sp>
        <p:nvSpPr>
          <p:cNvPr id="7" name="Shape 4"/>
          <p:cNvSpPr/>
          <p:nvPr/>
        </p:nvSpPr>
        <p:spPr>
          <a:xfrm>
            <a:off x="10129838" y="1947148"/>
            <a:ext cx="3842266" cy="3359348"/>
          </a:xfrm>
          <a:prstGeom prst="roundRect">
            <a:avLst>
              <a:gd name="adj" fmla="val 2058"/>
            </a:avLst>
          </a:prstGeom>
          <a:solidFill>
            <a:srgbClr val="D5DCF6"/>
          </a:solidFill>
          <a:ln w="7620">
            <a:solidFill>
              <a:srgbClr val="BBC2DC"/>
            </a:solidFill>
            <a:prstDash val="solid"/>
          </a:ln>
        </p:spPr>
      </p:sp>
      <p:sp>
        <p:nvSpPr>
          <p:cNvPr id="8" name="Text 5"/>
          <p:cNvSpPr/>
          <p:nvPr/>
        </p:nvSpPr>
        <p:spPr>
          <a:xfrm>
            <a:off x="10302002" y="2119313"/>
            <a:ext cx="2862858" cy="270629"/>
          </a:xfrm>
          <a:prstGeom prst="rect">
            <a:avLst/>
          </a:prstGeom>
          <a:noFill/>
        </p:spPr>
        <p:txBody>
          <a:bodyPr wrap="none" lIns="0" tIns="0" rIns="0" bIns="0" rtlCol="0" anchor="t"/>
          <a:lstStyle/>
          <a:p>
            <a:pPr marL="0" indent="0" algn="l">
              <a:lnSpc>
                <a:spcPts val="2100"/>
              </a:lnSpc>
              <a:buNone/>
            </a:pPr>
            <a:r>
              <a:rPr lang="en-US" sz="1700" dirty="0">
                <a:solidFill>
                  <a:srgbClr val="3B3535"/>
                </a:solidFill>
                <a:latin typeface="Alexandria Semi Bold" pitchFamily="34" charset="0"/>
                <a:ea typeface="Alexandria Semi Bold" pitchFamily="34" charset="-122"/>
                <a:cs typeface="Alexandria Semi Bold" pitchFamily="34" charset="-120"/>
              </a:rPr>
              <a:t>SublimeText (Code Editor)</a:t>
            </a:r>
            <a:endParaRPr lang="en-US" sz="1700" dirty="0"/>
          </a:p>
        </p:txBody>
      </p:sp>
      <p:sp>
        <p:nvSpPr>
          <p:cNvPr id="9" name="Text 6"/>
          <p:cNvSpPr/>
          <p:nvPr/>
        </p:nvSpPr>
        <p:spPr>
          <a:xfrm>
            <a:off x="10302002" y="2475667"/>
            <a:ext cx="3497937" cy="1967844"/>
          </a:xfrm>
          <a:prstGeom prst="rect">
            <a:avLst/>
          </a:prstGeom>
          <a:noFill/>
        </p:spPr>
        <p:txBody>
          <a:bodyPr wrap="square" lIns="0" tIns="0" rIns="0" bIns="0" rtlCol="0" anchor="t"/>
          <a:lstStyle/>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Editor teks yang ringan dan cepat</a:t>
            </a:r>
            <a:endParaRPr lang="en-US" sz="1250" dirty="0"/>
          </a:p>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Fitur syntax highlighting untuk berbagai bahasa</a:t>
            </a:r>
            <a:endParaRPr lang="en-US" sz="1250" dirty="0"/>
          </a:p>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Plugin ecosystem yang kaya untuk produktivitas</a:t>
            </a:r>
            <a:endParaRPr lang="en-US" sz="1250" dirty="0"/>
          </a:p>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Integrasi dengan version control dan build tools</a:t>
            </a:r>
            <a:endParaRPr lang="en-US" sz="1250" dirty="0"/>
          </a:p>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Interface yang clean dan customizable</a:t>
            </a:r>
            <a:endParaRPr lang="en-US" sz="1250" dirty="0"/>
          </a:p>
        </p:txBody>
      </p:sp>
      <p:sp>
        <p:nvSpPr>
          <p:cNvPr id="10" name="Shape 7"/>
          <p:cNvSpPr/>
          <p:nvPr/>
        </p:nvSpPr>
        <p:spPr>
          <a:xfrm>
            <a:off x="6144697" y="5051417"/>
            <a:ext cx="7827407" cy="2130028"/>
          </a:xfrm>
          <a:prstGeom prst="roundRect">
            <a:avLst>
              <a:gd name="adj" fmla="val 3245"/>
            </a:avLst>
          </a:prstGeom>
          <a:solidFill>
            <a:srgbClr val="D5DCF6"/>
          </a:solidFill>
          <a:ln w="7620">
            <a:solidFill>
              <a:srgbClr val="BBC2DC"/>
            </a:solidFill>
            <a:prstDash val="solid"/>
          </a:ln>
        </p:spPr>
      </p:sp>
      <p:sp>
        <p:nvSpPr>
          <p:cNvPr id="11" name="Text 8"/>
          <p:cNvSpPr/>
          <p:nvPr/>
        </p:nvSpPr>
        <p:spPr>
          <a:xfrm>
            <a:off x="6316861" y="5223581"/>
            <a:ext cx="4265533" cy="270629"/>
          </a:xfrm>
          <a:prstGeom prst="rect">
            <a:avLst/>
          </a:prstGeom>
          <a:noFill/>
        </p:spPr>
        <p:txBody>
          <a:bodyPr wrap="none" lIns="0" tIns="0" rIns="0" bIns="0" rtlCol="0" anchor="t"/>
          <a:lstStyle/>
          <a:p>
            <a:pPr marL="0" indent="0" algn="l">
              <a:lnSpc>
                <a:spcPts val="2100"/>
              </a:lnSpc>
              <a:buNone/>
            </a:pPr>
            <a:r>
              <a:rPr lang="en-US" sz="1700" dirty="0">
                <a:solidFill>
                  <a:srgbClr val="3B3535"/>
                </a:solidFill>
                <a:latin typeface="Alexandria Semi Bold" pitchFamily="34" charset="0"/>
                <a:ea typeface="Alexandria Semi Bold" pitchFamily="34" charset="-122"/>
                <a:cs typeface="Alexandria Semi Bold" pitchFamily="34" charset="-120"/>
              </a:rPr>
              <a:t>Edlink (Learning Management System)</a:t>
            </a:r>
            <a:endParaRPr lang="en-US" sz="1700" dirty="0"/>
          </a:p>
        </p:txBody>
      </p:sp>
      <p:sp>
        <p:nvSpPr>
          <p:cNvPr id="12" name="Text 9"/>
          <p:cNvSpPr/>
          <p:nvPr/>
        </p:nvSpPr>
        <p:spPr>
          <a:xfrm>
            <a:off x="6316861" y="5579935"/>
            <a:ext cx="7483078" cy="1229902"/>
          </a:xfrm>
          <a:prstGeom prst="rect">
            <a:avLst/>
          </a:prstGeom>
          <a:noFill/>
        </p:spPr>
        <p:txBody>
          <a:bodyPr wrap="square" lIns="0" tIns="0" rIns="0" bIns="0" rtlCol="0" anchor="t"/>
          <a:lstStyle/>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Platform untuk submission dan tracking tugas</a:t>
            </a:r>
            <a:endParaRPr lang="en-US" sz="1250" dirty="0"/>
          </a:p>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Komunikasi antara dosen dan mahasiswa</a:t>
            </a:r>
            <a:endParaRPr lang="en-US" sz="1250" dirty="0"/>
          </a:p>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Repository untuk materi pembelajaran</a:t>
            </a:r>
            <a:endParaRPr lang="en-US" sz="1250" dirty="0"/>
          </a:p>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Monitoring progress dan nilai secara real-time</a:t>
            </a:r>
            <a:endParaRPr lang="en-US" sz="1250" dirty="0"/>
          </a:p>
          <a:p>
            <a:pPr marL="342900" indent="-342900" algn="l">
              <a:lnSpc>
                <a:spcPts val="1900"/>
              </a:lnSpc>
              <a:buSzPct val="100000"/>
              <a:buChar char="•"/>
            </a:pPr>
            <a:r>
              <a:rPr lang="en-US" sz="1250" dirty="0">
                <a:solidFill>
                  <a:srgbClr val="3B3535"/>
                </a:solidFill>
                <a:latin typeface="Sora Light" pitchFamily="34" charset="0"/>
                <a:ea typeface="Sora Light" pitchFamily="34" charset="-122"/>
                <a:cs typeface="Sora Light" pitchFamily="34" charset="-120"/>
              </a:rPr>
              <a:t>Akses mudah dari berbagai perangkat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s 8"/>
          <p:cNvSpPr/>
          <p:nvPr/>
        </p:nvSpPr>
        <p:spPr>
          <a:xfrm>
            <a:off x="-322580" y="-296545"/>
            <a:ext cx="15467965" cy="8583930"/>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sz="2800"/>
          </a:p>
        </p:txBody>
      </p:sp>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4709" y="1936552"/>
            <a:ext cx="7627382" cy="1247061"/>
          </a:xfrm>
          <a:prstGeom prst="rect">
            <a:avLst/>
          </a:prstGeom>
          <a:noFill/>
        </p:spPr>
        <p:txBody>
          <a:bodyPr wrap="square" lIns="0" tIns="0" rIns="0" bIns="0" rtlCol="0" anchor="t"/>
          <a:lstStyle/>
          <a:p>
            <a:pPr marL="0" indent="0" algn="l">
              <a:lnSpc>
                <a:spcPts val="4900"/>
              </a:lnSpc>
              <a:buNone/>
            </a:pPr>
            <a:r>
              <a:rPr lang="en-US" sz="3900" dirty="0">
                <a:solidFill>
                  <a:srgbClr val="1F1E1E"/>
                </a:solidFill>
                <a:latin typeface="Alexandria Semi Bold" pitchFamily="34" charset="0"/>
                <a:ea typeface="Alexandria Semi Bold" pitchFamily="34" charset="-122"/>
                <a:cs typeface="Alexandria Semi Bold" pitchFamily="34" charset="-120"/>
              </a:rPr>
              <a:t>Selamat Datang di Web Design II!</a:t>
            </a:r>
            <a:endParaRPr lang="en-US" sz="3900" dirty="0"/>
          </a:p>
        </p:txBody>
      </p:sp>
      <p:sp>
        <p:nvSpPr>
          <p:cNvPr id="4" name="Text 1"/>
          <p:cNvSpPr/>
          <p:nvPr/>
        </p:nvSpPr>
        <p:spPr>
          <a:xfrm>
            <a:off x="6244709" y="3467933"/>
            <a:ext cx="7627382" cy="606504"/>
          </a:xfrm>
          <a:prstGeom prst="rect">
            <a:avLst/>
          </a:prstGeom>
          <a:noFill/>
        </p:spPr>
        <p:txBody>
          <a:bodyPr wrap="square" lIns="0" tIns="0" rIns="0" bIns="0" rtlCol="0" anchor="t"/>
          <a:lstStyle/>
          <a:p>
            <a:pPr marL="0" indent="0" algn="l">
              <a:lnSpc>
                <a:spcPts val="2350"/>
              </a:lnSpc>
              <a:buNone/>
            </a:pPr>
            <a:r>
              <a:rPr lang="en-US" sz="1450" dirty="0">
                <a:solidFill>
                  <a:srgbClr val="3B3535"/>
                </a:solidFill>
                <a:latin typeface="Sora Light" pitchFamily="34" charset="0"/>
                <a:ea typeface="Sora Light" pitchFamily="34" charset="-122"/>
                <a:cs typeface="Sora Light" pitchFamily="34" charset="-120"/>
              </a:rPr>
              <a:t>Mari kita bersama-sama menciptakan pengalaman web yang inovatif dan berkesan.</a:t>
            </a:r>
            <a:endParaRPr lang="en-US" sz="1450" dirty="0"/>
          </a:p>
        </p:txBody>
      </p:sp>
      <p:sp>
        <p:nvSpPr>
          <p:cNvPr id="5" name="Text 2"/>
          <p:cNvSpPr/>
          <p:nvPr/>
        </p:nvSpPr>
        <p:spPr>
          <a:xfrm>
            <a:off x="6529030" y="4500920"/>
            <a:ext cx="7343061" cy="606504"/>
          </a:xfrm>
          <a:prstGeom prst="rect">
            <a:avLst/>
          </a:prstGeom>
          <a:noFill/>
        </p:spPr>
        <p:txBody>
          <a:bodyPr wrap="square" lIns="0" tIns="0" rIns="0" bIns="0" rtlCol="0" anchor="t"/>
          <a:lstStyle/>
          <a:p>
            <a:pPr marL="0" indent="0" algn="l">
              <a:lnSpc>
                <a:spcPts val="2350"/>
              </a:lnSpc>
              <a:buNone/>
            </a:pPr>
            <a:r>
              <a:rPr lang="en-US" sz="1450" dirty="0">
                <a:solidFill>
                  <a:srgbClr val="3B3535"/>
                </a:solidFill>
                <a:latin typeface="Sora Light" pitchFamily="34" charset="0"/>
                <a:ea typeface="Sora Light" pitchFamily="34" charset="-122"/>
                <a:cs typeface="Sora Light" pitchFamily="34" charset="-120"/>
              </a:rPr>
              <a:t>"Desain bukan hanya tentang tampilan dan nuansa. Desain adalah tentang bagaimana ia bekerja."</a:t>
            </a:r>
            <a:endParaRPr lang="en-US" sz="1450" dirty="0"/>
          </a:p>
        </p:txBody>
      </p:sp>
      <p:sp>
        <p:nvSpPr>
          <p:cNvPr id="6" name="Text 3"/>
          <p:cNvSpPr/>
          <p:nvPr/>
        </p:nvSpPr>
        <p:spPr>
          <a:xfrm>
            <a:off x="6529030" y="5320665"/>
            <a:ext cx="7343061" cy="303252"/>
          </a:xfrm>
          <a:prstGeom prst="rect">
            <a:avLst/>
          </a:prstGeom>
          <a:noFill/>
        </p:spPr>
        <p:txBody>
          <a:bodyPr wrap="none" lIns="0" tIns="0" rIns="0" bIns="0" rtlCol="0" anchor="t"/>
          <a:lstStyle/>
          <a:p>
            <a:pPr marL="0" indent="0" algn="l">
              <a:lnSpc>
                <a:spcPts val="2350"/>
              </a:lnSpc>
              <a:buNone/>
            </a:pPr>
            <a:r>
              <a:rPr lang="en-US" sz="1450" dirty="0">
                <a:solidFill>
                  <a:srgbClr val="1A2D7A"/>
                </a:solidFill>
                <a:latin typeface="Sora Light" pitchFamily="34" charset="0"/>
                <a:ea typeface="Sora Light" pitchFamily="34" charset="-122"/>
                <a:cs typeface="Sora Light" pitchFamily="34" charset="-120"/>
              </a:rPr>
              <a:t>— Steve Jobs</a:t>
            </a:r>
            <a:endParaRPr lang="en-US" sz="1450" dirty="0"/>
          </a:p>
        </p:txBody>
      </p:sp>
      <p:sp>
        <p:nvSpPr>
          <p:cNvPr id="7" name="Shape 4"/>
          <p:cNvSpPr/>
          <p:nvPr/>
        </p:nvSpPr>
        <p:spPr>
          <a:xfrm>
            <a:off x="6244709" y="4287679"/>
            <a:ext cx="22860" cy="1549479"/>
          </a:xfrm>
          <a:prstGeom prst="rect">
            <a:avLst/>
          </a:prstGeom>
          <a:solidFill>
            <a:srgbClr val="1A2D7A"/>
          </a:solidFill>
        </p:spPr>
      </p:sp>
      <p:sp>
        <p:nvSpPr>
          <p:cNvPr id="8" name="Text 5"/>
          <p:cNvSpPr/>
          <p:nvPr/>
        </p:nvSpPr>
        <p:spPr>
          <a:xfrm>
            <a:off x="6244709" y="6050399"/>
            <a:ext cx="7627382" cy="242649"/>
          </a:xfrm>
          <a:prstGeom prst="rect">
            <a:avLst/>
          </a:prstGeom>
          <a:noFill/>
        </p:spPr>
        <p:txBody>
          <a:bodyPr wrap="none" lIns="0" tIns="0" rIns="0" bIns="0" rtlCol="0" anchor="t"/>
          <a:lstStyle/>
          <a:p>
            <a:pPr marL="0" indent="0" algn="l">
              <a:lnSpc>
                <a:spcPts val="1900"/>
              </a:lnSpc>
              <a:buNone/>
            </a:pPr>
            <a:r>
              <a:rPr lang="en-US" sz="1150" dirty="0">
                <a:solidFill>
                  <a:srgbClr val="3B3535"/>
                </a:solidFill>
                <a:latin typeface="Sora Light" pitchFamily="34" charset="0"/>
                <a:ea typeface="Sora Light" pitchFamily="34" charset="-122"/>
                <a:cs typeface="Sora Light" pitchFamily="34" charset="-120"/>
              </a:rPr>
              <a:t>Jika ada pertanyaan lebih lanjut, jangan ragu untuk bertanya.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4471</Words>
  <Application>WPS Presentation</Application>
  <PresentationFormat>On-screen Show (16:9)</PresentationFormat>
  <Paragraphs>141</Paragraphs>
  <Slides>9</Slides>
  <Notes>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9</vt:i4>
      </vt:variant>
    </vt:vector>
  </HeadingPairs>
  <TitlesOfParts>
    <vt:vector size="23" baseType="lpstr">
      <vt:lpstr>Arial</vt:lpstr>
      <vt:lpstr>SimSun</vt:lpstr>
      <vt:lpstr>Wingdings</vt:lpstr>
      <vt:lpstr>Alexandria Semi Bold</vt:lpstr>
      <vt:lpstr>Alexandria Semi Bold</vt:lpstr>
      <vt:lpstr>Alexandria Semi Bold</vt:lpstr>
      <vt:lpstr>Sora Light</vt:lpstr>
      <vt:lpstr>Sora Light</vt:lpstr>
      <vt:lpstr>Sora Light</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Fadhly Alfallah</cp:lastModifiedBy>
  <cp:revision>3</cp:revision>
  <dcterms:created xsi:type="dcterms:W3CDTF">2026-02-03T03:42:00Z</dcterms:created>
  <dcterms:modified xsi:type="dcterms:W3CDTF">2026-02-05T13:16:50Z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CC5C9D21885E41838DD5CE1D2C6D126B_12</vt:lpwstr>
  </property>
  <property fmtid="{D5CDD505-2E9C-101B-9397-08002B2CF9AE}" pid="3" name="KSOProductBuildVer">
    <vt:lpwstr>1033-12.2.0.23196</vt:lpwstr>
  </property>
</Properties>
</file>