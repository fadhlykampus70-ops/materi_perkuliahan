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67" r:id="rId6"/>
    <p:sldId id="259" r:id="rId8"/>
    <p:sldId id="264" r:id="rId9"/>
    <p:sldId id="260" r:id="rId10"/>
    <p:sldId id="265" r:id="rId11"/>
    <p:sldId id="261" r:id="rId12"/>
    <p:sldId id="266" r:id="rId13"/>
  </p:sldIdLst>
  <p:sldSz cx="18288000" cy="10287000"/>
  <p:notesSz cx="6858000" cy="9144000"/>
  <p:embeddedFontLst>
    <p:embeddedFont>
      <p:font typeface="Staatliches"/>
      <p:regular r:id="rId18"/>
    </p:embeddedFont>
    <p:embeddedFont>
      <p:font typeface="Open Sans" panose="020B0606030504020204"/>
      <p:regular r:id="rId19"/>
    </p:embeddedFont>
    <p:embeddedFont>
      <p:font typeface="Open Sans Bold" panose="020B0806030504020204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libri" panose="020F0502020204030204" pitchFamily="34" charset="-122"/>
      <p:regular r:id="rId25"/>
    </p:embeddedFont>
    <p:embeddedFont>
      <p:font typeface="Calibri" panose="020F0502020204030204" pitchFamily="34" charset="-120"/>
      <p:regular r:id="rId26"/>
    </p:embeddedFont>
    <p:embeddedFont>
      <p:font typeface="Consolas" panose="020B0609020204030204" pitchFamily="34" charset="0"/>
      <p:regular r:id="rId27"/>
      <p:bold r:id="rId28"/>
      <p:italic r:id="rId29"/>
      <p:boldItalic r:id="rId30"/>
    </p:embeddedFont>
    <p:embeddedFont>
      <p:font typeface="Consolas" panose="020B0609020204030204" pitchFamily="34" charset="-122"/>
      <p:regular r:id="rId31"/>
    </p:embeddedFont>
    <p:embeddedFont>
      <p:font typeface="Consolas" panose="020B0609020204030204" pitchFamily="34" charset="-12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9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dhly Alfallah" initials="authorId_8813415655455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41" d="100"/>
          <a:sy n="41" d="100"/>
        </p:scale>
        <p:origin x="972" y="66"/>
      </p:cViewPr>
      <p:guideLst>
        <p:guide orient="horz" pos="2129"/>
        <p:guide pos="28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font" Target="fonts/font15.fntdata"/><Relationship Id="rId31" Type="http://schemas.openxmlformats.org/officeDocument/2006/relationships/font" Target="fonts/font14.fntdata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B884A-FA0E-4FAA-9137-95000DAFD4E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11A9E-5C3C-44FC-97D2-40E51A69EB4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Perkenalkan tipe data bool. Ini tipe data baru yang belum pernah mereka pakai. Jelaskan: bool hanya bisa bernilai true (1) atau false (0). Tanya: 'Kalau nilai diganti 45, output jadi berapa?' Biarkan mahasiswa prediksi dulu sebelum dicoba.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Perkenalkan tipe data bool. Ini tipe data baru yang belum pernah mereka pakai. Jelaskan: bool hanya bisa bernilai true (1) atau false (0). Tanya: 'Kalau nilai diganti 45, output jadi berapa?' Biarkan mahasiswa prediksi dulu sebelum dicoba.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Perkenalkan tipe data bool. Ini tipe data baru yang belum pernah mereka pakai. Jelaskan: bool hanya bisa bernilai true (1) atau false (0). Tanya: 'Kalau nilai diganti 45, output jadi berapa?' Biarkan mahasiswa prediksi dulu sebelum dicoba.</a:t>
            </a:r>
            <a:br>
              <a:rPr lang="en-US" dirty="0"/>
            </a:br>
            <a:br>
              <a:rPr lang="en-US" dirty="0"/>
            </a:br>
            <a:r>
              <a:rPr lang="en-US" altLang="en-US" dirty="0"/>
              <a:t>#include &lt;iostream&gt;</a:t>
            </a:r>
            <a:endParaRPr lang="en-US" altLang="en-US" dirty="0"/>
          </a:p>
          <a:p>
            <a:r>
              <a:rPr lang="en-US" altLang="en-US" dirty="0"/>
              <a:t>using namespace std;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int main() {</a:t>
            </a:r>
            <a:endParaRPr lang="en-US" altLang="en-US" dirty="0"/>
          </a:p>
          <a:p>
            <a:r>
              <a:rPr lang="en-US" altLang="en-US" dirty="0"/>
              <a:t>    string nama;</a:t>
            </a:r>
            <a:endParaRPr lang="en-US" altLang="en-US" dirty="0"/>
          </a:p>
          <a:p>
            <a:r>
              <a:rPr lang="en-US" altLang="en-US" dirty="0"/>
              <a:t>    int nilai, absen;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    cout &lt;&lt; "=== Program Kelulusan Mahasiswa ===" &lt;&lt; endl;</a:t>
            </a:r>
            <a:endParaRPr lang="en-US" altLang="en-US" dirty="0"/>
          </a:p>
          <a:p>
            <a:r>
              <a:rPr lang="en-US" altLang="en-US" dirty="0"/>
              <a:t>    cout &lt;&lt; "Masukkan nama mahasiswa : ";</a:t>
            </a:r>
            <a:endParaRPr lang="en-US" altLang="en-US" dirty="0"/>
          </a:p>
          <a:p>
            <a:r>
              <a:rPr lang="en-US" altLang="en-US" dirty="0"/>
              <a:t>    getline(cin, nama);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    cout &lt;&lt; "Masukkan nilai akhir    : ";</a:t>
            </a:r>
            <a:endParaRPr lang="en-US" altLang="en-US" dirty="0"/>
          </a:p>
          <a:p>
            <a:r>
              <a:rPr lang="en-US" altLang="en-US" dirty="0"/>
              <a:t>    cin &gt;&gt; nilai;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    cout &lt;&lt; "Masukkan persentase absen : ";</a:t>
            </a:r>
            <a:endParaRPr lang="en-US" altLang="en-US" dirty="0"/>
          </a:p>
          <a:p>
            <a:r>
              <a:rPr lang="en-US" altLang="en-US" dirty="0"/>
              <a:t>    cin &gt;&gt; absen;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    cout &lt;&lt; "\n=== HASIL ===" &lt;&lt; endl;</a:t>
            </a:r>
            <a:endParaRPr lang="en-US" altLang="en-US" dirty="0"/>
          </a:p>
          <a:p>
            <a:r>
              <a:rPr lang="en-US" altLang="en-US" dirty="0"/>
              <a:t>    cout &lt;&lt; "Nama   : " &lt;&lt; nama &lt;&lt; endl;</a:t>
            </a:r>
            <a:endParaRPr lang="en-US" altLang="en-US" dirty="0"/>
          </a:p>
          <a:p>
            <a:r>
              <a:rPr lang="en-US" altLang="en-US" dirty="0"/>
              <a:t>    cout &lt;&lt; "Nilai  : " &lt;&lt; nilai &lt;&lt; endl;</a:t>
            </a:r>
            <a:endParaRPr lang="en-US" altLang="en-US" dirty="0"/>
          </a:p>
          <a:p>
            <a:r>
              <a:rPr lang="en-US" altLang="en-US" dirty="0"/>
              <a:t>    cout &lt;&lt; "Absen  : " &lt;&lt; absen &lt;&lt; "%" &lt;&lt; endl;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    // Nested If</a:t>
            </a:r>
            <a:endParaRPr lang="en-US" altLang="en-US" dirty="0"/>
          </a:p>
          <a:p>
            <a:r>
              <a:rPr lang="en-US" altLang="en-US" dirty="0"/>
              <a:t>    if (nilai &gt;= 75) {</a:t>
            </a:r>
            <a:endParaRPr lang="en-US" altLang="en-US" dirty="0"/>
          </a:p>
          <a:p>
            <a:r>
              <a:rPr lang="en-US" altLang="en-US" dirty="0"/>
              <a:t>        if (absen &gt;= 80) {</a:t>
            </a:r>
            <a:endParaRPr lang="en-US" altLang="en-US" dirty="0"/>
          </a:p>
          <a:p>
            <a:r>
              <a:rPr lang="en-US" altLang="en-US" dirty="0"/>
              <a:t>            cout &lt;&lt; "Status : LULUS" &lt;&lt; endl;</a:t>
            </a:r>
            <a:endParaRPr lang="en-US" altLang="en-US" dirty="0"/>
          </a:p>
          <a:p>
            <a:r>
              <a:rPr lang="en-US" altLang="en-US" dirty="0"/>
              <a:t>        } else {</a:t>
            </a:r>
            <a:endParaRPr lang="en-US" altLang="en-US" dirty="0"/>
          </a:p>
          <a:p>
            <a:r>
              <a:rPr lang="en-US" altLang="en-US" dirty="0"/>
              <a:t>            cout &lt;&lt; "Status : TIDAK LULUS (Absen kurang dari 80%)" &lt;&lt; endl;</a:t>
            </a:r>
            <a:endParaRPr lang="en-US" altLang="en-US" dirty="0"/>
          </a:p>
          <a:p>
            <a:r>
              <a:rPr lang="en-US" altLang="en-US" dirty="0"/>
              <a:t>        }</a:t>
            </a:r>
            <a:endParaRPr lang="en-US" altLang="en-US" dirty="0"/>
          </a:p>
          <a:p>
            <a:r>
              <a:rPr lang="en-US" altLang="en-US" dirty="0"/>
              <a:t>    } else {</a:t>
            </a:r>
            <a:endParaRPr lang="en-US" altLang="en-US" dirty="0"/>
          </a:p>
          <a:p>
            <a:r>
              <a:rPr lang="en-US" altLang="en-US" dirty="0"/>
              <a:t>        cout &lt;&lt; "Status : TIDAK LULUS (Nilai kurang dari 75)" &lt;&lt; endl;</a:t>
            </a:r>
            <a:endParaRPr lang="en-US" altLang="en-US" dirty="0"/>
          </a:p>
          <a:p>
            <a:r>
              <a:rPr lang="en-US" altLang="en-US" dirty="0"/>
              <a:t>    }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    return 0;</a:t>
            </a:r>
            <a:endParaRPr lang="en-US" altLang="en-US" dirty="0"/>
          </a:p>
          <a:p>
            <a:r>
              <a:rPr lang="en-US" altLang="en-US" dirty="0"/>
              <a:t>}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Perkenalkan tipe data bool. Ini tipe data baru yang belum pernah mereka pakai. Jelaskan: bool hanya bisa bernilai true (1) atau false (0). Tanya: 'Kalau nilai diganti 45, output jadi berapa?' Biarkan mahasiswa prediksi dulu sebelum dicoba.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972487" y="4843025"/>
            <a:ext cx="8315513" cy="831551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2477201" y="949468"/>
            <a:ext cx="1208387" cy="120838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7" name="Group 7"/>
          <p:cNvGrpSpPr/>
          <p:nvPr/>
        </p:nvGrpSpPr>
        <p:grpSpPr>
          <a:xfrm>
            <a:off x="11268814" y="5602349"/>
            <a:ext cx="1208387" cy="120838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9" name="Group 9"/>
          <p:cNvGrpSpPr/>
          <p:nvPr/>
        </p:nvGrpSpPr>
        <p:grpSpPr>
          <a:xfrm>
            <a:off x="11701562" y="1700882"/>
            <a:ext cx="1208387" cy="120838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11" name="Group 11"/>
          <p:cNvGrpSpPr/>
          <p:nvPr/>
        </p:nvGrpSpPr>
        <p:grpSpPr>
          <a:xfrm>
            <a:off x="10493175" y="6353763"/>
            <a:ext cx="1208387" cy="12083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13" name="Group 13"/>
          <p:cNvGrpSpPr/>
          <p:nvPr/>
        </p:nvGrpSpPr>
        <p:grpSpPr>
          <a:xfrm>
            <a:off x="12305755" y="-753363"/>
            <a:ext cx="8315513" cy="831551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15" name="Group 15"/>
          <p:cNvGrpSpPr/>
          <p:nvPr/>
        </p:nvGrpSpPr>
        <p:grpSpPr>
          <a:xfrm>
            <a:off x="11820313" y="411326"/>
            <a:ext cx="9875674" cy="987567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l="-31300" r="-31300"/>
              </a:stretch>
            </a:blipFill>
            <a:ln w="952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1028700" y="1167258"/>
            <a:ext cx="622461" cy="772807"/>
          </a:xfrm>
          <a:custGeom>
            <a:avLst/>
            <a:gdLst/>
            <a:ahLst/>
            <a:cxnLst/>
            <a:rect l="l" t="t" r="r" b="b"/>
            <a:pathLst>
              <a:path w="622461" h="772807">
                <a:moveTo>
                  <a:pt x="0" y="0"/>
                </a:moveTo>
                <a:lnTo>
                  <a:pt x="622461" y="0"/>
                </a:lnTo>
                <a:lnTo>
                  <a:pt x="622461" y="772807"/>
                </a:lnTo>
                <a:lnTo>
                  <a:pt x="0" y="7728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28700" y="1948305"/>
            <a:ext cx="8115300" cy="1883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80"/>
              </a:lnSpc>
            </a:pPr>
            <a:r>
              <a:rPr lang="en-US" sz="10985">
                <a:solidFill>
                  <a:srgbClr val="000000"/>
                </a:solidFill>
                <a:latin typeface="Staatliches"/>
                <a:ea typeface="Staatliches"/>
                <a:cs typeface="Staatliches"/>
                <a:sym typeface="Staatliches"/>
              </a:rPr>
              <a:t>PERCABANGAN &amp;</a:t>
            </a:r>
            <a:endParaRPr lang="en-US" sz="10985">
              <a:solidFill>
                <a:srgbClr val="000000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28700" y="4016213"/>
            <a:ext cx="7497658" cy="3005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45"/>
              </a:lnSpc>
            </a:pPr>
            <a:r>
              <a:rPr lang="en-US" sz="10985">
                <a:solidFill>
                  <a:srgbClr val="29007B"/>
                </a:solidFill>
                <a:latin typeface="Staatliches"/>
                <a:ea typeface="Staatliches"/>
                <a:cs typeface="Staatliches"/>
                <a:sym typeface="Staatliches"/>
              </a:rPr>
              <a:t>PENGAMBILAN KEPUTUSAN</a:t>
            </a:r>
            <a:endParaRPr lang="en-US" sz="10985">
              <a:solidFill>
                <a:srgbClr val="29007B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66800" y="7661457"/>
            <a:ext cx="8115300" cy="461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680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D3 MANAJEMEN INFORMATIKA</a:t>
            </a:r>
            <a:endParaRPr lang="en-US" sz="2680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597296" y="942787"/>
            <a:ext cx="8315513" cy="831551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-5246936" y="-3312110"/>
            <a:ext cx="8315513" cy="831551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7" name="Group 7"/>
          <p:cNvGrpSpPr/>
          <p:nvPr/>
        </p:nvGrpSpPr>
        <p:grpSpPr>
          <a:xfrm rot="-10800000">
            <a:off x="-6567659" y="0"/>
            <a:ext cx="8315513" cy="831551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id="9" name="TextBox 9"/>
          <p:cNvSpPr txBox="1"/>
          <p:nvPr/>
        </p:nvSpPr>
        <p:spPr>
          <a:xfrm>
            <a:off x="3466481" y="648595"/>
            <a:ext cx="12732911" cy="17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5"/>
              </a:lnSpc>
            </a:pPr>
            <a:r>
              <a:rPr lang="en-US" sz="6420">
                <a:solidFill>
                  <a:srgbClr val="29007B"/>
                </a:solidFill>
                <a:latin typeface="Staatliches"/>
                <a:ea typeface="Staatliches"/>
                <a:cs typeface="Staatliches"/>
                <a:sym typeface="Staatliches"/>
              </a:rPr>
              <a:t>BENTUK - BENTUK PERCABANGAN DALAM PENGAMBILAN KEPUTUSAN</a:t>
            </a:r>
            <a:endParaRPr lang="en-US" sz="6420">
              <a:solidFill>
                <a:srgbClr val="29007B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4460248" y="3255977"/>
            <a:ext cx="2939004" cy="2598437"/>
            <a:chOff x="0" y="0"/>
            <a:chExt cx="1043687" cy="92274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3687" cy="922746"/>
            </a:xfrm>
            <a:custGeom>
              <a:avLst/>
              <a:gdLst/>
              <a:ahLst/>
              <a:cxnLst/>
              <a:rect l="l" t="t" r="r" b="b"/>
              <a:pathLst>
                <a:path w="1043687" h="922746">
                  <a:moveTo>
                    <a:pt x="0" y="0"/>
                  </a:moveTo>
                  <a:lnTo>
                    <a:pt x="1043687" y="0"/>
                  </a:lnTo>
                  <a:lnTo>
                    <a:pt x="1043687" y="922746"/>
                  </a:lnTo>
                  <a:lnTo>
                    <a:pt x="0" y="922746"/>
                  </a:lnTo>
                  <a:close/>
                </a:path>
              </a:pathLst>
            </a:custGeom>
            <a:solidFill>
              <a:srgbClr val="29007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43687" cy="960846"/>
            </a:xfrm>
            <a:prstGeom prst="rect">
              <a:avLst/>
            </a:prstGeom>
          </p:spPr>
          <p:txBody>
            <a:bodyPr lIns="37676" tIns="37676" rIns="37676" bIns="37676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46" y="2705358"/>
            <a:ext cx="1149498" cy="114949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200F4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5562740" y="2846306"/>
            <a:ext cx="695919" cy="737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5"/>
              </a:lnSpc>
              <a:spcBef>
                <a:spcPct val="0"/>
              </a:spcBef>
            </a:pPr>
            <a:r>
              <a:rPr lang="en-US" sz="4290" b="1">
                <a:solidFill>
                  <a:srgbClr val="FFFFFF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1</a:t>
            </a:r>
            <a:endParaRPr lang="en-US" sz="4290" b="1">
              <a:solidFill>
                <a:srgbClr val="FFFFFF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751558" y="4028527"/>
            <a:ext cx="235638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IF</a:t>
            </a:r>
            <a:endParaRPr lang="en-US" sz="2850" b="1">
              <a:solidFill>
                <a:srgbClr val="FFFFFF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581770" y="4706625"/>
            <a:ext cx="2695960" cy="886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1970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Digunakan ketika hanya ada satu kondisi tanpa alternatif</a:t>
            </a:r>
            <a:endParaRPr lang="en-US" sz="1970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9554085" y="3255977"/>
            <a:ext cx="2939004" cy="2598437"/>
            <a:chOff x="0" y="0"/>
            <a:chExt cx="1043687" cy="92274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3687" cy="922746"/>
            </a:xfrm>
            <a:custGeom>
              <a:avLst/>
              <a:gdLst/>
              <a:ahLst/>
              <a:cxnLst/>
              <a:rect l="l" t="t" r="r" b="b"/>
              <a:pathLst>
                <a:path w="1043687" h="922746">
                  <a:moveTo>
                    <a:pt x="0" y="0"/>
                  </a:moveTo>
                  <a:lnTo>
                    <a:pt x="1043687" y="0"/>
                  </a:lnTo>
                  <a:lnTo>
                    <a:pt x="1043687" y="922746"/>
                  </a:lnTo>
                  <a:lnTo>
                    <a:pt x="0" y="922746"/>
                  </a:lnTo>
                  <a:close/>
                </a:path>
              </a:pathLst>
            </a:custGeom>
            <a:solidFill>
              <a:srgbClr val="29007B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43687" cy="960846"/>
            </a:xfrm>
            <a:prstGeom prst="rect">
              <a:avLst/>
            </a:prstGeom>
          </p:spPr>
          <p:txBody>
            <a:bodyPr lIns="37676" tIns="37676" rIns="37676" bIns="37676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427882" y="2705358"/>
            <a:ext cx="1149498" cy="1149498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200F4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0675627" y="2844401"/>
            <a:ext cx="695919" cy="737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5"/>
              </a:lnSpc>
              <a:spcBef>
                <a:spcPct val="0"/>
              </a:spcBef>
            </a:pPr>
            <a:r>
              <a:rPr lang="en-US" sz="4290" b="1">
                <a:solidFill>
                  <a:srgbClr val="FFFFFF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2</a:t>
            </a:r>
            <a:endParaRPr lang="en-US" sz="4290" b="1">
              <a:solidFill>
                <a:srgbClr val="FFFFFF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845394" y="4028527"/>
            <a:ext cx="235638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IF - ELSE</a:t>
            </a:r>
            <a:endParaRPr lang="en-US" sz="2850" b="1">
              <a:solidFill>
                <a:srgbClr val="FFFFFF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675607" y="4706625"/>
            <a:ext cx="2695960" cy="886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1970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Digunakan ketika ada dua kemungkinan hasil atau lebih</a:t>
            </a:r>
            <a:endParaRPr lang="en-US" sz="1970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1963141" y="6709742"/>
            <a:ext cx="2939004" cy="2598437"/>
            <a:chOff x="0" y="0"/>
            <a:chExt cx="1043687" cy="92274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43687" cy="922746"/>
            </a:xfrm>
            <a:custGeom>
              <a:avLst/>
              <a:gdLst/>
              <a:ahLst/>
              <a:cxnLst/>
              <a:rect l="l" t="t" r="r" b="b"/>
              <a:pathLst>
                <a:path w="1043687" h="922746">
                  <a:moveTo>
                    <a:pt x="0" y="0"/>
                  </a:moveTo>
                  <a:lnTo>
                    <a:pt x="1043687" y="0"/>
                  </a:lnTo>
                  <a:lnTo>
                    <a:pt x="1043687" y="922746"/>
                  </a:lnTo>
                  <a:lnTo>
                    <a:pt x="0" y="922746"/>
                  </a:lnTo>
                  <a:close/>
                </a:path>
              </a:pathLst>
            </a:custGeom>
            <a:solidFill>
              <a:srgbClr val="29007B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043687" cy="960846"/>
            </a:xfrm>
            <a:prstGeom prst="rect">
              <a:avLst/>
            </a:prstGeom>
          </p:spPr>
          <p:txBody>
            <a:bodyPr lIns="37676" tIns="37676" rIns="37676" bIns="37676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877579" y="6150233"/>
            <a:ext cx="1149498" cy="1149498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200F4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3084683" y="6298166"/>
            <a:ext cx="695919" cy="737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5"/>
              </a:lnSpc>
              <a:spcBef>
                <a:spcPct val="0"/>
              </a:spcBef>
            </a:pPr>
            <a:r>
              <a:rPr lang="en-US" sz="4290" b="1">
                <a:solidFill>
                  <a:srgbClr val="FFFFFF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3</a:t>
            </a:r>
            <a:endParaRPr lang="en-US" sz="4290" b="1">
              <a:solidFill>
                <a:srgbClr val="FFFFFF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2254451" y="7482292"/>
            <a:ext cx="235638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NESTED IF</a:t>
            </a:r>
            <a:endParaRPr lang="en-US" sz="2850" b="1">
              <a:solidFill>
                <a:srgbClr val="FFFFFF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2084663" y="8150865"/>
            <a:ext cx="2695960" cy="1038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5"/>
              </a:lnSpc>
            </a:pPr>
            <a:r>
              <a:rPr lang="en-US" sz="1870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Adalah if di dalam if.</a:t>
            </a:r>
            <a:endParaRPr lang="en-US" sz="1870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algn="ctr">
              <a:lnSpc>
                <a:spcPts val="2245"/>
              </a:lnSpc>
            </a:pPr>
            <a:r>
              <a:rPr lang="en-US" sz="1870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Digunakan saat keputusan bertingkat.</a:t>
            </a:r>
            <a:endParaRPr lang="en-US" sz="1870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algn="ctr">
              <a:lnSpc>
                <a:spcPts val="1645"/>
              </a:lnSpc>
            </a:pPr>
            <a:endParaRPr lang="en-US" sz="1870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grpSp>
        <p:nvGrpSpPr>
          <p:cNvPr id="34" name="Group 34"/>
          <p:cNvGrpSpPr/>
          <p:nvPr/>
        </p:nvGrpSpPr>
        <p:grpSpPr>
          <a:xfrm>
            <a:off x="7002826" y="6699233"/>
            <a:ext cx="2939004" cy="2598437"/>
            <a:chOff x="0" y="0"/>
            <a:chExt cx="1043687" cy="92274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43687" cy="922746"/>
            </a:xfrm>
            <a:custGeom>
              <a:avLst/>
              <a:gdLst/>
              <a:ahLst/>
              <a:cxnLst/>
              <a:rect l="l" t="t" r="r" b="b"/>
              <a:pathLst>
                <a:path w="1043687" h="922746">
                  <a:moveTo>
                    <a:pt x="0" y="0"/>
                  </a:moveTo>
                  <a:lnTo>
                    <a:pt x="1043687" y="0"/>
                  </a:lnTo>
                  <a:lnTo>
                    <a:pt x="1043687" y="922746"/>
                  </a:lnTo>
                  <a:lnTo>
                    <a:pt x="0" y="922746"/>
                  </a:lnTo>
                  <a:close/>
                </a:path>
              </a:pathLst>
            </a:custGeom>
            <a:solidFill>
              <a:srgbClr val="29007B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043687" cy="960846"/>
            </a:xfrm>
            <a:prstGeom prst="rect">
              <a:avLst/>
            </a:prstGeom>
          </p:spPr>
          <p:txBody>
            <a:bodyPr lIns="37676" tIns="37676" rIns="37676" bIns="37676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897578" y="6124484"/>
            <a:ext cx="1149498" cy="1149498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200F4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8124368" y="6287657"/>
            <a:ext cx="695919" cy="737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5"/>
              </a:lnSpc>
              <a:spcBef>
                <a:spcPct val="0"/>
              </a:spcBef>
            </a:pPr>
            <a:r>
              <a:rPr lang="en-US" sz="4290" b="1">
                <a:solidFill>
                  <a:srgbClr val="FFFFFF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4</a:t>
            </a:r>
            <a:endParaRPr lang="en-US" sz="4290" b="1">
              <a:solidFill>
                <a:srgbClr val="FFFFFF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294135" y="7319383"/>
            <a:ext cx="2356385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FFFFFF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SWITCH - CASE</a:t>
            </a:r>
            <a:endParaRPr lang="en-US" sz="2550" b="1">
              <a:solidFill>
                <a:srgbClr val="FFFFFF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7124348" y="7795633"/>
            <a:ext cx="2695960" cy="1390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5"/>
              </a:lnSpc>
            </a:pPr>
            <a:r>
              <a:rPr lang="en-US" sz="1870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Digunakan untuk memilih berdasarkan satu variabel dengan banyak pilihan nilai tetap</a:t>
            </a:r>
            <a:endParaRPr lang="en-US" sz="1870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333" b="-933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262586"/>
            <a:ext cx="12744583" cy="201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45"/>
              </a:lnSpc>
            </a:pPr>
            <a:r>
              <a:rPr lang="en-US" sz="11815">
                <a:solidFill>
                  <a:srgbClr val="000000"/>
                </a:solidFill>
                <a:latin typeface="Staatliches"/>
                <a:ea typeface="Staatliches"/>
                <a:cs typeface="Staatliches"/>
                <a:sym typeface="Staatliches"/>
              </a:rPr>
              <a:t>PENGGUNAAN </a:t>
            </a:r>
            <a:endParaRPr lang="en-US" sz="11815">
              <a:solidFill>
                <a:srgbClr val="000000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790048"/>
            <a:ext cx="8636454" cy="201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45"/>
              </a:lnSpc>
            </a:pPr>
            <a:r>
              <a:rPr lang="en-US" sz="11815">
                <a:solidFill>
                  <a:srgbClr val="29007B"/>
                </a:solidFill>
                <a:latin typeface="Staatliches"/>
                <a:ea typeface="Staatliches"/>
                <a:cs typeface="Staatliches"/>
                <a:sym typeface="Staatliches"/>
              </a:rPr>
              <a:t>IF</a:t>
            </a:r>
            <a:endParaRPr lang="en-US" sz="11815">
              <a:solidFill>
                <a:srgbClr val="29007B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004325" y="3401449"/>
            <a:ext cx="1007216" cy="100721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7" name="Group 7"/>
          <p:cNvGrpSpPr/>
          <p:nvPr/>
        </p:nvGrpSpPr>
        <p:grpSpPr>
          <a:xfrm rot="-10800000">
            <a:off x="9160706" y="3401449"/>
            <a:ext cx="1007216" cy="100721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9" name="Group 9"/>
          <p:cNvGrpSpPr/>
          <p:nvPr/>
        </p:nvGrpSpPr>
        <p:grpSpPr>
          <a:xfrm rot="-10800000">
            <a:off x="10318768" y="3401449"/>
            <a:ext cx="1007216" cy="100721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11" name="Group 11"/>
          <p:cNvGrpSpPr/>
          <p:nvPr/>
        </p:nvGrpSpPr>
        <p:grpSpPr>
          <a:xfrm>
            <a:off x="1028700" y="5285900"/>
            <a:ext cx="14816353" cy="3777204"/>
            <a:chOff x="0" y="0"/>
            <a:chExt cx="3573161" cy="9109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73161" cy="910923"/>
            </a:xfrm>
            <a:custGeom>
              <a:avLst/>
              <a:gdLst/>
              <a:ahLst/>
              <a:cxnLst/>
              <a:rect l="l" t="t" r="r" b="b"/>
              <a:pathLst>
                <a:path w="3573161" h="910923">
                  <a:moveTo>
                    <a:pt x="0" y="0"/>
                  </a:moveTo>
                  <a:lnTo>
                    <a:pt x="3573161" y="0"/>
                  </a:lnTo>
                  <a:lnTo>
                    <a:pt x="3573161" y="910923"/>
                  </a:lnTo>
                  <a:lnTo>
                    <a:pt x="0" y="910923"/>
                  </a:lnTo>
                  <a:close/>
                </a:path>
              </a:pathLst>
            </a:custGeom>
            <a:ln w="66675" cap="sq">
              <a:solidFill>
                <a:srgbClr val="29007B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573161" cy="958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0"/>
                </a:lnSpc>
              </a:pPr>
            </a:p>
          </p:txBody>
        </p:sp>
      </p:grpSp>
      <p:sp>
        <p:nvSpPr>
          <p:cNvPr id="14" name="AutoShape 14"/>
          <p:cNvSpPr/>
          <p:nvPr/>
        </p:nvSpPr>
        <p:spPr>
          <a:xfrm>
            <a:off x="8223143" y="5285900"/>
            <a:ext cx="0" cy="3519439"/>
          </a:xfrm>
          <a:prstGeom prst="line">
            <a:avLst/>
          </a:prstGeom>
          <a:ln w="66675" cap="flat">
            <a:solidFill>
              <a:srgbClr val="29007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504556" y="5597642"/>
            <a:ext cx="3645849" cy="49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29007B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Digunakan ketika :</a:t>
            </a:r>
            <a:endParaRPr lang="en-US" sz="2900" b="1">
              <a:solidFill>
                <a:srgbClr val="29007B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811448" y="5577983"/>
            <a:ext cx="3177187" cy="49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29007B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Contoh kasus :</a:t>
            </a:r>
            <a:endParaRPr lang="en-US" sz="2900" b="1">
              <a:solidFill>
                <a:srgbClr val="29007B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17" name="AutoShape 17"/>
          <p:cNvSpPr/>
          <p:nvPr/>
        </p:nvSpPr>
        <p:spPr>
          <a:xfrm flipV="1">
            <a:off x="1504556" y="6323804"/>
            <a:ext cx="4961835" cy="0"/>
          </a:xfrm>
          <a:prstGeom prst="line">
            <a:avLst/>
          </a:prstGeom>
          <a:ln w="66675" cap="flat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flipV="1">
            <a:off x="8811448" y="6323804"/>
            <a:ext cx="4961835" cy="0"/>
          </a:xfrm>
          <a:prstGeom prst="line">
            <a:avLst/>
          </a:prstGeom>
          <a:ln w="66675" cap="flat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504556" y="6534206"/>
            <a:ext cx="6264717" cy="2221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275" lvl="1" indent="-274955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Hanya ada satu kondisi yang ingin diperiksa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49275" lvl="1" indent="-274955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Tidak perlu aksi alternatif jika kondisi salah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49275" lvl="1" indent="-274955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Untuk validasi sederhana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811448" y="6534206"/>
            <a:ext cx="6429412" cy="1773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275" lvl="1" indent="-274955" algn="l">
              <a:lnSpc>
                <a:spcPts val="4835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Mengecek apakah nilai lebih dari 80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49275" lvl="1" indent="-274955" algn="l">
              <a:lnSpc>
                <a:spcPts val="4835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Mengecek apakah password kosong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49275" lvl="1" indent="-274955" algn="l">
              <a:lnSpc>
                <a:spcPts val="4835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Mengecek apakah angka positif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4130243" y="-3386111"/>
            <a:ext cx="8315513" cy="8315513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23" name="Group 23"/>
          <p:cNvGrpSpPr/>
          <p:nvPr/>
        </p:nvGrpSpPr>
        <p:grpSpPr>
          <a:xfrm>
            <a:off x="16748888" y="3085077"/>
            <a:ext cx="1208387" cy="120838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25" name="Group 25"/>
          <p:cNvGrpSpPr/>
          <p:nvPr/>
        </p:nvGrpSpPr>
        <p:grpSpPr>
          <a:xfrm>
            <a:off x="15736494" y="2109090"/>
            <a:ext cx="1208387" cy="1208387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27" name="Group 27"/>
          <p:cNvGrpSpPr/>
          <p:nvPr/>
        </p:nvGrpSpPr>
        <p:grpSpPr>
          <a:xfrm>
            <a:off x="14636666" y="1116981"/>
            <a:ext cx="1208387" cy="1208387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39496"/>
            <a:ext cx="1645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kern="0" spc="600" dirty="0" smtClean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CONTOH </a:t>
            </a:r>
            <a:r>
              <a:rPr lang="en-US" sz="3200" kern="0" spc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KODE C++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401377"/>
            <a:ext cx="16459200" cy="7017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 err="1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Melakukan</a:t>
            </a:r>
            <a:r>
              <a:rPr lang="en-US" sz="3200" b="1" dirty="0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pengecekan</a:t>
            </a:r>
            <a:r>
              <a:rPr lang="en-US" sz="3200" b="1" dirty="0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pada</a:t>
            </a:r>
            <a:r>
              <a:rPr lang="en-US" sz="3200" b="1" dirty="0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nilai</a:t>
            </a:r>
            <a:r>
              <a:rPr lang="en-US" sz="3200" b="1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Kelulusan</a:t>
            </a:r>
            <a:r>
              <a:rPr lang="en-US" sz="32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Mahasiswa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368062"/>
            <a:ext cx="10058400" cy="723313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468880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468880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2468880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834640"/>
            <a:ext cx="9509760" cy="6583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endParaRPr lang="en-US" sz="2800" dirty="0" smtClean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r>
              <a:rPr lang="en-US" sz="2800" dirty="0" smtClean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include &lt;iostream&gt;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using namespace std;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sz="2800" dirty="0" err="1" smtClean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</a:t>
            </a:r>
            <a:r>
              <a:rPr lang="en-US" sz="2800" dirty="0" smtClean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nilai</a:t>
            </a:r>
            <a:r>
              <a:rPr lang="en-US" sz="2800" dirty="0" smtClean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2800" dirty="0" smtClean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cout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&lt;&lt; "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Masukkan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nilai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</a:t>
            </a:r>
            <a:r>
              <a:rPr lang="en-US" sz="2800" dirty="0" smtClean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";</a:t>
            </a:r>
            <a:endParaRPr lang="en-US" sz="2800" dirty="0" smtClean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</a:rPr>
              <a:t>   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34" charset="0"/>
              </a:rPr>
              <a:t>cin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</a:rPr>
              <a:t> &gt;&gt;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34" charset="0"/>
              </a:rPr>
              <a:t>nilai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</a:rPr>
              <a:t>;</a:t>
            </a:r>
            <a:endParaRPr lang="en-US" sz="2800" dirty="0" smtClean="0">
              <a:solidFill>
                <a:schemeClr val="bg1"/>
              </a:solidFill>
            </a:endParaRPr>
          </a:p>
          <a:p>
            <a:endParaRPr lang="en-US" sz="2800" dirty="0" smtClean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nilai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&gt; 80) {       </a:t>
            </a:r>
            <a:endParaRPr lang="en-US" sz="2800" dirty="0" smtClean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cout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&lt;&lt; "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Nilai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Sangat</a:t>
            </a:r>
            <a:r>
              <a:rPr lang="en-US" sz="2800" dirty="0" smtClean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Baik</a:t>
            </a:r>
            <a:r>
              <a:rPr lang="en-US" sz="2800" dirty="0" smtClean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&lt;&lt;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endl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   </a:t>
            </a:r>
            <a:endParaRPr lang="en-US" sz="2800" dirty="0" smtClean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}        </a:t>
            </a:r>
            <a:endParaRPr lang="en-US" sz="2800" dirty="0" smtClean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endParaRPr lang="en-US" sz="2800" dirty="0" smtClean="0">
              <a:solidFill>
                <a:schemeClr val="bg1"/>
              </a:solidFill>
              <a:latin typeface="Consolas" panose="020B0609020204030204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</a:rPr>
              <a:t>   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34" charset="0"/>
              </a:rPr>
              <a:t>cout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</a:rPr>
              <a:t> &lt;&lt;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34" charset="0"/>
              </a:rPr>
              <a:t>endl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34" charset="0"/>
              </a:rPr>
              <a:t>;</a:t>
            </a:r>
            <a:endParaRPr lang="en-US" sz="2800" dirty="0">
              <a:solidFill>
                <a:schemeClr val="bg1"/>
              </a:solidFill>
              <a:latin typeface="Consolas" panose="020B0609020204030204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}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430000" y="2415540"/>
            <a:ext cx="5943600" cy="219456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795760" y="2468880"/>
            <a:ext cx="5303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kern="0" spc="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795760" y="3108960"/>
            <a:ext cx="53035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 err="1" smtClean="0">
                <a:solidFill>
                  <a:srgbClr val="86EFAC"/>
                </a:solidFill>
                <a:latin typeface="Consolas" panose="020B0609020204030204" pitchFamily="34" charset="0"/>
              </a:rPr>
              <a:t>Nilai</a:t>
            </a:r>
            <a:r>
              <a:rPr lang="en-US" sz="3200" b="1" dirty="0" smtClean="0">
                <a:solidFill>
                  <a:srgbClr val="86EFAC"/>
                </a:solidFill>
                <a:latin typeface="Consolas" panose="020B0609020204030204" pitchFamily="34" charset="0"/>
              </a:rPr>
              <a:t> </a:t>
            </a:r>
            <a:r>
              <a:rPr lang="en-US" sz="3200" b="1" dirty="0" err="1" smtClean="0">
                <a:solidFill>
                  <a:srgbClr val="86EFAC"/>
                </a:solidFill>
                <a:latin typeface="Consolas" panose="020B0609020204030204" pitchFamily="34" charset="0"/>
              </a:rPr>
              <a:t>Sangat</a:t>
            </a:r>
            <a:r>
              <a:rPr lang="en-US" sz="3200" b="1" dirty="0" smtClean="0">
                <a:solidFill>
                  <a:srgbClr val="86EFAC"/>
                </a:solidFill>
                <a:latin typeface="Consolas" panose="020B0609020204030204" pitchFamily="34" charset="0"/>
              </a:rPr>
              <a:t> </a:t>
            </a:r>
            <a:r>
              <a:rPr lang="en-US" sz="3200" b="1" dirty="0" err="1" smtClean="0">
                <a:solidFill>
                  <a:srgbClr val="86EFAC"/>
                </a:solidFill>
                <a:latin typeface="Consolas" panose="020B0609020204030204" pitchFamily="34" charset="0"/>
              </a:rPr>
              <a:t>Baik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11430000" y="4862732"/>
            <a:ext cx="594360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704320" y="4846320"/>
            <a:ext cx="2743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 smtClean="0">
                <a:solidFill>
                  <a:srgbClr val="FDE68A"/>
                </a:solidFill>
                <a:latin typeface="Consolas" panose="020B0609020204030204" pitchFamily="34" charset="0"/>
              </a:rPr>
              <a:t>If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538960" y="484632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Tipe</a:t>
            </a:r>
            <a:r>
              <a:rPr lang="en-US" sz="2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200" dirty="0" err="1" smtClean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percabangan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1430000" y="6362700"/>
            <a:ext cx="594360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704320" y="6309360"/>
            <a:ext cx="2743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2400" b="1" dirty="0" err="1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nilai</a:t>
            </a:r>
            <a:r>
              <a:rPr lang="en-US" sz="2400" b="1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2400" b="1" dirty="0" smtClean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 </a:t>
            </a:r>
            <a:r>
              <a:rPr lang="en-US" sz="2400" b="1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r>
              <a:rPr lang="en-US" sz="2400" b="1" dirty="0" smtClean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r>
              <a:rPr lang="en-US" sz="2400" b="1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538960" y="630936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Ekspresi relasional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704320" y="7772400"/>
            <a:ext cx="2743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538960" y="777240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333" b="-933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262586"/>
            <a:ext cx="12744583" cy="201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45"/>
              </a:lnSpc>
            </a:pPr>
            <a:r>
              <a:rPr lang="en-US" sz="11815">
                <a:solidFill>
                  <a:srgbClr val="000000"/>
                </a:solidFill>
                <a:latin typeface="Staatliches"/>
                <a:ea typeface="Staatliches"/>
                <a:cs typeface="Staatliches"/>
                <a:sym typeface="Staatliches"/>
              </a:rPr>
              <a:t>PENGGUNAAN </a:t>
            </a:r>
            <a:endParaRPr lang="en-US" sz="11815">
              <a:solidFill>
                <a:srgbClr val="000000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790048"/>
            <a:ext cx="8636454" cy="201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45"/>
              </a:lnSpc>
            </a:pPr>
            <a:r>
              <a:rPr lang="en-US" sz="11815">
                <a:solidFill>
                  <a:srgbClr val="29007B"/>
                </a:solidFill>
                <a:latin typeface="Staatliches"/>
                <a:ea typeface="Staatliches"/>
                <a:cs typeface="Staatliches"/>
                <a:sym typeface="Staatliches"/>
              </a:rPr>
              <a:t>IF - ELSE</a:t>
            </a:r>
            <a:endParaRPr lang="en-US" sz="11815">
              <a:solidFill>
                <a:srgbClr val="29007B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004325" y="3401449"/>
            <a:ext cx="1007216" cy="100721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7" name="Group 7"/>
          <p:cNvGrpSpPr/>
          <p:nvPr/>
        </p:nvGrpSpPr>
        <p:grpSpPr>
          <a:xfrm rot="-10800000">
            <a:off x="9160706" y="3401449"/>
            <a:ext cx="1007216" cy="100721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9" name="Group 9"/>
          <p:cNvGrpSpPr/>
          <p:nvPr/>
        </p:nvGrpSpPr>
        <p:grpSpPr>
          <a:xfrm rot="-10800000">
            <a:off x="10318768" y="3401449"/>
            <a:ext cx="1007216" cy="100721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11" name="Group 11"/>
          <p:cNvGrpSpPr/>
          <p:nvPr/>
        </p:nvGrpSpPr>
        <p:grpSpPr>
          <a:xfrm>
            <a:off x="1028700" y="5285900"/>
            <a:ext cx="14816353" cy="3777204"/>
            <a:chOff x="0" y="0"/>
            <a:chExt cx="3573161" cy="9109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73161" cy="910923"/>
            </a:xfrm>
            <a:custGeom>
              <a:avLst/>
              <a:gdLst/>
              <a:ahLst/>
              <a:cxnLst/>
              <a:rect l="l" t="t" r="r" b="b"/>
              <a:pathLst>
                <a:path w="3573161" h="910923">
                  <a:moveTo>
                    <a:pt x="0" y="0"/>
                  </a:moveTo>
                  <a:lnTo>
                    <a:pt x="3573161" y="0"/>
                  </a:lnTo>
                  <a:lnTo>
                    <a:pt x="3573161" y="910923"/>
                  </a:lnTo>
                  <a:lnTo>
                    <a:pt x="0" y="910923"/>
                  </a:lnTo>
                  <a:close/>
                </a:path>
              </a:pathLst>
            </a:custGeom>
            <a:ln w="66675" cap="sq">
              <a:solidFill>
                <a:srgbClr val="29007B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573161" cy="958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0"/>
                </a:lnSpc>
              </a:pPr>
            </a:p>
          </p:txBody>
        </p:sp>
      </p:grpSp>
      <p:sp>
        <p:nvSpPr>
          <p:cNvPr id="14" name="AutoShape 14"/>
          <p:cNvSpPr/>
          <p:nvPr/>
        </p:nvSpPr>
        <p:spPr>
          <a:xfrm>
            <a:off x="8223143" y="5285900"/>
            <a:ext cx="0" cy="3519439"/>
          </a:xfrm>
          <a:prstGeom prst="line">
            <a:avLst/>
          </a:prstGeom>
          <a:ln w="66675" cap="flat">
            <a:solidFill>
              <a:srgbClr val="29007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504556" y="5597642"/>
            <a:ext cx="3645849" cy="49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29007B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Digunakan ketika :</a:t>
            </a:r>
            <a:endParaRPr lang="en-US" sz="2900" b="1">
              <a:solidFill>
                <a:srgbClr val="29007B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811448" y="5577983"/>
            <a:ext cx="3177187" cy="49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29007B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Contoh kasus :</a:t>
            </a:r>
            <a:endParaRPr lang="en-US" sz="2900" b="1">
              <a:solidFill>
                <a:srgbClr val="29007B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17" name="AutoShape 17"/>
          <p:cNvSpPr/>
          <p:nvPr/>
        </p:nvSpPr>
        <p:spPr>
          <a:xfrm flipV="1">
            <a:off x="1504556" y="6323804"/>
            <a:ext cx="4961835" cy="0"/>
          </a:xfrm>
          <a:prstGeom prst="line">
            <a:avLst/>
          </a:prstGeom>
          <a:ln w="66675" cap="flat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flipV="1">
            <a:off x="8811448" y="6323804"/>
            <a:ext cx="4961835" cy="0"/>
          </a:xfrm>
          <a:prstGeom prst="line">
            <a:avLst/>
          </a:prstGeom>
          <a:ln w="66675" cap="flat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504556" y="6534206"/>
            <a:ext cx="6264717" cy="1773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275" lvl="1" indent="-274955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Ada dua kemungkinan kondisi (benar atau salah)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49275" lvl="1" indent="-274955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Jika kondisi benar → aksi A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49275" lvl="1" indent="-274955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Jika kondisi salah → aksi B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811448" y="6534206"/>
            <a:ext cx="6429412" cy="1773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275" lvl="1" indent="-274955" algn="l">
              <a:lnSpc>
                <a:spcPts val="4835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Lulus atau tidak lulus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49275" lvl="1" indent="-274955" algn="l">
              <a:lnSpc>
                <a:spcPts val="4835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Genap atau ganjil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49275" lvl="1" indent="-274955" algn="l">
              <a:lnSpc>
                <a:spcPts val="4835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Login berhasil atau gagal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4130243" y="-3386111"/>
            <a:ext cx="8315513" cy="8315513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23" name="Group 23"/>
          <p:cNvGrpSpPr/>
          <p:nvPr/>
        </p:nvGrpSpPr>
        <p:grpSpPr>
          <a:xfrm>
            <a:off x="16748888" y="3085077"/>
            <a:ext cx="1208387" cy="120838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25" name="Group 25"/>
          <p:cNvGrpSpPr/>
          <p:nvPr/>
        </p:nvGrpSpPr>
        <p:grpSpPr>
          <a:xfrm>
            <a:off x="15736494" y="2109090"/>
            <a:ext cx="1208387" cy="1208387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27" name="Group 27"/>
          <p:cNvGrpSpPr/>
          <p:nvPr/>
        </p:nvGrpSpPr>
        <p:grpSpPr>
          <a:xfrm>
            <a:off x="14636666" y="1116981"/>
            <a:ext cx="1208387" cy="1208387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39496"/>
            <a:ext cx="1645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kern="0" spc="600" dirty="0" smtClean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CONTOH </a:t>
            </a:r>
            <a:r>
              <a:rPr lang="en-US" sz="3200" kern="0" spc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KODE C++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401377"/>
            <a:ext cx="16459200" cy="7017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 err="1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Melakukan</a:t>
            </a:r>
            <a:r>
              <a:rPr lang="en-US" sz="3200" b="1" dirty="0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pengecekan</a:t>
            </a:r>
            <a:r>
              <a:rPr lang="en-US" sz="3200" b="1" dirty="0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pada</a:t>
            </a:r>
            <a:r>
              <a:rPr lang="en-US" sz="3200" b="1" dirty="0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</a:t>
            </a:r>
            <a:r>
              <a:rPr lang="en-US" sz="3200" b="1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Kelulusan</a:t>
            </a:r>
            <a:r>
              <a:rPr lang="en-US" sz="32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Mahasiswa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368062"/>
            <a:ext cx="10058400" cy="723313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468880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468880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2468880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834640"/>
            <a:ext cx="9509760" cy="6583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altLang="en-US" sz="2400" dirty="0">
                <a:solidFill>
                  <a:schemeClr val="bg1"/>
                </a:solidFill>
              </a:rPr>
              <a:t>#include &lt;iostream&gt;</a:t>
            </a:r>
            <a:endParaRPr lang="en-US" altLang="en-US" sz="2400" dirty="0">
              <a:solidFill>
                <a:schemeClr val="bg1"/>
              </a:solidFill>
            </a:endParaRPr>
          </a:p>
          <a:p>
            <a:r>
              <a:rPr lang="en-US" altLang="en-US" sz="2400" dirty="0">
                <a:solidFill>
                  <a:schemeClr val="bg1"/>
                </a:solidFill>
              </a:rPr>
              <a:t>#include &lt;string&gt;</a:t>
            </a:r>
            <a:endParaRPr lang="en-US" altLang="en-US" sz="2400" dirty="0">
              <a:solidFill>
                <a:schemeClr val="bg1"/>
              </a:solidFill>
            </a:endParaRPr>
          </a:p>
          <a:p>
            <a:r>
              <a:rPr lang="en-US" altLang="en-US" sz="2400" dirty="0">
                <a:solidFill>
                  <a:schemeClr val="bg1"/>
                </a:solidFill>
              </a:rPr>
              <a:t>using namespace std;</a:t>
            </a:r>
            <a:endParaRPr lang="en-US" altLang="en-US" sz="2400" dirty="0">
              <a:solidFill>
                <a:schemeClr val="bg1"/>
              </a:solidFill>
            </a:endParaRPr>
          </a:p>
          <a:p>
            <a:endParaRPr lang="en-US" altLang="en-US" sz="2400" dirty="0">
              <a:solidFill>
                <a:schemeClr val="bg1"/>
              </a:solidFill>
            </a:endParaRPr>
          </a:p>
          <a:p>
            <a:r>
              <a:rPr lang="en-US" altLang="en-US" sz="2400" dirty="0">
                <a:solidFill>
                  <a:schemeClr val="bg1"/>
                </a:solidFill>
              </a:rPr>
              <a:t>int main() {</a:t>
            </a:r>
            <a:endParaRPr lang="en-US" altLang="en-US" sz="2400" dirty="0">
              <a:solidFill>
                <a:schemeClr val="bg1"/>
              </a:solidFill>
            </a:endParaRPr>
          </a:p>
          <a:p>
            <a:r>
              <a:rPr lang="en-US" altLang="en-US" sz="2400" dirty="0">
                <a:solidFill>
                  <a:schemeClr val="bg1"/>
                </a:solidFill>
              </a:rPr>
              <a:t>    string password;</a:t>
            </a:r>
            <a:endParaRPr lang="en-US" altLang="en-US" sz="2400" dirty="0">
              <a:solidFill>
                <a:schemeClr val="bg1"/>
              </a:solidFill>
            </a:endParaRPr>
          </a:p>
          <a:p>
            <a:endParaRPr lang="en-US" altLang="en-US" sz="2400" dirty="0">
              <a:solidFill>
                <a:schemeClr val="bg1"/>
              </a:solidFill>
            </a:endParaRPr>
          </a:p>
          <a:p>
            <a:r>
              <a:rPr lang="en-US" altLang="en-US" sz="2400" dirty="0">
                <a:solidFill>
                  <a:schemeClr val="bg1"/>
                </a:solidFill>
              </a:rPr>
              <a:t>    cout &lt;&lt; "Masukkan password: ";</a:t>
            </a:r>
            <a:endParaRPr lang="en-US" altLang="en-US" sz="2400" dirty="0">
              <a:solidFill>
                <a:schemeClr val="bg1"/>
              </a:solidFill>
            </a:endParaRPr>
          </a:p>
          <a:p>
            <a:r>
              <a:rPr lang="en-US" altLang="en-US" sz="2400" dirty="0">
                <a:solidFill>
                  <a:schemeClr val="bg1"/>
                </a:solidFill>
              </a:rPr>
              <a:t>    getline(cin, password);</a:t>
            </a:r>
            <a:endParaRPr lang="en-US" altLang="en-US" sz="2400" dirty="0">
              <a:solidFill>
                <a:schemeClr val="bg1"/>
              </a:solidFill>
            </a:endParaRPr>
          </a:p>
          <a:p>
            <a:endParaRPr lang="en-US" altLang="en-US" sz="2400" dirty="0">
              <a:solidFill>
                <a:schemeClr val="bg1"/>
              </a:solidFill>
            </a:endParaRPr>
          </a:p>
          <a:p>
            <a:r>
              <a:rPr lang="en-US" altLang="en-US" sz="2400" dirty="0">
                <a:solidFill>
                  <a:schemeClr val="bg1"/>
                </a:solidFill>
              </a:rPr>
              <a:t>    if (password.empty()) {</a:t>
            </a:r>
            <a:endParaRPr lang="en-US" altLang="en-US" sz="2400" dirty="0">
              <a:solidFill>
                <a:schemeClr val="bg1"/>
              </a:solidFill>
            </a:endParaRPr>
          </a:p>
          <a:p>
            <a:r>
              <a:rPr lang="en-US" altLang="en-US" sz="2400" dirty="0">
                <a:solidFill>
                  <a:schemeClr val="bg1"/>
                </a:solidFill>
              </a:rPr>
              <a:t>        cout &lt;&lt; "Password kosong!" &lt;&lt; endl;</a:t>
            </a:r>
            <a:endParaRPr lang="en-US" altLang="en-US" sz="2400" dirty="0">
              <a:solidFill>
                <a:schemeClr val="bg1"/>
              </a:solidFill>
            </a:endParaRPr>
          </a:p>
          <a:p>
            <a:r>
              <a:rPr lang="en-US" altLang="en-US" sz="2400" dirty="0">
                <a:solidFill>
                  <a:schemeClr val="bg1"/>
                </a:solidFill>
              </a:rPr>
              <a:t>    } else {</a:t>
            </a:r>
            <a:endParaRPr lang="en-US" altLang="en-US" sz="2400" dirty="0">
              <a:solidFill>
                <a:schemeClr val="bg1"/>
              </a:solidFill>
            </a:endParaRPr>
          </a:p>
          <a:p>
            <a:r>
              <a:rPr lang="en-US" altLang="en-US" sz="2400" dirty="0">
                <a:solidFill>
                  <a:schemeClr val="bg1"/>
                </a:solidFill>
              </a:rPr>
              <a:t>        cout &lt;&lt; "Password berhasil." &lt;&lt; endl;</a:t>
            </a:r>
            <a:endParaRPr lang="en-US" altLang="en-US" sz="2400" dirty="0">
              <a:solidFill>
                <a:schemeClr val="bg1"/>
              </a:solidFill>
            </a:endParaRPr>
          </a:p>
          <a:p>
            <a:r>
              <a:rPr lang="en-US" altLang="en-US" sz="2400" dirty="0">
                <a:solidFill>
                  <a:schemeClr val="bg1"/>
                </a:solidFill>
              </a:rPr>
              <a:t>    }</a:t>
            </a:r>
            <a:endParaRPr lang="en-US" altLang="en-US" sz="2400" dirty="0">
              <a:solidFill>
                <a:schemeClr val="bg1"/>
              </a:solidFill>
            </a:endParaRPr>
          </a:p>
          <a:p>
            <a:r>
              <a:rPr lang="en-US" altLang="en-US" sz="2400" dirty="0">
                <a:solidFill>
                  <a:schemeClr val="bg1"/>
                </a:solidFill>
              </a:rPr>
              <a:t>    return 0;</a:t>
            </a:r>
            <a:endParaRPr lang="en-US" altLang="en-US" sz="2400" dirty="0">
              <a:solidFill>
                <a:schemeClr val="bg1"/>
              </a:solidFill>
            </a:endParaRPr>
          </a:p>
          <a:p>
            <a:r>
              <a:rPr lang="en-US" altLang="en-US" sz="2400" dirty="0">
                <a:solidFill>
                  <a:schemeClr val="bg1"/>
                </a:solidFill>
              </a:rPr>
              <a:t>}</a:t>
            </a:r>
            <a:endParaRPr lang="en-US" altLang="en-US" sz="24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430000" y="2415540"/>
            <a:ext cx="5943600" cy="219456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795760" y="2468880"/>
            <a:ext cx="5303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kern="0" spc="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795760" y="3108960"/>
            <a:ext cx="53035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 smtClean="0">
                <a:solidFill>
                  <a:srgbClr val="86EFAC"/>
                </a:solidFill>
                <a:latin typeface="Consolas" panose="020B0609020204030204" pitchFamily="34" charset="0"/>
              </a:rPr>
              <a:t>Password </a:t>
            </a:r>
            <a:r>
              <a:rPr lang="en-US" sz="3200" b="1" dirty="0" err="1" smtClean="0">
                <a:solidFill>
                  <a:srgbClr val="86EFAC"/>
                </a:solidFill>
                <a:latin typeface="Consolas" panose="020B0609020204030204" pitchFamily="34" charset="0"/>
              </a:rPr>
              <a:t>kosong</a:t>
            </a:r>
            <a:r>
              <a:rPr lang="en-US" sz="3200" b="1" dirty="0" smtClean="0">
                <a:solidFill>
                  <a:srgbClr val="86EFAC"/>
                </a:solidFill>
                <a:latin typeface="Consolas" panose="020B0609020204030204" pitchFamily="34" charset="0"/>
              </a:rPr>
              <a:t>!</a:t>
            </a:r>
            <a:endParaRPr lang="en-US" sz="3200" b="1" dirty="0" smtClean="0">
              <a:solidFill>
                <a:srgbClr val="86EFAC"/>
              </a:solidFill>
              <a:latin typeface="Consolas" panose="020B0609020204030204" pitchFamily="34" charset="0"/>
            </a:endParaRPr>
          </a:p>
          <a:p>
            <a:r>
              <a:rPr lang="en-US" sz="3200" b="1" dirty="0" smtClean="0">
                <a:solidFill>
                  <a:srgbClr val="86EFAC"/>
                </a:solidFill>
                <a:latin typeface="Consolas" panose="020B0609020204030204" pitchFamily="34" charset="0"/>
              </a:rPr>
              <a:t>Password </a:t>
            </a:r>
            <a:r>
              <a:rPr lang="en-US" sz="3200" b="1" dirty="0" err="1" smtClean="0">
                <a:solidFill>
                  <a:srgbClr val="86EFAC"/>
                </a:solidFill>
                <a:latin typeface="Consolas" panose="020B0609020204030204" pitchFamily="34" charset="0"/>
              </a:rPr>
              <a:t>berhasil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11430000" y="4862732"/>
            <a:ext cx="594360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704320" y="4846320"/>
            <a:ext cx="2743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 smtClean="0">
                <a:solidFill>
                  <a:srgbClr val="FDE68A"/>
                </a:solidFill>
                <a:latin typeface="Consolas" panose="020B0609020204030204" pitchFamily="34" charset="0"/>
              </a:rPr>
              <a:t>If - Else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538960" y="484632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Tipe</a:t>
            </a:r>
            <a:r>
              <a:rPr lang="en-US" sz="2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200" dirty="0" err="1" smtClean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percabangan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1430000" y="6362700"/>
            <a:ext cx="594360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704320" y="6309360"/>
            <a:ext cx="31546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 smtClean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</a:t>
            </a:r>
            <a:r>
              <a:rPr lang="en-US" sz="2400" b="1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password</a:t>
            </a:r>
            <a:r>
              <a:rPr lang="en-US" sz="2400" b="1" dirty="0" smtClean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538960" y="630936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dirty="0" smtClean="0">
                <a:solidFill>
                  <a:srgbClr val="94A3B8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 </a:t>
            </a:r>
            <a:r>
              <a:rPr lang="en-US" sz="2200" dirty="0" err="1" smtClean="0">
                <a:solidFill>
                  <a:srgbClr val="94A3B8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Variabel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704320" y="7772400"/>
            <a:ext cx="2743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538960" y="777240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333" b="-933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262586"/>
            <a:ext cx="12744583" cy="201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45"/>
              </a:lnSpc>
            </a:pPr>
            <a:r>
              <a:rPr lang="en-US" sz="11815">
                <a:solidFill>
                  <a:srgbClr val="000000"/>
                </a:solidFill>
                <a:latin typeface="Staatliches"/>
                <a:ea typeface="Staatliches"/>
                <a:cs typeface="Staatliches"/>
                <a:sym typeface="Staatliches"/>
              </a:rPr>
              <a:t>PENGGUNAAN </a:t>
            </a:r>
            <a:endParaRPr lang="en-US" sz="11815">
              <a:solidFill>
                <a:srgbClr val="000000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790048"/>
            <a:ext cx="8636454" cy="201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45"/>
              </a:lnSpc>
            </a:pPr>
            <a:r>
              <a:rPr lang="en-US" sz="11815">
                <a:solidFill>
                  <a:srgbClr val="29007B"/>
                </a:solidFill>
                <a:latin typeface="Staatliches"/>
                <a:ea typeface="Staatliches"/>
                <a:cs typeface="Staatliches"/>
                <a:sym typeface="Staatliches"/>
              </a:rPr>
              <a:t>NESTED IF</a:t>
            </a:r>
            <a:endParaRPr lang="en-US" sz="11815">
              <a:solidFill>
                <a:srgbClr val="29007B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004325" y="3401449"/>
            <a:ext cx="1007216" cy="100721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7" name="Group 7"/>
          <p:cNvGrpSpPr/>
          <p:nvPr/>
        </p:nvGrpSpPr>
        <p:grpSpPr>
          <a:xfrm rot="-10800000">
            <a:off x="9160706" y="3401449"/>
            <a:ext cx="1007216" cy="100721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9" name="Group 9"/>
          <p:cNvGrpSpPr/>
          <p:nvPr/>
        </p:nvGrpSpPr>
        <p:grpSpPr>
          <a:xfrm rot="-10800000">
            <a:off x="10318768" y="3401449"/>
            <a:ext cx="1007216" cy="100721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11" name="Group 11"/>
          <p:cNvGrpSpPr/>
          <p:nvPr/>
        </p:nvGrpSpPr>
        <p:grpSpPr>
          <a:xfrm>
            <a:off x="1028700" y="5285900"/>
            <a:ext cx="14816353" cy="3777204"/>
            <a:chOff x="0" y="0"/>
            <a:chExt cx="3573161" cy="9109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73161" cy="910923"/>
            </a:xfrm>
            <a:custGeom>
              <a:avLst/>
              <a:gdLst/>
              <a:ahLst/>
              <a:cxnLst/>
              <a:rect l="l" t="t" r="r" b="b"/>
              <a:pathLst>
                <a:path w="3573161" h="910923">
                  <a:moveTo>
                    <a:pt x="0" y="0"/>
                  </a:moveTo>
                  <a:lnTo>
                    <a:pt x="3573161" y="0"/>
                  </a:lnTo>
                  <a:lnTo>
                    <a:pt x="3573161" y="910923"/>
                  </a:lnTo>
                  <a:lnTo>
                    <a:pt x="0" y="910923"/>
                  </a:lnTo>
                  <a:close/>
                </a:path>
              </a:pathLst>
            </a:custGeom>
            <a:ln w="66675" cap="sq">
              <a:solidFill>
                <a:srgbClr val="29007B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573161" cy="958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0"/>
                </a:lnSpc>
              </a:pPr>
            </a:p>
          </p:txBody>
        </p:sp>
      </p:grpSp>
      <p:sp>
        <p:nvSpPr>
          <p:cNvPr id="14" name="AutoShape 14"/>
          <p:cNvSpPr/>
          <p:nvPr/>
        </p:nvSpPr>
        <p:spPr>
          <a:xfrm>
            <a:off x="8223143" y="5285900"/>
            <a:ext cx="0" cy="3519439"/>
          </a:xfrm>
          <a:prstGeom prst="line">
            <a:avLst/>
          </a:prstGeom>
          <a:ln w="66675" cap="flat">
            <a:solidFill>
              <a:srgbClr val="29007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504556" y="5597642"/>
            <a:ext cx="3645849" cy="49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29007B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Digunakan ketika :</a:t>
            </a:r>
            <a:endParaRPr lang="en-US" sz="2900" b="1">
              <a:solidFill>
                <a:srgbClr val="29007B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811448" y="5577983"/>
            <a:ext cx="3177187" cy="49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29007B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Contoh kasus :</a:t>
            </a:r>
            <a:endParaRPr lang="en-US" sz="2900" b="1">
              <a:solidFill>
                <a:srgbClr val="29007B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17" name="AutoShape 17"/>
          <p:cNvSpPr/>
          <p:nvPr/>
        </p:nvSpPr>
        <p:spPr>
          <a:xfrm flipV="1">
            <a:off x="1504556" y="6323804"/>
            <a:ext cx="4961835" cy="0"/>
          </a:xfrm>
          <a:prstGeom prst="line">
            <a:avLst/>
          </a:prstGeom>
          <a:ln w="66675" cap="flat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flipV="1">
            <a:off x="8811448" y="6323804"/>
            <a:ext cx="4961835" cy="0"/>
          </a:xfrm>
          <a:prstGeom prst="line">
            <a:avLst/>
          </a:prstGeom>
          <a:ln w="66675" cap="flat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504556" y="6534206"/>
            <a:ext cx="6264717" cy="1773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275" lvl="1" indent="-274955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Ada kondisi bertingkat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49275" lvl="1" indent="-274955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Keputusan kedua bergantung pada keputusan pertama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49275" lvl="1" indent="-274955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Validasi lebih dari satu level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811448" y="6534206"/>
            <a:ext cx="6429412" cy="2221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275" lvl="1" indent="-274955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Seleksi beasiswa (cek IPK → lalu cek penghasilan orang tua)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49275" lvl="1" indent="-274955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Login (cek username → lalu cek password)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49275" lvl="1" indent="-274955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Penentuan grade detail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4130243" y="-3386111"/>
            <a:ext cx="8315513" cy="8315513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23" name="Group 23"/>
          <p:cNvGrpSpPr/>
          <p:nvPr/>
        </p:nvGrpSpPr>
        <p:grpSpPr>
          <a:xfrm>
            <a:off x="16748888" y="3085077"/>
            <a:ext cx="1208387" cy="120838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25" name="Group 25"/>
          <p:cNvGrpSpPr/>
          <p:nvPr/>
        </p:nvGrpSpPr>
        <p:grpSpPr>
          <a:xfrm>
            <a:off x="15736494" y="2109090"/>
            <a:ext cx="1208387" cy="1208387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27" name="Group 27"/>
          <p:cNvGrpSpPr/>
          <p:nvPr/>
        </p:nvGrpSpPr>
        <p:grpSpPr>
          <a:xfrm>
            <a:off x="14636666" y="1116981"/>
            <a:ext cx="1208387" cy="1208387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39496"/>
            <a:ext cx="1645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kern="0" spc="600" dirty="0" smtClean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CONTOH </a:t>
            </a:r>
            <a:r>
              <a:rPr lang="en-US" sz="3200" kern="0" spc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KODE C++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401377"/>
            <a:ext cx="16459200" cy="7017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 err="1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Menentukan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kelulusan</a:t>
            </a:r>
            <a:r>
              <a:rPr lang="en-US" sz="3200" b="1" dirty="0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berdasarkan</a:t>
            </a:r>
            <a:r>
              <a:rPr lang="en-US" sz="3200" b="1" dirty="0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nilai</a:t>
            </a:r>
            <a:r>
              <a:rPr lang="en-US" sz="3200" b="1" dirty="0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dan</a:t>
            </a:r>
            <a:r>
              <a:rPr lang="en-US" sz="3200" b="1" dirty="0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absen</a:t>
            </a:r>
            <a:r>
              <a:rPr lang="en-US" sz="3200" b="1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Kelulusan</a:t>
            </a:r>
            <a:r>
              <a:rPr lang="en-US" sz="32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Mahasiswa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368062"/>
            <a:ext cx="10058400" cy="723313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468880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468880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2468880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054350"/>
            <a:ext cx="9509760" cy="6583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altLang="en-US" sz="2800" dirty="0">
                <a:solidFill>
                  <a:schemeClr val="bg1"/>
                </a:solidFill>
              </a:rPr>
              <a:t>if (nilai &gt;= 75) {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if (absen &gt;= 80) {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    cout &lt;&lt; "Status : LULUS" &lt;&lt; endl;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} else {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    cout &lt;&lt; "Status : TIDAK LULUS (Absen kurang dari 80%)" &lt;&lt; endl;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}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} else {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cout &lt;&lt; "Status : TIDAK LULUS (Nilai kurang dari 75)" &lt;&lt; endl;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}</a:t>
            </a:r>
            <a:endParaRPr lang="en-US" altLang="en-US" sz="28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430000" y="2415540"/>
            <a:ext cx="5943600" cy="219456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795760" y="2468880"/>
            <a:ext cx="5303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kern="0" spc="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795760" y="3108960"/>
            <a:ext cx="53035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 smtClean="0">
                <a:solidFill>
                  <a:srgbClr val="86EFAC"/>
                </a:solidFill>
                <a:latin typeface="Consolas" panose="020B0609020204030204" pitchFamily="34" charset="0"/>
              </a:rPr>
              <a:t>Lulus </a:t>
            </a:r>
            <a:r>
              <a:rPr lang="en-US" sz="3200" b="1" dirty="0" err="1" smtClean="0">
                <a:solidFill>
                  <a:srgbClr val="86EFAC"/>
                </a:solidFill>
                <a:latin typeface="Consolas" panose="020B0609020204030204" pitchFamily="34" charset="0"/>
              </a:rPr>
              <a:t>dan</a:t>
            </a:r>
            <a:r>
              <a:rPr lang="en-US" sz="3200" b="1" dirty="0" smtClean="0">
                <a:solidFill>
                  <a:srgbClr val="86EFAC"/>
                </a:solidFill>
                <a:latin typeface="Consolas" panose="020B0609020204030204" pitchFamily="34" charset="0"/>
              </a:rPr>
              <a:t> </a:t>
            </a:r>
            <a:r>
              <a:rPr lang="en-US" sz="3200" b="1" dirty="0" err="1" smtClean="0">
                <a:solidFill>
                  <a:srgbClr val="86EFAC"/>
                </a:solidFill>
                <a:latin typeface="Consolas" panose="020B0609020204030204" pitchFamily="34" charset="0"/>
              </a:rPr>
              <a:t>Tidak</a:t>
            </a:r>
            <a:r>
              <a:rPr lang="en-US" sz="3200" b="1" dirty="0" smtClean="0">
                <a:solidFill>
                  <a:srgbClr val="86EFAC"/>
                </a:solidFill>
                <a:latin typeface="Consolas" panose="020B0609020204030204" pitchFamily="34" charset="0"/>
              </a:rPr>
              <a:t> Lulus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11430000" y="4862732"/>
            <a:ext cx="594360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704320" y="4846320"/>
            <a:ext cx="2743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 smtClean="0">
                <a:solidFill>
                  <a:srgbClr val="FDE68A"/>
                </a:solidFill>
                <a:latin typeface="Consolas" panose="020B0609020204030204" pitchFamily="34" charset="0"/>
              </a:rPr>
              <a:t>Nested If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538960" y="484632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Tipe</a:t>
            </a:r>
            <a:r>
              <a:rPr lang="en-US" sz="2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200" dirty="0" err="1" smtClean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percabangan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1430000" y="6362700"/>
            <a:ext cx="594360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704320" y="6309360"/>
            <a:ext cx="31546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 err="1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</a:t>
            </a:r>
            <a:r>
              <a:rPr lang="en-US" sz="2400" b="1" dirty="0" err="1" smtClean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ilai</a:t>
            </a:r>
            <a:r>
              <a:rPr lang="en-US" sz="2400" b="1" dirty="0" smtClean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2400" b="1" dirty="0" err="1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</a:t>
            </a:r>
            <a:r>
              <a:rPr lang="en-US" sz="2400" b="1" dirty="0" err="1" smtClean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adir</a:t>
            </a:r>
            <a:r>
              <a:rPr lang="en-US" sz="2400" b="1" dirty="0" smtClean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538960" y="630936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dirty="0" smtClean="0">
                <a:solidFill>
                  <a:srgbClr val="94A3B8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 </a:t>
            </a:r>
            <a:r>
              <a:rPr lang="en-US" sz="2200" dirty="0" err="1" smtClean="0">
                <a:solidFill>
                  <a:srgbClr val="94A3B8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Variabel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704320" y="7772400"/>
            <a:ext cx="2743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538960" y="777240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333" b="-933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262586"/>
            <a:ext cx="12744583" cy="201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45"/>
              </a:lnSpc>
            </a:pPr>
            <a:r>
              <a:rPr lang="en-US" sz="11815">
                <a:solidFill>
                  <a:srgbClr val="000000"/>
                </a:solidFill>
                <a:latin typeface="Staatliches"/>
                <a:ea typeface="Staatliches"/>
                <a:cs typeface="Staatliches"/>
                <a:sym typeface="Staatliches"/>
              </a:rPr>
              <a:t>PENGGUNAAN </a:t>
            </a:r>
            <a:endParaRPr lang="en-US" sz="11815">
              <a:solidFill>
                <a:srgbClr val="000000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799573"/>
            <a:ext cx="8636454" cy="1865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85"/>
              </a:lnSpc>
            </a:pPr>
            <a:r>
              <a:rPr lang="en-US" sz="10915">
                <a:solidFill>
                  <a:srgbClr val="29007B"/>
                </a:solidFill>
                <a:latin typeface="Staatliches"/>
                <a:ea typeface="Staatliches"/>
                <a:cs typeface="Staatliches"/>
                <a:sym typeface="Staatliches"/>
              </a:rPr>
              <a:t>SWITCH - CASE</a:t>
            </a:r>
            <a:endParaRPr lang="en-US" sz="10915">
              <a:solidFill>
                <a:srgbClr val="29007B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004325" y="3401449"/>
            <a:ext cx="1007216" cy="100721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7" name="Group 7"/>
          <p:cNvGrpSpPr/>
          <p:nvPr/>
        </p:nvGrpSpPr>
        <p:grpSpPr>
          <a:xfrm rot="-10800000">
            <a:off x="9160706" y="3401449"/>
            <a:ext cx="1007216" cy="100721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9" name="Group 9"/>
          <p:cNvGrpSpPr/>
          <p:nvPr/>
        </p:nvGrpSpPr>
        <p:grpSpPr>
          <a:xfrm rot="-10800000">
            <a:off x="10318768" y="3401449"/>
            <a:ext cx="1007216" cy="100721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11" name="Group 11"/>
          <p:cNvGrpSpPr/>
          <p:nvPr/>
        </p:nvGrpSpPr>
        <p:grpSpPr>
          <a:xfrm>
            <a:off x="1028700" y="5285900"/>
            <a:ext cx="14816353" cy="3777204"/>
            <a:chOff x="0" y="0"/>
            <a:chExt cx="3573161" cy="9109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73161" cy="910923"/>
            </a:xfrm>
            <a:custGeom>
              <a:avLst/>
              <a:gdLst/>
              <a:ahLst/>
              <a:cxnLst/>
              <a:rect l="l" t="t" r="r" b="b"/>
              <a:pathLst>
                <a:path w="3573161" h="910923">
                  <a:moveTo>
                    <a:pt x="0" y="0"/>
                  </a:moveTo>
                  <a:lnTo>
                    <a:pt x="3573161" y="0"/>
                  </a:lnTo>
                  <a:lnTo>
                    <a:pt x="3573161" y="910923"/>
                  </a:lnTo>
                  <a:lnTo>
                    <a:pt x="0" y="910923"/>
                  </a:lnTo>
                  <a:close/>
                </a:path>
              </a:pathLst>
            </a:custGeom>
            <a:ln w="66675" cap="sq">
              <a:solidFill>
                <a:srgbClr val="29007B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573161" cy="958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0"/>
                </a:lnSpc>
              </a:pPr>
            </a:p>
          </p:txBody>
        </p:sp>
      </p:grpSp>
      <p:sp>
        <p:nvSpPr>
          <p:cNvPr id="14" name="AutoShape 14"/>
          <p:cNvSpPr/>
          <p:nvPr/>
        </p:nvSpPr>
        <p:spPr>
          <a:xfrm>
            <a:off x="8223143" y="5285900"/>
            <a:ext cx="0" cy="3519439"/>
          </a:xfrm>
          <a:prstGeom prst="line">
            <a:avLst/>
          </a:prstGeom>
          <a:ln w="66675" cap="flat">
            <a:solidFill>
              <a:srgbClr val="29007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504556" y="5597642"/>
            <a:ext cx="3645849" cy="49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29007B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Digunakan ketika :</a:t>
            </a:r>
            <a:endParaRPr lang="en-US" sz="2900" b="1">
              <a:solidFill>
                <a:srgbClr val="29007B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811448" y="5577983"/>
            <a:ext cx="3177187" cy="49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29007B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Contoh kasus :</a:t>
            </a:r>
            <a:endParaRPr lang="en-US" sz="2900" b="1">
              <a:solidFill>
                <a:srgbClr val="29007B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17" name="AutoShape 17"/>
          <p:cNvSpPr/>
          <p:nvPr/>
        </p:nvSpPr>
        <p:spPr>
          <a:xfrm flipV="1">
            <a:off x="1504556" y="6323804"/>
            <a:ext cx="4961835" cy="0"/>
          </a:xfrm>
          <a:prstGeom prst="line">
            <a:avLst/>
          </a:prstGeom>
          <a:ln w="66675" cap="flat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flipV="1">
            <a:off x="8811448" y="6323804"/>
            <a:ext cx="4961835" cy="0"/>
          </a:xfrm>
          <a:prstGeom prst="line">
            <a:avLst/>
          </a:prstGeom>
          <a:ln w="66675" cap="flat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504556" y="6534206"/>
            <a:ext cx="6264717" cy="1773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275" lvl="1" indent="-274955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Membandingkan satu variabel dengan banyak nilai tetap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49275" lvl="1" indent="-274955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Biasanya untuk menu pilihan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49275" lvl="1" indent="-274955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Cocok untuk angka atau karakter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811448" y="6534206"/>
            <a:ext cx="6429412" cy="1773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275" lvl="1" indent="-274955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Menu program (1 = Tambah, 2 = Edit, 3 = Hapus)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49275" lvl="1" indent="-274955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Hari dalam seminggu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49275" lvl="1" indent="-274955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5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Pilihan jurusan</a:t>
            </a:r>
            <a:endParaRPr lang="en-US" sz="2545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4130243" y="-3386111"/>
            <a:ext cx="8315513" cy="8315513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23" name="Group 23"/>
          <p:cNvGrpSpPr/>
          <p:nvPr/>
        </p:nvGrpSpPr>
        <p:grpSpPr>
          <a:xfrm>
            <a:off x="16748888" y="3085077"/>
            <a:ext cx="1208387" cy="120838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25" name="Group 25"/>
          <p:cNvGrpSpPr/>
          <p:nvPr/>
        </p:nvGrpSpPr>
        <p:grpSpPr>
          <a:xfrm>
            <a:off x="15736494" y="2109090"/>
            <a:ext cx="1208387" cy="1208387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27" name="Group 27"/>
          <p:cNvGrpSpPr/>
          <p:nvPr/>
        </p:nvGrpSpPr>
        <p:grpSpPr>
          <a:xfrm>
            <a:off x="14636666" y="1116981"/>
            <a:ext cx="1208387" cy="1208387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39496"/>
            <a:ext cx="1645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kern="0" spc="600" dirty="0" smtClean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CONTOH </a:t>
            </a:r>
            <a:r>
              <a:rPr lang="en-US" sz="3200" kern="0" spc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KODE C++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401377"/>
            <a:ext cx="16459200" cy="7017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 err="1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r>
              <a:rPr lang="en-US" sz="3200" b="1" dirty="0" err="1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emilih</a:t>
            </a:r>
            <a:r>
              <a:rPr lang="en-US" sz="3200" b="1" dirty="0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berdasarkan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satu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variabel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dengan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banyak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pilihan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nilai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3200" b="1" dirty="0" err="1" smtClean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tetap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368062"/>
            <a:ext cx="10058400" cy="723313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468880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468880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2468880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682240"/>
            <a:ext cx="9509760" cy="6583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altLang="en-US" sz="2800" dirty="0">
                <a:solidFill>
                  <a:schemeClr val="bg1"/>
                </a:solidFill>
              </a:rPr>
              <a:t>switch (pilihan) {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case 1: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    cout &lt;&lt; "Anda memilih Teh" &lt;&lt; endl;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    break;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case 2: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    cout &lt;&lt; "Anda memilih Kopi" &lt;&lt; endl;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    break;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case 3: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    cout &lt;&lt; "Anda memilih Susu" &lt;&lt; endl;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    break;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case 4: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    cout &lt;&lt; "Anda memilih Jus" &lt;&lt; endl;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    break;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default: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        cout &lt;&lt; "Pilihan tidak tersedia" &lt;&lt; endl;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800" dirty="0">
                <a:solidFill>
                  <a:schemeClr val="bg1"/>
                </a:solidFill>
              </a:rPr>
              <a:t>}</a:t>
            </a:r>
            <a:endParaRPr lang="en-US" altLang="en-US" sz="28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430000" y="2415540"/>
            <a:ext cx="5943600" cy="219456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795760" y="2468880"/>
            <a:ext cx="5303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kern="0" spc="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795760" y="3108960"/>
            <a:ext cx="53035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 err="1" smtClean="0">
                <a:solidFill>
                  <a:srgbClr val="86EFAC"/>
                </a:solidFill>
                <a:latin typeface="Consolas" panose="020B0609020204030204" pitchFamily="34" charset="0"/>
              </a:rPr>
              <a:t>Tampilkan</a:t>
            </a:r>
            <a:r>
              <a:rPr lang="en-US" sz="3200" b="1" dirty="0" smtClean="0">
                <a:solidFill>
                  <a:srgbClr val="86EFAC"/>
                </a:solidFill>
                <a:latin typeface="Consolas" panose="020B0609020204030204" pitchFamily="34" charset="0"/>
              </a:rPr>
              <a:t> </a:t>
            </a:r>
            <a:r>
              <a:rPr lang="en-US" sz="3200" b="1" dirty="0" err="1" smtClean="0">
                <a:solidFill>
                  <a:srgbClr val="86EFAC"/>
                </a:solidFill>
                <a:latin typeface="Consolas" panose="020B0609020204030204" pitchFamily="34" charset="0"/>
              </a:rPr>
              <a:t>Pilihan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11430000" y="4862732"/>
            <a:ext cx="594360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704320" y="4846320"/>
            <a:ext cx="2743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 smtClean="0">
                <a:solidFill>
                  <a:srgbClr val="FDE68A"/>
                </a:solidFill>
                <a:latin typeface="Consolas" panose="020B0609020204030204" pitchFamily="34" charset="0"/>
              </a:rPr>
              <a:t>Switch Case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538960" y="484632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Tipe</a:t>
            </a:r>
            <a:r>
              <a:rPr lang="en-US" sz="2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200" dirty="0" err="1" smtClean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percabangan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1430000" y="6362700"/>
            <a:ext cx="594360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704320" y="6309360"/>
            <a:ext cx="31546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 err="1" smtClean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pilihan</a:t>
            </a:r>
            <a:r>
              <a:rPr lang="en-US" sz="2400" b="1" dirty="0" smtClean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538960" y="630936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dirty="0" smtClean="0">
                <a:solidFill>
                  <a:srgbClr val="94A3B8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 </a:t>
            </a:r>
            <a:r>
              <a:rPr lang="en-US" sz="2200" dirty="0" err="1" smtClean="0">
                <a:solidFill>
                  <a:srgbClr val="94A3B8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Variabel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704320" y="7772400"/>
            <a:ext cx="2743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538960" y="777240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3103</Words>
  <Application>WPS Presentation</Application>
  <PresentationFormat>Custom</PresentationFormat>
  <Paragraphs>223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Staatliches</vt:lpstr>
      <vt:lpstr>Open Sans</vt:lpstr>
      <vt:lpstr>Open Sans Bold</vt:lpstr>
      <vt:lpstr>Arial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Percabangan &amp;</dc:title>
  <dc:creator/>
  <cp:lastModifiedBy>Fadhly Alfallah</cp:lastModifiedBy>
  <cp:revision>24</cp:revision>
  <dcterms:created xsi:type="dcterms:W3CDTF">2006-08-16T00:00:00Z</dcterms:created>
  <dcterms:modified xsi:type="dcterms:W3CDTF">2026-04-06T09:17:05Z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CC488E4E498146569A0B308003FA9CDA_12</vt:lpwstr>
  </property>
</Properties>
</file>