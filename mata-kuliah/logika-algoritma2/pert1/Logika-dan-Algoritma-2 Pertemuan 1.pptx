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67" r:id="rId3"/>
    <p:sldId id="257" r:id="rId4"/>
    <p:sldId id="258" r:id="rId5"/>
    <p:sldId id="259" r:id="rId6"/>
    <p:sldId id="269" r:id="rId7"/>
    <p:sldId id="271" r:id="rId8"/>
    <p:sldId id="260" r:id="rId9"/>
    <p:sldId id="261" r:id="rId10"/>
    <p:sldId id="262" r:id="rId11"/>
    <p:sldId id="263" r:id="rId12"/>
    <p:sldId id="264" r:id="rId13"/>
    <p:sldId id="265" r:id="rId14"/>
  </p:sldIdLst>
  <p:sldSz cx="14630400" cy="8229600"/>
  <p:notesSz cx="8229600" cy="14630400"/>
  <p:embeddedFontLst>
    <p:embeddedFont>
      <p:font typeface="Calibri" panose="020F0502020204030204" pitchFamily="34" charset="0"/>
      <p:regular r:id="rId16"/>
      <p:bold r:id="rId17"/>
      <p:italic r:id="rId18"/>
      <p:boldItalic r:id="rId19"/>
    </p:embeddedFont>
    <p:embeddedFont>
      <p:font typeface="Alexandria Semi Bold" panose="020B0604020202020204" charset="-78"/>
      <p:regular r:id="rId20"/>
    </p:embeddedFont>
    <p:embeddedFont>
      <p:font typeface="Calibri Light" panose="020F0302020204030204" pitchFamily="34" charset="0"/>
      <p:regular r:id="rId21"/>
      <p:italic r:id="rId22"/>
    </p:embeddedFont>
    <p:embeddedFont>
      <p:font typeface="Sora Light" panose="020B0604020202020204" charset="0"/>
      <p:regular r:id="rId23"/>
    </p:embeddedFont>
    <p:embeddedFont>
      <p:font typeface="Consolas" panose="020B0609020204030204" pitchFamily="49" charset="0"/>
      <p:regular r:id="rId24"/>
      <p:bold r:id="rId25"/>
      <p:italic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5" d="100"/>
          <a:sy n="55"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4124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935786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3776140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191479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7EEF9"/>
          </a:solidFill>
          <a:ln/>
        </p:spPr>
      </p:sp>
      <p:sp>
        <p:nvSpPr>
          <p:cNvPr id="3" name="Shape 1"/>
          <p:cNvSpPr/>
          <p:nvPr/>
        </p:nvSpPr>
        <p:spPr>
          <a:xfrm>
            <a:off x="0" y="0"/>
            <a:ext cx="14630400" cy="8229600"/>
          </a:xfrm>
          <a:prstGeom prst="rect">
            <a:avLst/>
          </a:prstGeom>
          <a:solidFill>
            <a:srgbClr val="FFFA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44709" y="2972514"/>
            <a:ext cx="5891689" cy="623530"/>
          </a:xfrm>
          <a:prstGeom prst="rect">
            <a:avLst/>
          </a:prstGeom>
          <a:noFill/>
          <a:ln/>
        </p:spPr>
        <p:txBody>
          <a:bodyPr wrap="none" lIns="0" tIns="0" rIns="0" bIns="0" rtlCol="0" anchor="t"/>
          <a:lstStyle/>
          <a:p>
            <a:pPr marL="0" indent="0" algn="l">
              <a:lnSpc>
                <a:spcPts val="4900"/>
              </a:lnSpc>
              <a:buNone/>
            </a:pPr>
            <a:r>
              <a:rPr lang="en-US" sz="3900" b="1" dirty="0">
                <a:solidFill>
                  <a:srgbClr val="1F1E1E"/>
                </a:solidFill>
                <a:latin typeface="Alexandria Semi Bold" pitchFamily="34" charset="0"/>
                <a:ea typeface="Alexandria Semi Bold" pitchFamily="34" charset="-122"/>
                <a:cs typeface="Alexandria Semi Bold" pitchFamily="34" charset="-120"/>
              </a:rPr>
              <a:t>Logika dan Algoritma 2</a:t>
            </a:r>
            <a:endParaRPr lang="en-US" sz="3900" b="1" dirty="0"/>
          </a:p>
        </p:txBody>
      </p:sp>
      <p:sp>
        <p:nvSpPr>
          <p:cNvPr id="4" name="Text 1"/>
          <p:cNvSpPr/>
          <p:nvPr/>
        </p:nvSpPr>
        <p:spPr>
          <a:xfrm>
            <a:off x="6244709" y="3671768"/>
            <a:ext cx="7627382" cy="997744"/>
          </a:xfrm>
          <a:prstGeom prst="rect">
            <a:avLst/>
          </a:prstGeom>
          <a:noFill/>
          <a:ln/>
        </p:spPr>
        <p:txBody>
          <a:bodyPr wrap="square" lIns="0" tIns="0" rIns="0" bIns="0" rtlCol="0" anchor="t"/>
          <a:lstStyle/>
          <a:p>
            <a:pPr marL="0" indent="0" algn="l">
              <a:lnSpc>
                <a:spcPts val="3900"/>
              </a:lnSpc>
              <a:buNone/>
            </a:pPr>
            <a:r>
              <a:rPr lang="en-US" sz="3100" dirty="0" smtClean="0">
                <a:solidFill>
                  <a:srgbClr val="1F1E1E"/>
                </a:solidFill>
                <a:latin typeface="Alexandria Semi Bold" pitchFamily="34" charset="0"/>
                <a:ea typeface="Alexandria Semi Bold" pitchFamily="34" charset="-122"/>
                <a:cs typeface="Alexandria Semi Bold" pitchFamily="34" charset="-120"/>
              </a:rPr>
              <a:t>Reset </a:t>
            </a:r>
            <a:r>
              <a:rPr lang="en-US" sz="3100" dirty="0">
                <a:solidFill>
                  <a:srgbClr val="1F1E1E"/>
                </a:solidFill>
                <a:latin typeface="Alexandria Semi Bold" pitchFamily="34" charset="0"/>
                <a:ea typeface="Alexandria Semi Bold" pitchFamily="34" charset="-122"/>
                <a:cs typeface="Alexandria Semi Bold" pitchFamily="34" charset="-120"/>
              </a:rPr>
              <a:t>Cara Berpikir Algoritmik</a:t>
            </a:r>
            <a:endParaRPr lang="en-US" sz="3100" dirty="0"/>
          </a:p>
        </p:txBody>
      </p:sp>
      <p:sp>
        <p:nvSpPr>
          <p:cNvPr id="5" name="Text 2"/>
          <p:cNvSpPr/>
          <p:nvPr/>
        </p:nvSpPr>
        <p:spPr>
          <a:xfrm>
            <a:off x="6244709" y="4953833"/>
            <a:ext cx="7627382" cy="303252"/>
          </a:xfrm>
          <a:prstGeom prst="rect">
            <a:avLst/>
          </a:prstGeom>
          <a:noFill/>
          <a:ln/>
        </p:spPr>
        <p:txBody>
          <a:bodyPr wrap="none" lIns="0" tIns="0" rIns="0" bIns="0" rtlCol="0" anchor="t"/>
          <a:lstStyle/>
          <a:p>
            <a:pPr marL="0" indent="0" algn="l">
              <a:lnSpc>
                <a:spcPts val="2350"/>
              </a:lnSpc>
              <a:buNone/>
            </a:pPr>
            <a:r>
              <a:rPr lang="en-US" dirty="0">
                <a:solidFill>
                  <a:srgbClr val="3B3535"/>
                </a:solidFill>
                <a:latin typeface="Sora Light" pitchFamily="34" charset="0"/>
                <a:ea typeface="Sora Light" pitchFamily="34" charset="-122"/>
                <a:cs typeface="Sora Light" pitchFamily="34" charset="-120"/>
              </a:rPr>
              <a:t>D3 Manajemen Informatika</a:t>
            </a:r>
            <a:endParaRPr lang="en-US" dirty="0"/>
          </a:p>
        </p:txBody>
      </p:sp>
      <p:sp>
        <p:nvSpPr>
          <p:cNvPr id="7" name="Rounded Rectangle 6"/>
          <p:cNvSpPr/>
          <p:nvPr/>
        </p:nvSpPr>
        <p:spPr>
          <a:xfrm>
            <a:off x="12731260" y="7702060"/>
            <a:ext cx="1828800" cy="47478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7236" y="542211"/>
            <a:ext cx="5838825" cy="491490"/>
          </a:xfrm>
          <a:prstGeom prst="rect">
            <a:avLst/>
          </a:prstGeom>
          <a:noFill/>
          <a:ln/>
        </p:spPr>
        <p:txBody>
          <a:bodyPr wrap="none" lIns="0" tIns="0" rIns="0" bIns="0" rtlCol="0" anchor="t"/>
          <a:lstStyle/>
          <a:p>
            <a:pPr marL="0" indent="0" algn="l">
              <a:lnSpc>
                <a:spcPts val="3850"/>
              </a:lnSpc>
              <a:buNone/>
            </a:pPr>
            <a:r>
              <a:rPr lang="en-US" sz="3050" b="1" dirty="0" err="1" smtClean="0">
                <a:solidFill>
                  <a:srgbClr val="1F1E1E"/>
                </a:solidFill>
                <a:latin typeface="+mj-lt"/>
                <a:ea typeface="Alexandria Semi Bold" pitchFamily="34" charset="-122"/>
                <a:cs typeface="Alexandria Semi Bold" pitchFamily="34" charset="-120"/>
              </a:rPr>
              <a:t>Apa</a:t>
            </a:r>
            <a:r>
              <a:rPr lang="en-US" sz="3050" b="1" dirty="0" smtClean="0">
                <a:solidFill>
                  <a:srgbClr val="1F1E1E"/>
                </a:solidFill>
                <a:latin typeface="+mj-lt"/>
                <a:ea typeface="Alexandria Semi Bold" pitchFamily="34" charset="-122"/>
                <a:cs typeface="Alexandria Semi Bold" pitchFamily="34" charset="-120"/>
              </a:rPr>
              <a:t> </a:t>
            </a:r>
            <a:r>
              <a:rPr lang="en-US" sz="3050" b="1" dirty="0" err="1" smtClean="0">
                <a:solidFill>
                  <a:srgbClr val="1F1E1E"/>
                </a:solidFill>
                <a:latin typeface="+mj-lt"/>
                <a:ea typeface="Alexandria Semi Bold" pitchFamily="34" charset="-122"/>
                <a:cs typeface="Alexandria Semi Bold" pitchFamily="34" charset="-120"/>
              </a:rPr>
              <a:t>itu</a:t>
            </a:r>
            <a:r>
              <a:rPr lang="en-US" sz="3050" b="1" dirty="0" smtClean="0">
                <a:solidFill>
                  <a:srgbClr val="1F1E1E"/>
                </a:solidFill>
                <a:latin typeface="+mj-lt"/>
                <a:ea typeface="Alexandria Semi Bold" pitchFamily="34" charset="-122"/>
                <a:cs typeface="Alexandria Semi Bold" pitchFamily="34" charset="-120"/>
              </a:rPr>
              <a:t> </a:t>
            </a:r>
            <a:r>
              <a:rPr lang="en-US" sz="3050" b="1" dirty="0" err="1" smtClean="0">
                <a:solidFill>
                  <a:srgbClr val="1F1E1E"/>
                </a:solidFill>
                <a:latin typeface="+mj-lt"/>
                <a:ea typeface="Alexandria Semi Bold" pitchFamily="34" charset="-122"/>
                <a:cs typeface="Alexandria Semi Bold" pitchFamily="34" charset="-120"/>
              </a:rPr>
              <a:t>Logika</a:t>
            </a:r>
            <a:r>
              <a:rPr lang="en-US" sz="3050" b="1" dirty="0" smtClean="0">
                <a:solidFill>
                  <a:srgbClr val="1F1E1E"/>
                </a:solidFill>
                <a:latin typeface="+mj-lt"/>
                <a:ea typeface="Alexandria Semi Bold" pitchFamily="34" charset="-122"/>
                <a:cs typeface="Alexandria Semi Bold" pitchFamily="34" charset="-120"/>
              </a:rPr>
              <a:t> </a:t>
            </a:r>
            <a:r>
              <a:rPr lang="en-US" sz="3050" b="1" dirty="0" err="1" smtClean="0">
                <a:solidFill>
                  <a:srgbClr val="1F1E1E"/>
                </a:solidFill>
                <a:latin typeface="+mj-lt"/>
                <a:ea typeface="Alexandria Semi Bold" pitchFamily="34" charset="-122"/>
                <a:cs typeface="Alexandria Semi Bold" pitchFamily="34" charset="-120"/>
              </a:rPr>
              <a:t>dan</a:t>
            </a:r>
            <a:r>
              <a:rPr lang="en-US" sz="3050" b="1" dirty="0" smtClean="0">
                <a:solidFill>
                  <a:srgbClr val="1F1E1E"/>
                </a:solidFill>
                <a:latin typeface="+mj-lt"/>
                <a:ea typeface="Alexandria Semi Bold" pitchFamily="34" charset="-122"/>
                <a:cs typeface="Alexandria Semi Bold" pitchFamily="34" charset="-120"/>
              </a:rPr>
              <a:t> </a:t>
            </a:r>
            <a:r>
              <a:rPr lang="en-US" sz="3050" b="1" dirty="0" err="1" smtClean="0">
                <a:solidFill>
                  <a:srgbClr val="1F1E1E"/>
                </a:solidFill>
                <a:latin typeface="+mj-lt"/>
                <a:ea typeface="Alexandria Semi Bold" pitchFamily="34" charset="-122"/>
                <a:cs typeface="Alexandria Semi Bold" pitchFamily="34" charset="-120"/>
              </a:rPr>
              <a:t>Algoritma</a:t>
            </a:r>
            <a:r>
              <a:rPr lang="en-US" sz="3050" b="1" dirty="0" smtClean="0">
                <a:solidFill>
                  <a:srgbClr val="1F1E1E"/>
                </a:solidFill>
                <a:latin typeface="+mj-lt"/>
                <a:ea typeface="Alexandria Semi Bold" pitchFamily="34" charset="-122"/>
                <a:cs typeface="Alexandria Semi Bold" pitchFamily="34" charset="-120"/>
              </a:rPr>
              <a:t>?</a:t>
            </a:r>
            <a:endParaRPr lang="en-US" sz="3050" b="1" dirty="0">
              <a:latin typeface="+mj-lt"/>
            </a:endParaRPr>
          </a:p>
        </p:txBody>
      </p:sp>
      <p:sp>
        <p:nvSpPr>
          <p:cNvPr id="3" name="Shape 1"/>
          <p:cNvSpPr/>
          <p:nvPr/>
        </p:nvSpPr>
        <p:spPr>
          <a:xfrm>
            <a:off x="747236" y="1516856"/>
            <a:ext cx="420291" cy="420291"/>
          </a:xfrm>
          <a:prstGeom prst="roundRect">
            <a:avLst>
              <a:gd name="adj" fmla="val 18668"/>
            </a:avLst>
          </a:prstGeom>
          <a:solidFill>
            <a:srgbClr val="D5DCF6"/>
          </a:solidFill>
          <a:ln w="7620">
            <a:solidFill>
              <a:srgbClr val="BBC2DC"/>
            </a:solidFill>
            <a:prstDash val="solid"/>
          </a:ln>
        </p:spPr>
      </p:sp>
      <p:sp>
        <p:nvSpPr>
          <p:cNvPr id="4" name="Text 2"/>
          <p:cNvSpPr/>
          <p:nvPr/>
        </p:nvSpPr>
        <p:spPr>
          <a:xfrm>
            <a:off x="1351598" y="1581031"/>
            <a:ext cx="3892629" cy="307300"/>
          </a:xfrm>
          <a:prstGeom prst="rect">
            <a:avLst/>
          </a:prstGeom>
          <a:noFill/>
          <a:ln/>
        </p:spPr>
        <p:txBody>
          <a:bodyPr wrap="none" lIns="0" tIns="0" rIns="0" bIns="0" rtlCol="0" anchor="t"/>
          <a:lstStyle/>
          <a:p>
            <a:pPr marL="0" indent="0" algn="l">
              <a:lnSpc>
                <a:spcPts val="2400"/>
              </a:lnSpc>
              <a:buNone/>
            </a:pPr>
            <a:r>
              <a:rPr lang="en-US" sz="2400" b="1" dirty="0" err="1" smtClean="0">
                <a:solidFill>
                  <a:srgbClr val="3B3535"/>
                </a:solidFill>
                <a:cs typeface="Alexandria Semi Bold" pitchFamily="34" charset="-120"/>
              </a:rPr>
              <a:t>Logika</a:t>
            </a:r>
            <a:r>
              <a:rPr lang="en-US" sz="2400" dirty="0" smtClean="0">
                <a:solidFill>
                  <a:srgbClr val="3B3535"/>
                </a:solidFill>
                <a:latin typeface="Alexandria Semi Bold" pitchFamily="34" charset="0"/>
                <a:cs typeface="Alexandria Semi Bold" pitchFamily="34" charset="-120"/>
              </a:rPr>
              <a:t> </a:t>
            </a:r>
            <a:endParaRPr lang="en-US" sz="2400" dirty="0"/>
          </a:p>
        </p:txBody>
      </p:sp>
      <p:sp>
        <p:nvSpPr>
          <p:cNvPr id="5" name="Text 3"/>
          <p:cNvSpPr/>
          <p:nvPr/>
        </p:nvSpPr>
        <p:spPr>
          <a:xfrm>
            <a:off x="1351598" y="2072402"/>
            <a:ext cx="6415207" cy="1186815"/>
          </a:xfrm>
          <a:prstGeom prst="rect">
            <a:avLst/>
          </a:prstGeom>
          <a:noFill/>
          <a:ln/>
        </p:spPr>
        <p:txBody>
          <a:bodyPr wrap="square" lIns="0" tIns="0" rIns="0" bIns="0" rtlCol="0" anchor="t"/>
          <a:lstStyle/>
          <a:p>
            <a:pPr>
              <a:lnSpc>
                <a:spcPts val="2300"/>
              </a:lnSpc>
            </a:pPr>
            <a:r>
              <a:rPr lang="en-US" sz="2000" dirty="0" err="1"/>
              <a:t>Kemampuan</a:t>
            </a:r>
            <a:r>
              <a:rPr lang="en-US" sz="2000" dirty="0"/>
              <a:t> </a:t>
            </a:r>
            <a:r>
              <a:rPr lang="en-US" sz="2000" dirty="0" err="1"/>
              <a:t>manusia</a:t>
            </a:r>
            <a:r>
              <a:rPr lang="en-US" sz="2000" dirty="0"/>
              <a:t> </a:t>
            </a:r>
            <a:r>
              <a:rPr lang="en-US" sz="2000" dirty="0" err="1"/>
              <a:t>untuk</a:t>
            </a:r>
            <a:r>
              <a:rPr lang="en-US" sz="2000" dirty="0"/>
              <a:t> </a:t>
            </a:r>
            <a:r>
              <a:rPr lang="en-US" sz="2000" dirty="0" err="1"/>
              <a:t>berfikir</a:t>
            </a:r>
            <a:r>
              <a:rPr lang="en-US" sz="2000" dirty="0"/>
              <a:t> </a:t>
            </a:r>
            <a:r>
              <a:rPr lang="en-US" sz="2000" dirty="0" err="1"/>
              <a:t>secara</a:t>
            </a:r>
            <a:r>
              <a:rPr lang="en-US" sz="2000" dirty="0"/>
              <a:t> </a:t>
            </a:r>
            <a:r>
              <a:rPr lang="en-US" sz="2000" dirty="0" err="1"/>
              <a:t>sistematis</a:t>
            </a:r>
            <a:r>
              <a:rPr lang="en-US" sz="2000" dirty="0"/>
              <a:t> </a:t>
            </a:r>
            <a:r>
              <a:rPr lang="en-US" sz="2000" dirty="0" err="1"/>
              <a:t>untuk</a:t>
            </a:r>
            <a:r>
              <a:rPr lang="en-US" sz="2000" dirty="0"/>
              <a:t> </a:t>
            </a:r>
            <a:r>
              <a:rPr lang="en-US" sz="2000" dirty="0" err="1"/>
              <a:t>dapat</a:t>
            </a:r>
            <a:r>
              <a:rPr lang="en-US" sz="2000" dirty="0"/>
              <a:t> </a:t>
            </a:r>
            <a:r>
              <a:rPr lang="en-US" sz="2000" dirty="0" err="1"/>
              <a:t>menarik</a:t>
            </a:r>
            <a:r>
              <a:rPr lang="en-US" sz="2000" dirty="0"/>
              <a:t> </a:t>
            </a:r>
            <a:r>
              <a:rPr lang="en-US" sz="2000" dirty="0" err="1"/>
              <a:t>kesimpulan</a:t>
            </a:r>
            <a:r>
              <a:rPr lang="en-US" sz="2000" dirty="0"/>
              <a:t> yang </a:t>
            </a:r>
            <a:r>
              <a:rPr lang="en-US" sz="2000" dirty="0" err="1"/>
              <a:t>sahih</a:t>
            </a:r>
            <a:r>
              <a:rPr lang="en-US" sz="2000" dirty="0"/>
              <a:t> (valid) </a:t>
            </a:r>
            <a:r>
              <a:rPr lang="en-US" sz="2000" dirty="0" err="1"/>
              <a:t>dari</a:t>
            </a:r>
            <a:r>
              <a:rPr lang="en-US" sz="2000" dirty="0"/>
              <a:t> </a:t>
            </a:r>
            <a:r>
              <a:rPr lang="en-US" sz="2000" dirty="0" err="1"/>
              <a:t>sejumlah</a:t>
            </a:r>
            <a:r>
              <a:rPr lang="en-US" sz="2000" dirty="0"/>
              <a:t> </a:t>
            </a:r>
            <a:r>
              <a:rPr lang="en-US" sz="2000" dirty="0" err="1"/>
              <a:t>premis</a:t>
            </a:r>
            <a:r>
              <a:rPr lang="en-US" sz="2000" dirty="0"/>
              <a:t> </a:t>
            </a:r>
            <a:r>
              <a:rPr lang="en-US" sz="2000" dirty="0" err="1"/>
              <a:t>atau</a:t>
            </a:r>
            <a:r>
              <a:rPr lang="en-US" sz="2000" dirty="0"/>
              <a:t> </a:t>
            </a:r>
            <a:r>
              <a:rPr lang="en-US" sz="2000" dirty="0" err="1"/>
              <a:t>pernyataan</a:t>
            </a:r>
            <a:r>
              <a:rPr lang="en-US" sz="2000" dirty="0"/>
              <a:t>. </a:t>
            </a:r>
            <a:r>
              <a:rPr lang="en-US" sz="2000" dirty="0" err="1"/>
              <a:t>Logika</a:t>
            </a:r>
            <a:r>
              <a:rPr lang="en-US" sz="2000" dirty="0"/>
              <a:t> </a:t>
            </a:r>
            <a:r>
              <a:rPr lang="en-US" sz="2000" dirty="0" err="1"/>
              <a:t>digunakan</a:t>
            </a:r>
            <a:r>
              <a:rPr lang="en-US" sz="2000" dirty="0"/>
              <a:t> </a:t>
            </a:r>
            <a:r>
              <a:rPr lang="en-US" sz="2000" dirty="0" err="1"/>
              <a:t>untuk</a:t>
            </a:r>
            <a:r>
              <a:rPr lang="en-US" sz="2000" dirty="0"/>
              <a:t> </a:t>
            </a:r>
            <a:r>
              <a:rPr lang="en-US" sz="2000" dirty="0" err="1"/>
              <a:t>membedakan</a:t>
            </a:r>
            <a:r>
              <a:rPr lang="en-US" sz="2000" dirty="0"/>
              <a:t> </a:t>
            </a:r>
            <a:r>
              <a:rPr lang="en-US" sz="2000" dirty="0" err="1"/>
              <a:t>penalaran</a:t>
            </a:r>
            <a:r>
              <a:rPr lang="en-US" sz="2000" dirty="0"/>
              <a:t> yang </a:t>
            </a:r>
            <a:r>
              <a:rPr lang="en-US" sz="2000" dirty="0" err="1"/>
              <a:t>benar</a:t>
            </a:r>
            <a:r>
              <a:rPr lang="en-US" sz="2000" dirty="0"/>
              <a:t> </a:t>
            </a:r>
            <a:r>
              <a:rPr lang="en-US" sz="2000" dirty="0" err="1"/>
              <a:t>dan</a:t>
            </a:r>
            <a:r>
              <a:rPr lang="en-US" sz="2000" dirty="0"/>
              <a:t> </a:t>
            </a:r>
            <a:r>
              <a:rPr lang="en-US" sz="2000" dirty="0" err="1"/>
              <a:t>keliru</a:t>
            </a:r>
            <a:endParaRPr lang="en-US" sz="2000" dirty="0"/>
          </a:p>
        </p:txBody>
      </p:sp>
      <p:sp>
        <p:nvSpPr>
          <p:cNvPr id="6" name="Shape 4"/>
          <p:cNvSpPr/>
          <p:nvPr/>
        </p:nvSpPr>
        <p:spPr>
          <a:xfrm>
            <a:off x="747236" y="3627358"/>
            <a:ext cx="420291" cy="420291"/>
          </a:xfrm>
          <a:prstGeom prst="roundRect">
            <a:avLst>
              <a:gd name="adj" fmla="val 18668"/>
            </a:avLst>
          </a:prstGeom>
          <a:solidFill>
            <a:srgbClr val="D5DCF6"/>
          </a:solidFill>
          <a:ln w="7620">
            <a:solidFill>
              <a:srgbClr val="BBC2DC"/>
            </a:solidFill>
            <a:prstDash val="solid"/>
          </a:ln>
        </p:spPr>
      </p:sp>
      <p:sp>
        <p:nvSpPr>
          <p:cNvPr id="7" name="Text 5"/>
          <p:cNvSpPr/>
          <p:nvPr/>
        </p:nvSpPr>
        <p:spPr>
          <a:xfrm>
            <a:off x="1351598" y="3691533"/>
            <a:ext cx="4131469" cy="307300"/>
          </a:xfrm>
          <a:prstGeom prst="rect">
            <a:avLst/>
          </a:prstGeom>
          <a:noFill/>
          <a:ln/>
        </p:spPr>
        <p:txBody>
          <a:bodyPr wrap="none" lIns="0" tIns="0" rIns="0" bIns="0" rtlCol="0" anchor="t"/>
          <a:lstStyle/>
          <a:p>
            <a:pPr marL="0" indent="0" algn="l">
              <a:lnSpc>
                <a:spcPts val="2400"/>
              </a:lnSpc>
              <a:buNone/>
            </a:pPr>
            <a:r>
              <a:rPr lang="en-US" sz="2400" b="1" dirty="0" err="1" smtClean="0"/>
              <a:t>Algoritma</a:t>
            </a:r>
            <a:endParaRPr lang="en-US" sz="2400" b="1" dirty="0"/>
          </a:p>
        </p:txBody>
      </p:sp>
      <p:sp>
        <p:nvSpPr>
          <p:cNvPr id="8" name="Text 6"/>
          <p:cNvSpPr/>
          <p:nvPr/>
        </p:nvSpPr>
        <p:spPr>
          <a:xfrm>
            <a:off x="1351598" y="4182904"/>
            <a:ext cx="6415207" cy="1186815"/>
          </a:xfrm>
          <a:prstGeom prst="rect">
            <a:avLst/>
          </a:prstGeom>
          <a:noFill/>
          <a:ln/>
        </p:spPr>
        <p:txBody>
          <a:bodyPr wrap="square" lIns="0" tIns="0" rIns="0" bIns="0" rtlCol="0" anchor="t"/>
          <a:lstStyle/>
          <a:p>
            <a:pPr>
              <a:lnSpc>
                <a:spcPts val="2300"/>
              </a:lnSpc>
            </a:pPr>
            <a:r>
              <a:rPr lang="en-US" sz="2000" dirty="0" err="1"/>
              <a:t>Teknik</a:t>
            </a:r>
            <a:r>
              <a:rPr lang="en-US" sz="2000" dirty="0"/>
              <a:t> </a:t>
            </a:r>
            <a:r>
              <a:rPr lang="en-US" sz="2000" dirty="0" err="1"/>
              <a:t>penyusunan</a:t>
            </a:r>
            <a:r>
              <a:rPr lang="en-US" sz="2000" dirty="0"/>
              <a:t> </a:t>
            </a:r>
            <a:r>
              <a:rPr lang="en-US" sz="2000" dirty="0" err="1"/>
              <a:t>langkah-langkah</a:t>
            </a:r>
            <a:r>
              <a:rPr lang="en-US" sz="2000" dirty="0"/>
              <a:t> </a:t>
            </a:r>
            <a:r>
              <a:rPr lang="en-US" sz="2000" dirty="0" err="1" smtClean="0"/>
              <a:t>dalam</a:t>
            </a:r>
            <a:r>
              <a:rPr lang="en-US" sz="2000" dirty="0" smtClean="0"/>
              <a:t> </a:t>
            </a:r>
            <a:r>
              <a:rPr lang="en-US" sz="2000" dirty="0" err="1"/>
              <a:t>bentuk</a:t>
            </a:r>
            <a:r>
              <a:rPr lang="en-US" sz="2000" dirty="0"/>
              <a:t> </a:t>
            </a:r>
            <a:r>
              <a:rPr lang="en-US" sz="2000" dirty="0" err="1"/>
              <a:t>kalimat</a:t>
            </a:r>
            <a:r>
              <a:rPr lang="en-US" sz="2000" dirty="0"/>
              <a:t> </a:t>
            </a:r>
            <a:r>
              <a:rPr lang="en-US" sz="2000" dirty="0" err="1"/>
              <a:t>dengan</a:t>
            </a:r>
            <a:r>
              <a:rPr lang="en-US" sz="2000" dirty="0"/>
              <a:t> </a:t>
            </a:r>
            <a:r>
              <a:rPr lang="en-US" sz="2000" dirty="0" err="1"/>
              <a:t>jumlah</a:t>
            </a:r>
            <a:r>
              <a:rPr lang="en-US" sz="2000" dirty="0"/>
              <a:t> kata yang </a:t>
            </a:r>
            <a:r>
              <a:rPr lang="en-US" sz="2000" dirty="0" err="1"/>
              <a:t>terbatas</a:t>
            </a:r>
            <a:r>
              <a:rPr lang="en-US" sz="2000" dirty="0"/>
              <a:t> </a:t>
            </a:r>
            <a:r>
              <a:rPr lang="en-US" sz="2000" dirty="0" err="1"/>
              <a:t>tetapi</a:t>
            </a:r>
            <a:r>
              <a:rPr lang="en-US" sz="2000" dirty="0"/>
              <a:t> </a:t>
            </a:r>
            <a:r>
              <a:rPr lang="en-US" sz="2000" dirty="0" err="1"/>
              <a:t>tersusun</a:t>
            </a:r>
            <a:r>
              <a:rPr lang="en-US" sz="2000" dirty="0"/>
              <a:t> </a:t>
            </a:r>
            <a:r>
              <a:rPr lang="en-US" sz="2000" dirty="0" err="1"/>
              <a:t>secara</a:t>
            </a:r>
            <a:r>
              <a:rPr lang="en-US" sz="2000" dirty="0"/>
              <a:t> </a:t>
            </a:r>
            <a:r>
              <a:rPr lang="en-US" sz="2000" dirty="0" err="1"/>
              <a:t>logis</a:t>
            </a:r>
            <a:r>
              <a:rPr lang="en-US" sz="2000" dirty="0"/>
              <a:t> </a:t>
            </a:r>
            <a:r>
              <a:rPr lang="en-US" sz="2000" dirty="0" err="1"/>
              <a:t>dan</a:t>
            </a:r>
            <a:r>
              <a:rPr lang="en-US" sz="2000" dirty="0"/>
              <a:t> </a:t>
            </a:r>
            <a:r>
              <a:rPr lang="en-US" sz="2000" dirty="0" err="1"/>
              <a:t>sistematis</a:t>
            </a:r>
            <a:endParaRPr lang="en-US" sz="2000" dirty="0"/>
          </a:p>
          <a:p>
            <a:pPr marL="0" indent="0" algn="l">
              <a:lnSpc>
                <a:spcPts val="2300"/>
              </a:lnSpc>
              <a:buNone/>
            </a:pPr>
            <a:r>
              <a:rPr lang="en-US" sz="2000" dirty="0" err="1" smtClean="0"/>
              <a:t>Untuk</a:t>
            </a:r>
            <a:r>
              <a:rPr lang="en-US" sz="2000" dirty="0" smtClean="0"/>
              <a:t> </a:t>
            </a:r>
            <a:r>
              <a:rPr lang="en-US" sz="2000" dirty="0" err="1" smtClean="0"/>
              <a:t>menyelesaikan</a:t>
            </a:r>
            <a:r>
              <a:rPr lang="en-US" sz="2000" dirty="0" smtClean="0"/>
              <a:t> </a:t>
            </a:r>
            <a:r>
              <a:rPr lang="en-US" sz="2000" dirty="0" err="1" smtClean="0"/>
              <a:t>masaslah</a:t>
            </a:r>
            <a:r>
              <a:rPr lang="en-US" sz="2000" dirty="0" smtClean="0"/>
              <a:t> </a:t>
            </a:r>
            <a:r>
              <a:rPr lang="en-US" sz="2000" dirty="0" err="1" smtClean="0"/>
              <a:t>atau</a:t>
            </a:r>
            <a:r>
              <a:rPr lang="en-US" sz="2000" dirty="0" smtClean="0"/>
              <a:t> </a:t>
            </a:r>
            <a:r>
              <a:rPr lang="en-US" sz="2000" dirty="0" err="1" smtClean="0"/>
              <a:t>mencapai</a:t>
            </a:r>
            <a:r>
              <a:rPr lang="en-US" sz="2000" dirty="0" smtClean="0"/>
              <a:t> </a:t>
            </a:r>
            <a:r>
              <a:rPr lang="en-US" sz="2000" dirty="0" err="1" smtClean="0"/>
              <a:t>tujuan</a:t>
            </a:r>
            <a:r>
              <a:rPr lang="en-US" sz="2000" dirty="0" smtClean="0"/>
              <a:t> </a:t>
            </a:r>
            <a:r>
              <a:rPr lang="en-US" sz="2000" dirty="0" err="1" smtClean="0"/>
              <a:t>tertentu</a:t>
            </a:r>
            <a:endParaRPr lang="en-US" sz="2000" dirty="0"/>
          </a:p>
        </p:txBody>
      </p:sp>
      <p:sp>
        <p:nvSpPr>
          <p:cNvPr id="10" name="Text 8"/>
          <p:cNvSpPr/>
          <p:nvPr/>
        </p:nvSpPr>
        <p:spPr>
          <a:xfrm>
            <a:off x="1351598" y="5802035"/>
            <a:ext cx="4691063" cy="307300"/>
          </a:xfrm>
          <a:prstGeom prst="rect">
            <a:avLst/>
          </a:prstGeom>
          <a:noFill/>
          <a:ln/>
        </p:spPr>
        <p:txBody>
          <a:bodyPr wrap="none" lIns="0" tIns="0" rIns="0" bIns="0" rtlCol="0" anchor="t"/>
          <a:lstStyle/>
          <a:p>
            <a:pPr marL="0" indent="0" algn="l">
              <a:lnSpc>
                <a:spcPts val="2400"/>
              </a:lnSpc>
              <a:buNone/>
            </a:pPr>
            <a:endParaRPr lang="en-US" sz="1900" dirty="0"/>
          </a:p>
        </p:txBody>
      </p:sp>
      <p:sp>
        <p:nvSpPr>
          <p:cNvPr id="11" name="Text 9"/>
          <p:cNvSpPr/>
          <p:nvPr/>
        </p:nvSpPr>
        <p:spPr>
          <a:xfrm>
            <a:off x="1351598" y="6293406"/>
            <a:ext cx="6415207" cy="1186815"/>
          </a:xfrm>
          <a:prstGeom prst="rect">
            <a:avLst/>
          </a:prstGeom>
          <a:noFill/>
          <a:ln/>
        </p:spPr>
        <p:txBody>
          <a:bodyPr wrap="square" lIns="0" tIns="0" rIns="0" bIns="0" rtlCol="0" anchor="t"/>
          <a:lstStyle/>
          <a:p>
            <a:pPr marL="0" indent="0" algn="l">
              <a:lnSpc>
                <a:spcPts val="2300"/>
              </a:lnSpc>
              <a:buNone/>
            </a:pPr>
            <a:endParaRPr lang="en-US" sz="1450" dirty="0"/>
          </a:p>
        </p:txBody>
      </p:sp>
      <p:pic>
        <p:nvPicPr>
          <p:cNvPr id="12" name="Image 0" descr="preencoded.png"/>
          <p:cNvPicPr>
            <a:picLocks noChangeAspect="1"/>
          </p:cNvPicPr>
          <p:nvPr/>
        </p:nvPicPr>
        <p:blipFill>
          <a:blip r:embed="rId3"/>
          <a:stretch>
            <a:fillRect/>
          </a:stretch>
        </p:blipFill>
        <p:spPr>
          <a:xfrm>
            <a:off x="8230195" y="1516856"/>
            <a:ext cx="5660469" cy="5660469"/>
          </a:xfrm>
          <a:prstGeom prst="rect">
            <a:avLst/>
          </a:prstGeom>
        </p:spPr>
      </p:pic>
      <p:sp>
        <p:nvSpPr>
          <p:cNvPr id="13" name="Rounded Rectangle 12"/>
          <p:cNvSpPr/>
          <p:nvPr/>
        </p:nvSpPr>
        <p:spPr>
          <a:xfrm>
            <a:off x="12801600" y="7631722"/>
            <a:ext cx="1688123" cy="54512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58128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58309" y="2037636"/>
            <a:ext cx="5045154" cy="498872"/>
          </a:xfrm>
          <a:prstGeom prst="rect">
            <a:avLst/>
          </a:prstGeom>
          <a:noFill/>
          <a:ln/>
        </p:spPr>
        <p:txBody>
          <a:bodyPr wrap="none" lIns="0" tIns="0" rIns="0" bIns="0" rtlCol="0" anchor="t"/>
          <a:lstStyle/>
          <a:p>
            <a:pPr marL="0" indent="0" algn="l">
              <a:lnSpc>
                <a:spcPts val="3900"/>
              </a:lnSpc>
              <a:buNone/>
            </a:pPr>
            <a:r>
              <a:rPr lang="en-US" sz="3100" dirty="0" err="1" smtClean="0"/>
              <a:t>Logika</a:t>
            </a:r>
            <a:r>
              <a:rPr lang="en-US" sz="3100" dirty="0" smtClean="0"/>
              <a:t> </a:t>
            </a:r>
            <a:r>
              <a:rPr lang="en-US" sz="3100" dirty="0" err="1" smtClean="0"/>
              <a:t>dan</a:t>
            </a:r>
            <a:r>
              <a:rPr lang="en-US" sz="3100" dirty="0" smtClean="0"/>
              <a:t> </a:t>
            </a:r>
            <a:r>
              <a:rPr lang="en-US" sz="3100" dirty="0" err="1" smtClean="0"/>
              <a:t>Algoritma</a:t>
            </a:r>
            <a:r>
              <a:rPr lang="en-US" sz="3100" dirty="0" smtClean="0"/>
              <a:t> </a:t>
            </a:r>
            <a:r>
              <a:rPr lang="en-US" sz="3100" dirty="0" err="1" smtClean="0"/>
              <a:t>Dalam</a:t>
            </a:r>
            <a:r>
              <a:rPr lang="en-US" sz="3100" dirty="0" smtClean="0"/>
              <a:t> </a:t>
            </a:r>
            <a:r>
              <a:rPr lang="en-US" sz="3100" dirty="0" err="1" smtClean="0"/>
              <a:t>Pemrograman</a:t>
            </a:r>
            <a:endParaRPr lang="en-US" sz="3100" dirty="0"/>
          </a:p>
        </p:txBody>
      </p:sp>
      <p:sp>
        <p:nvSpPr>
          <p:cNvPr id="3" name="Shape 1"/>
          <p:cNvSpPr/>
          <p:nvPr/>
        </p:nvSpPr>
        <p:spPr>
          <a:xfrm>
            <a:off x="758309" y="2915603"/>
            <a:ext cx="4244816" cy="3276243"/>
          </a:xfrm>
          <a:prstGeom prst="roundRect">
            <a:avLst>
              <a:gd name="adj" fmla="val 3349"/>
            </a:avLst>
          </a:prstGeom>
          <a:solidFill>
            <a:srgbClr val="FFFAFA"/>
          </a:solidFill>
          <a:ln w="22860">
            <a:solidFill>
              <a:srgbClr val="BBC2DC"/>
            </a:solidFill>
            <a:prstDash val="solid"/>
          </a:ln>
        </p:spPr>
      </p:sp>
      <p:sp>
        <p:nvSpPr>
          <p:cNvPr id="4" name="Shape 2"/>
          <p:cNvSpPr/>
          <p:nvPr/>
        </p:nvSpPr>
        <p:spPr>
          <a:xfrm>
            <a:off x="735449" y="2915603"/>
            <a:ext cx="91440" cy="3276243"/>
          </a:xfrm>
          <a:prstGeom prst="roundRect">
            <a:avLst>
              <a:gd name="adj" fmla="val 87077"/>
            </a:avLst>
          </a:prstGeom>
          <a:solidFill>
            <a:srgbClr val="1A2D7A"/>
          </a:solidFill>
          <a:ln/>
        </p:spPr>
      </p:sp>
      <p:sp>
        <p:nvSpPr>
          <p:cNvPr id="5" name="Text 3"/>
          <p:cNvSpPr/>
          <p:nvPr/>
        </p:nvSpPr>
        <p:spPr>
          <a:xfrm>
            <a:off x="1039297" y="3128010"/>
            <a:ext cx="2494359" cy="311706"/>
          </a:xfrm>
          <a:prstGeom prst="rect">
            <a:avLst/>
          </a:prstGeom>
          <a:noFill/>
          <a:ln/>
        </p:spPr>
        <p:txBody>
          <a:bodyPr wrap="none" lIns="0" tIns="0" rIns="0" bIns="0" rtlCol="0" anchor="t"/>
          <a:lstStyle/>
          <a:p>
            <a:pPr marL="0" indent="0" algn="l">
              <a:lnSpc>
                <a:spcPts val="2450"/>
              </a:lnSpc>
              <a:buNone/>
            </a:pPr>
            <a:r>
              <a:rPr lang="en-US" sz="2400" b="1" dirty="0" err="1" smtClean="0">
                <a:solidFill>
                  <a:srgbClr val="3B3535"/>
                </a:solidFill>
                <a:latin typeface="Alexandria Semi Bold" pitchFamily="34" charset="0"/>
                <a:ea typeface="Alexandria Semi Bold" pitchFamily="34" charset="-122"/>
                <a:cs typeface="Alexandria Semi Bold" pitchFamily="34" charset="-120"/>
              </a:rPr>
              <a:t>Algoritma</a:t>
            </a:r>
            <a:r>
              <a:rPr lang="en-US" sz="2400" b="1" dirty="0" smtClean="0">
                <a:solidFill>
                  <a:srgbClr val="3B3535"/>
                </a:solidFill>
                <a:latin typeface="Alexandria Semi Bold" pitchFamily="34" charset="0"/>
                <a:ea typeface="Alexandria Semi Bold" pitchFamily="34" charset="-122"/>
                <a:cs typeface="Alexandria Semi Bold" pitchFamily="34" charset="-120"/>
              </a:rPr>
              <a:t> ≠ </a:t>
            </a:r>
            <a:r>
              <a:rPr lang="en-US" sz="2400" b="1" dirty="0" err="1" smtClean="0">
                <a:solidFill>
                  <a:srgbClr val="3B3535"/>
                </a:solidFill>
                <a:latin typeface="Alexandria Semi Bold" pitchFamily="34" charset="0"/>
                <a:ea typeface="Alexandria Semi Bold" pitchFamily="34" charset="-122"/>
                <a:cs typeface="Alexandria Semi Bold" pitchFamily="34" charset="-120"/>
              </a:rPr>
              <a:t>Kode</a:t>
            </a:r>
            <a:endParaRPr lang="en-US" sz="2400" b="1" dirty="0"/>
          </a:p>
        </p:txBody>
      </p:sp>
      <p:sp>
        <p:nvSpPr>
          <p:cNvPr id="6" name="Text 4"/>
          <p:cNvSpPr/>
          <p:nvPr/>
        </p:nvSpPr>
        <p:spPr>
          <a:xfrm>
            <a:off x="1039297" y="3553420"/>
            <a:ext cx="3751421" cy="2426018"/>
          </a:xfrm>
          <a:prstGeom prst="rect">
            <a:avLst/>
          </a:prstGeom>
          <a:noFill/>
          <a:ln/>
        </p:spPr>
        <p:txBody>
          <a:bodyPr wrap="square" lIns="0" tIns="0" rIns="0" bIns="0" rtlCol="0" anchor="t"/>
          <a:lstStyle/>
          <a:p>
            <a:pPr marL="0" indent="0">
              <a:lnSpc>
                <a:spcPts val="2350"/>
              </a:lnSpc>
              <a:buNone/>
            </a:pPr>
            <a:r>
              <a:rPr lang="en-US" sz="1600" b="1" dirty="0">
                <a:ea typeface="Sora Light" pitchFamily="34" charset="-122"/>
                <a:cs typeface="Sora Light" pitchFamily="34" charset="-120"/>
              </a:rPr>
              <a:t>Penting untuk memahami bahwa algoritma adalah konsep langkah-langkah penyelesaian masalah, sementara kode adalah implementasi algoritma tersebut dalam bahasa pemrograman. Keduanya berbeda, dan fokus kita akan pada perancangan algoritma yang efektif.</a:t>
            </a:r>
            <a:endParaRPr lang="en-US" sz="1600" b="1" dirty="0"/>
          </a:p>
        </p:txBody>
      </p:sp>
      <p:sp>
        <p:nvSpPr>
          <p:cNvPr id="7" name="Shape 5"/>
          <p:cNvSpPr/>
          <p:nvPr/>
        </p:nvSpPr>
        <p:spPr>
          <a:xfrm>
            <a:off x="5192673" y="2915603"/>
            <a:ext cx="4244935" cy="3276243"/>
          </a:xfrm>
          <a:prstGeom prst="roundRect">
            <a:avLst>
              <a:gd name="adj" fmla="val 3349"/>
            </a:avLst>
          </a:prstGeom>
          <a:solidFill>
            <a:srgbClr val="FFFAFA"/>
          </a:solidFill>
          <a:ln w="22860">
            <a:solidFill>
              <a:srgbClr val="BBC2DC"/>
            </a:solidFill>
            <a:prstDash val="solid"/>
          </a:ln>
        </p:spPr>
      </p:sp>
      <p:sp>
        <p:nvSpPr>
          <p:cNvPr id="8" name="Shape 6"/>
          <p:cNvSpPr/>
          <p:nvPr/>
        </p:nvSpPr>
        <p:spPr>
          <a:xfrm>
            <a:off x="5169813" y="2915603"/>
            <a:ext cx="91440" cy="3276243"/>
          </a:xfrm>
          <a:prstGeom prst="roundRect">
            <a:avLst>
              <a:gd name="adj" fmla="val 87077"/>
            </a:avLst>
          </a:prstGeom>
          <a:solidFill>
            <a:srgbClr val="1A2D7A"/>
          </a:solidFill>
          <a:ln/>
        </p:spPr>
      </p:sp>
      <p:sp>
        <p:nvSpPr>
          <p:cNvPr id="9" name="Text 7"/>
          <p:cNvSpPr/>
          <p:nvPr/>
        </p:nvSpPr>
        <p:spPr>
          <a:xfrm>
            <a:off x="5473660" y="3128010"/>
            <a:ext cx="3303746" cy="311706"/>
          </a:xfrm>
          <a:prstGeom prst="rect">
            <a:avLst/>
          </a:prstGeom>
          <a:noFill/>
          <a:ln/>
        </p:spPr>
        <p:txBody>
          <a:bodyPr wrap="none" lIns="0" tIns="0" rIns="0" bIns="0" rtlCol="0" anchor="t"/>
          <a:lstStyle/>
          <a:p>
            <a:pPr marL="0" indent="0" algn="l">
              <a:lnSpc>
                <a:spcPts val="2450"/>
              </a:lnSpc>
              <a:buNone/>
            </a:pPr>
            <a:r>
              <a:rPr lang="en-US" sz="1950" b="1" dirty="0">
                <a:solidFill>
                  <a:srgbClr val="3B3535"/>
                </a:solidFill>
                <a:latin typeface="Alexandria Semi Bold" pitchFamily="34" charset="0"/>
                <a:ea typeface="Alexandria Semi Bold" pitchFamily="34" charset="-122"/>
                <a:cs typeface="Alexandria Semi Bold" pitchFamily="34" charset="-120"/>
              </a:rPr>
              <a:t>Kode Jalan ≠ Logika Benar</a:t>
            </a:r>
            <a:endParaRPr lang="en-US" sz="1950" b="1" dirty="0"/>
          </a:p>
        </p:txBody>
      </p:sp>
      <p:sp>
        <p:nvSpPr>
          <p:cNvPr id="10" name="Text 8"/>
          <p:cNvSpPr/>
          <p:nvPr/>
        </p:nvSpPr>
        <p:spPr>
          <a:xfrm>
            <a:off x="5473660" y="3553420"/>
            <a:ext cx="3751540" cy="2122765"/>
          </a:xfrm>
          <a:prstGeom prst="rect">
            <a:avLst/>
          </a:prstGeom>
          <a:noFill/>
          <a:ln/>
        </p:spPr>
        <p:txBody>
          <a:bodyPr wrap="square" lIns="0" tIns="0" rIns="0" bIns="0" rtlCol="0" anchor="t"/>
          <a:lstStyle/>
          <a:p>
            <a:pPr marL="0" indent="0" algn="l">
              <a:lnSpc>
                <a:spcPts val="2350"/>
              </a:lnSpc>
              <a:buNone/>
            </a:pPr>
            <a:r>
              <a:rPr lang="en-US" sz="1600" b="1" dirty="0" err="1" smtClean="0">
                <a:solidFill>
                  <a:srgbClr val="3B3535"/>
                </a:solidFill>
                <a:ea typeface="Sora Light" pitchFamily="34" charset="-122"/>
                <a:cs typeface="Sora Light" pitchFamily="34" charset="-120"/>
              </a:rPr>
              <a:t>Sebuah</a:t>
            </a:r>
            <a:r>
              <a:rPr lang="en-US" sz="1600" b="1" dirty="0" smtClean="0">
                <a:solidFill>
                  <a:srgbClr val="3B3535"/>
                </a:solidFill>
                <a:ea typeface="Sora Light" pitchFamily="34" charset="-122"/>
                <a:cs typeface="Sora Light" pitchFamily="34" charset="-120"/>
              </a:rPr>
              <a:t> program </a:t>
            </a:r>
            <a:r>
              <a:rPr lang="en-US" sz="1600" b="1" dirty="0" err="1" smtClean="0">
                <a:solidFill>
                  <a:srgbClr val="3B3535"/>
                </a:solidFill>
                <a:ea typeface="Sora Light" pitchFamily="34" charset="-122"/>
                <a:cs typeface="Sora Light" pitchFamily="34" charset="-120"/>
              </a:rPr>
              <a:t>mungkin</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berhasil</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dikompilasi</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dan</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dieksekusi</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tanpa</a:t>
            </a:r>
            <a:r>
              <a:rPr lang="en-US" sz="1600" b="1" dirty="0" smtClean="0">
                <a:solidFill>
                  <a:srgbClr val="3B3535"/>
                </a:solidFill>
                <a:ea typeface="Sora Light" pitchFamily="34" charset="-122"/>
                <a:cs typeface="Sora Light" pitchFamily="34" charset="-120"/>
              </a:rPr>
              <a:t> error, </a:t>
            </a:r>
            <a:r>
              <a:rPr lang="en-US" sz="1600" b="1" dirty="0" err="1" smtClean="0">
                <a:solidFill>
                  <a:srgbClr val="3B3535"/>
                </a:solidFill>
                <a:ea typeface="Sora Light" pitchFamily="34" charset="-122"/>
                <a:cs typeface="Sora Light" pitchFamily="34" charset="-120"/>
              </a:rPr>
              <a:t>tetapi</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hasilnya</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bisa</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saja</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tidak</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sesuai</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dengan</a:t>
            </a:r>
            <a:r>
              <a:rPr lang="en-US" sz="1600" b="1" dirty="0" smtClean="0">
                <a:solidFill>
                  <a:srgbClr val="3B3535"/>
                </a:solidFill>
                <a:ea typeface="Sora Light" pitchFamily="34" charset="-122"/>
                <a:cs typeface="Sora Light" pitchFamily="34" charset="-120"/>
              </a:rPr>
              <a:t> yang </a:t>
            </a:r>
            <a:r>
              <a:rPr lang="en-US" sz="1600" b="1" dirty="0" err="1" smtClean="0">
                <a:solidFill>
                  <a:srgbClr val="3B3535"/>
                </a:solidFill>
                <a:ea typeface="Sora Light" pitchFamily="34" charset="-122"/>
                <a:cs typeface="Sora Light" pitchFamily="34" charset="-120"/>
              </a:rPr>
              <a:t>diharapkan</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Ini</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menandakan</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adanya</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kesalahan</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dalam</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logika</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algoritma</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bukan</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pada</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sintaks</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penulisan</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kode</a:t>
            </a:r>
            <a:r>
              <a:rPr lang="en-US" sz="1600" b="1" dirty="0" smtClean="0">
                <a:solidFill>
                  <a:srgbClr val="3B3535"/>
                </a:solidFill>
                <a:ea typeface="Sora Light" pitchFamily="34" charset="-122"/>
                <a:cs typeface="Sora Light" pitchFamily="34" charset="-120"/>
              </a:rPr>
              <a:t>.</a:t>
            </a:r>
            <a:endParaRPr lang="en-US" sz="1600" b="1" dirty="0"/>
          </a:p>
        </p:txBody>
      </p:sp>
      <p:sp>
        <p:nvSpPr>
          <p:cNvPr id="11" name="Shape 9"/>
          <p:cNvSpPr/>
          <p:nvPr/>
        </p:nvSpPr>
        <p:spPr>
          <a:xfrm>
            <a:off x="9627156" y="2915603"/>
            <a:ext cx="4244816" cy="3276243"/>
          </a:xfrm>
          <a:prstGeom prst="roundRect">
            <a:avLst>
              <a:gd name="adj" fmla="val 3349"/>
            </a:avLst>
          </a:prstGeom>
          <a:solidFill>
            <a:srgbClr val="FFFAFA"/>
          </a:solidFill>
          <a:ln w="22860">
            <a:solidFill>
              <a:srgbClr val="BBC2DC"/>
            </a:solidFill>
            <a:prstDash val="solid"/>
          </a:ln>
        </p:spPr>
      </p:sp>
      <p:sp>
        <p:nvSpPr>
          <p:cNvPr id="12" name="Shape 10"/>
          <p:cNvSpPr/>
          <p:nvPr/>
        </p:nvSpPr>
        <p:spPr>
          <a:xfrm>
            <a:off x="9604296" y="2915603"/>
            <a:ext cx="91440" cy="3276243"/>
          </a:xfrm>
          <a:prstGeom prst="roundRect">
            <a:avLst>
              <a:gd name="adj" fmla="val 87077"/>
            </a:avLst>
          </a:prstGeom>
          <a:solidFill>
            <a:srgbClr val="1A2D7A"/>
          </a:solidFill>
          <a:ln/>
        </p:spPr>
      </p:sp>
      <p:sp>
        <p:nvSpPr>
          <p:cNvPr id="13" name="Text 11"/>
          <p:cNvSpPr/>
          <p:nvPr/>
        </p:nvSpPr>
        <p:spPr>
          <a:xfrm>
            <a:off x="9908143" y="3128010"/>
            <a:ext cx="3658076" cy="311706"/>
          </a:xfrm>
          <a:prstGeom prst="rect">
            <a:avLst/>
          </a:prstGeom>
          <a:noFill/>
          <a:ln/>
        </p:spPr>
        <p:txBody>
          <a:bodyPr wrap="none" lIns="0" tIns="0" rIns="0" bIns="0" rtlCol="0" anchor="t"/>
          <a:lstStyle/>
          <a:p>
            <a:pPr marL="0" indent="0" algn="l">
              <a:lnSpc>
                <a:spcPts val="2450"/>
              </a:lnSpc>
              <a:buNone/>
            </a:pPr>
            <a:r>
              <a:rPr lang="en-US" sz="1950" b="1" dirty="0">
                <a:solidFill>
                  <a:srgbClr val="3B3535"/>
                </a:solidFill>
                <a:latin typeface="Alexandria Semi Bold" pitchFamily="34" charset="0"/>
                <a:ea typeface="Alexandria Semi Bold" pitchFamily="34" charset="-122"/>
                <a:cs typeface="Alexandria Semi Bold" pitchFamily="34" charset="-120"/>
              </a:rPr>
              <a:t>Berpikir Dulu, Baru Mengetik</a:t>
            </a:r>
            <a:endParaRPr lang="en-US" sz="1950" b="1" dirty="0"/>
          </a:p>
        </p:txBody>
      </p:sp>
      <p:sp>
        <p:nvSpPr>
          <p:cNvPr id="14" name="Text 12"/>
          <p:cNvSpPr/>
          <p:nvPr/>
        </p:nvSpPr>
        <p:spPr>
          <a:xfrm>
            <a:off x="9908143" y="3553420"/>
            <a:ext cx="3751421" cy="2426018"/>
          </a:xfrm>
          <a:prstGeom prst="rect">
            <a:avLst/>
          </a:prstGeom>
          <a:noFill/>
          <a:ln/>
        </p:spPr>
        <p:txBody>
          <a:bodyPr wrap="square" lIns="0" tIns="0" rIns="0" bIns="0" rtlCol="0" anchor="t"/>
          <a:lstStyle/>
          <a:p>
            <a:pPr marL="0" indent="0" algn="l">
              <a:lnSpc>
                <a:spcPts val="2350"/>
              </a:lnSpc>
              <a:buNone/>
            </a:pPr>
            <a:r>
              <a:rPr lang="en-US" sz="1600" b="1" dirty="0" err="1" smtClean="0">
                <a:solidFill>
                  <a:srgbClr val="3B3535"/>
                </a:solidFill>
                <a:ea typeface="Sora Light" pitchFamily="34" charset="-122"/>
                <a:cs typeface="Sora Light" pitchFamily="34" charset="-120"/>
              </a:rPr>
              <a:t>Kebiasaan</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langsung</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menulis</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kode</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seringkali</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menimbulkan</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masalah</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Prioritaskan</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perancangan</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algoritma</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secara</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matang</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pecahkan</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masalah</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langkah</a:t>
            </a:r>
            <a:r>
              <a:rPr lang="en-US" sz="1600" b="1" dirty="0" smtClean="0">
                <a:solidFill>
                  <a:srgbClr val="3B3535"/>
                </a:solidFill>
                <a:ea typeface="Sora Light" pitchFamily="34" charset="-122"/>
                <a:cs typeface="Sora Light" pitchFamily="34" charset="-120"/>
              </a:rPr>
              <a:t> demi </a:t>
            </a:r>
            <a:r>
              <a:rPr lang="en-US" sz="1600" b="1" dirty="0" err="1" smtClean="0">
                <a:solidFill>
                  <a:srgbClr val="3B3535"/>
                </a:solidFill>
                <a:ea typeface="Sora Light" pitchFamily="34" charset="-122"/>
                <a:cs typeface="Sora Light" pitchFamily="34" charset="-120"/>
              </a:rPr>
              <a:t>langkah</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baru</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kemudian</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tuliskan</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dalam</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bentuk</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kode</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Ini</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akan</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menghemat</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waktu</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dan</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mencegah</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kesalahan</a:t>
            </a:r>
            <a:r>
              <a:rPr lang="en-US" sz="1600" b="1" dirty="0" smtClean="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logis</a:t>
            </a:r>
            <a:r>
              <a:rPr lang="en-US" sz="1600" b="1" dirty="0" smtClean="0">
                <a:solidFill>
                  <a:srgbClr val="3B3535"/>
                </a:solidFill>
                <a:ea typeface="Sora Light" pitchFamily="34" charset="-122"/>
                <a:cs typeface="Sora Light" pitchFamily="34" charset="-120"/>
              </a:rPr>
              <a:t>.</a:t>
            </a:r>
            <a:endParaRPr lang="en-US" sz="1600" b="1" dirty="0"/>
          </a:p>
        </p:txBody>
      </p:sp>
      <p:sp>
        <p:nvSpPr>
          <p:cNvPr id="15" name="Rounded Rectangle 14"/>
          <p:cNvSpPr/>
          <p:nvPr/>
        </p:nvSpPr>
        <p:spPr>
          <a:xfrm>
            <a:off x="12766431" y="7631722"/>
            <a:ext cx="1705707" cy="54512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47236" y="542211"/>
            <a:ext cx="5838825" cy="491490"/>
          </a:xfrm>
          <a:prstGeom prst="rect">
            <a:avLst/>
          </a:prstGeom>
          <a:noFill/>
          <a:ln/>
        </p:spPr>
        <p:txBody>
          <a:bodyPr wrap="none" lIns="0" tIns="0" rIns="0" bIns="0" rtlCol="0" anchor="t"/>
          <a:lstStyle/>
          <a:p>
            <a:pPr marL="0" indent="0" algn="l">
              <a:lnSpc>
                <a:spcPts val="3850"/>
              </a:lnSpc>
              <a:buNone/>
            </a:pPr>
            <a:r>
              <a:rPr lang="en-US" sz="3050" b="1" dirty="0">
                <a:solidFill>
                  <a:srgbClr val="1F1E1E"/>
                </a:solidFill>
                <a:latin typeface="+mj-lt"/>
                <a:ea typeface="Alexandria Semi Bold" pitchFamily="34" charset="-122"/>
                <a:cs typeface="Alexandria Semi Bold" pitchFamily="34" charset="-120"/>
              </a:rPr>
              <a:t>Mengapa Algoritma Penting?</a:t>
            </a:r>
            <a:endParaRPr lang="en-US" sz="3050" b="1" dirty="0">
              <a:latin typeface="+mj-lt"/>
            </a:endParaRPr>
          </a:p>
        </p:txBody>
      </p:sp>
      <p:sp>
        <p:nvSpPr>
          <p:cNvPr id="3" name="Shape 1"/>
          <p:cNvSpPr/>
          <p:nvPr/>
        </p:nvSpPr>
        <p:spPr>
          <a:xfrm>
            <a:off x="747236" y="1516856"/>
            <a:ext cx="420291" cy="420291"/>
          </a:xfrm>
          <a:prstGeom prst="roundRect">
            <a:avLst>
              <a:gd name="adj" fmla="val 18668"/>
            </a:avLst>
          </a:prstGeom>
          <a:solidFill>
            <a:srgbClr val="D5DCF6"/>
          </a:solidFill>
          <a:ln w="7620">
            <a:solidFill>
              <a:srgbClr val="BBC2DC"/>
            </a:solidFill>
            <a:prstDash val="solid"/>
          </a:ln>
        </p:spPr>
      </p:sp>
      <p:sp>
        <p:nvSpPr>
          <p:cNvPr id="4" name="Text 2"/>
          <p:cNvSpPr/>
          <p:nvPr/>
        </p:nvSpPr>
        <p:spPr>
          <a:xfrm>
            <a:off x="1351598" y="1581031"/>
            <a:ext cx="3892629" cy="307300"/>
          </a:xfrm>
          <a:prstGeom prst="rect">
            <a:avLst/>
          </a:prstGeom>
          <a:noFill/>
          <a:ln/>
        </p:spPr>
        <p:txBody>
          <a:bodyPr wrap="none" lIns="0" tIns="0" rIns="0" bIns="0" rtlCol="0" anchor="t"/>
          <a:lstStyle/>
          <a:p>
            <a:pPr marL="0" indent="0" algn="l">
              <a:lnSpc>
                <a:spcPts val="2400"/>
              </a:lnSpc>
              <a:buNone/>
            </a:pPr>
            <a:r>
              <a:rPr lang="en-US" sz="1900" b="1" dirty="0">
                <a:solidFill>
                  <a:srgbClr val="3B3535"/>
                </a:solidFill>
                <a:latin typeface="+mj-lt"/>
                <a:ea typeface="Alexandria Semi Bold" pitchFamily="34" charset="-122"/>
                <a:cs typeface="Alexandria Semi Bold" pitchFamily="34" charset="-120"/>
              </a:rPr>
              <a:t>Program Bisa Jalan, Hasil Salah</a:t>
            </a:r>
            <a:endParaRPr lang="en-US" sz="1900" b="1" dirty="0">
              <a:latin typeface="+mj-lt"/>
            </a:endParaRPr>
          </a:p>
        </p:txBody>
      </p:sp>
      <p:sp>
        <p:nvSpPr>
          <p:cNvPr id="5" name="Text 3"/>
          <p:cNvSpPr/>
          <p:nvPr/>
        </p:nvSpPr>
        <p:spPr>
          <a:xfrm>
            <a:off x="1351598" y="2072402"/>
            <a:ext cx="6415207" cy="1186815"/>
          </a:xfrm>
          <a:prstGeom prst="rect">
            <a:avLst/>
          </a:prstGeom>
          <a:noFill/>
          <a:ln/>
        </p:spPr>
        <p:txBody>
          <a:bodyPr wrap="square" lIns="0" tIns="0" rIns="0" bIns="0" rtlCol="0" anchor="t"/>
          <a:lstStyle/>
          <a:p>
            <a:pPr marL="0" indent="0" algn="l">
              <a:lnSpc>
                <a:spcPts val="2300"/>
              </a:lnSpc>
              <a:buNone/>
            </a:pPr>
            <a:r>
              <a:rPr lang="en-US" sz="1600" b="1" dirty="0">
                <a:solidFill>
                  <a:srgbClr val="3B3535"/>
                </a:solidFill>
                <a:ea typeface="Sora Light" pitchFamily="34" charset="-122"/>
                <a:cs typeface="Sora Light" pitchFamily="34" charset="-120"/>
              </a:rPr>
              <a:t>Bayangkan Anda membuat kalkulator yang bisa menjumlahkan, tetapi entah mengapa hasil 2+2 menjadi 5. Programnya berjalan, tetapi logikanya keliru. Ini menunjukkan betapa vitalnya algoritma yang benar.</a:t>
            </a:r>
            <a:endParaRPr lang="en-US" sz="1600" b="1" dirty="0"/>
          </a:p>
        </p:txBody>
      </p:sp>
      <p:sp>
        <p:nvSpPr>
          <p:cNvPr id="6" name="Shape 4"/>
          <p:cNvSpPr/>
          <p:nvPr/>
        </p:nvSpPr>
        <p:spPr>
          <a:xfrm>
            <a:off x="747236" y="3627358"/>
            <a:ext cx="420291" cy="420291"/>
          </a:xfrm>
          <a:prstGeom prst="roundRect">
            <a:avLst>
              <a:gd name="adj" fmla="val 18668"/>
            </a:avLst>
          </a:prstGeom>
          <a:solidFill>
            <a:srgbClr val="D5DCF6"/>
          </a:solidFill>
          <a:ln w="7620">
            <a:solidFill>
              <a:srgbClr val="BBC2DC"/>
            </a:solidFill>
            <a:prstDash val="solid"/>
          </a:ln>
        </p:spPr>
      </p:sp>
      <p:sp>
        <p:nvSpPr>
          <p:cNvPr id="7" name="Text 5"/>
          <p:cNvSpPr/>
          <p:nvPr/>
        </p:nvSpPr>
        <p:spPr>
          <a:xfrm>
            <a:off x="1351598" y="3691533"/>
            <a:ext cx="4131469" cy="307300"/>
          </a:xfrm>
          <a:prstGeom prst="rect">
            <a:avLst/>
          </a:prstGeom>
          <a:noFill/>
          <a:ln/>
        </p:spPr>
        <p:txBody>
          <a:bodyPr wrap="none" lIns="0" tIns="0" rIns="0" bIns="0" rtlCol="0" anchor="t"/>
          <a:lstStyle/>
          <a:p>
            <a:pPr marL="0" indent="0" algn="l">
              <a:lnSpc>
                <a:spcPts val="2400"/>
              </a:lnSpc>
              <a:buNone/>
            </a:pPr>
            <a:r>
              <a:rPr lang="en-US" sz="1900" b="1" dirty="0">
                <a:solidFill>
                  <a:srgbClr val="3B3535"/>
                </a:solidFill>
                <a:latin typeface="+mj-lt"/>
                <a:ea typeface="Alexandria Semi Bold" pitchFamily="34" charset="-122"/>
                <a:cs typeface="Alexandria Semi Bold" pitchFamily="34" charset="-120"/>
              </a:rPr>
              <a:t>Compiler Tidak Mengecek Logika</a:t>
            </a:r>
            <a:endParaRPr lang="en-US" sz="1900" b="1" dirty="0">
              <a:latin typeface="+mj-lt"/>
            </a:endParaRPr>
          </a:p>
        </p:txBody>
      </p:sp>
      <p:sp>
        <p:nvSpPr>
          <p:cNvPr id="8" name="Text 6"/>
          <p:cNvSpPr/>
          <p:nvPr/>
        </p:nvSpPr>
        <p:spPr>
          <a:xfrm>
            <a:off x="1351598" y="4182904"/>
            <a:ext cx="6415207" cy="1186815"/>
          </a:xfrm>
          <a:prstGeom prst="rect">
            <a:avLst/>
          </a:prstGeom>
          <a:noFill/>
          <a:ln/>
        </p:spPr>
        <p:txBody>
          <a:bodyPr wrap="square" lIns="0" tIns="0" rIns="0" bIns="0" rtlCol="0" anchor="t"/>
          <a:lstStyle/>
          <a:p>
            <a:pPr marL="0" indent="0" algn="l">
              <a:lnSpc>
                <a:spcPts val="2300"/>
              </a:lnSpc>
              <a:buNone/>
            </a:pPr>
            <a:r>
              <a:rPr lang="en-US" sz="1600" b="1" dirty="0">
                <a:solidFill>
                  <a:srgbClr val="3B3535"/>
                </a:solidFill>
                <a:ea typeface="Sora Light" pitchFamily="34" charset="-122"/>
                <a:cs typeface="Sora Light" pitchFamily="34" charset="-120"/>
              </a:rPr>
              <a:t>Compiler hanya bertugas menerjemahkan kode Anda ke bahasa mesin dan memeriksa kesalahan sintaks. Ia tidak akan "mengerti" apakah algoritma Anda masuk akal atau menghasilkan output yang benar sesuai tujuan program Anda.</a:t>
            </a:r>
            <a:endParaRPr lang="en-US" sz="1600" b="1" dirty="0"/>
          </a:p>
        </p:txBody>
      </p:sp>
      <p:sp>
        <p:nvSpPr>
          <p:cNvPr id="9" name="Shape 7"/>
          <p:cNvSpPr/>
          <p:nvPr/>
        </p:nvSpPr>
        <p:spPr>
          <a:xfrm>
            <a:off x="747236" y="5737860"/>
            <a:ext cx="420291" cy="420291"/>
          </a:xfrm>
          <a:prstGeom prst="roundRect">
            <a:avLst>
              <a:gd name="adj" fmla="val 18668"/>
            </a:avLst>
          </a:prstGeom>
          <a:solidFill>
            <a:srgbClr val="D5DCF6"/>
          </a:solidFill>
          <a:ln w="7620">
            <a:solidFill>
              <a:srgbClr val="BBC2DC"/>
            </a:solidFill>
            <a:prstDash val="solid"/>
          </a:ln>
        </p:spPr>
      </p:sp>
      <p:sp>
        <p:nvSpPr>
          <p:cNvPr id="10" name="Text 8"/>
          <p:cNvSpPr/>
          <p:nvPr/>
        </p:nvSpPr>
        <p:spPr>
          <a:xfrm>
            <a:off x="1351598" y="5802035"/>
            <a:ext cx="4691063" cy="307300"/>
          </a:xfrm>
          <a:prstGeom prst="rect">
            <a:avLst/>
          </a:prstGeom>
          <a:noFill/>
          <a:ln/>
        </p:spPr>
        <p:txBody>
          <a:bodyPr wrap="none" lIns="0" tIns="0" rIns="0" bIns="0" rtlCol="0" anchor="t"/>
          <a:lstStyle/>
          <a:p>
            <a:pPr marL="0" indent="0" algn="l">
              <a:lnSpc>
                <a:spcPts val="2400"/>
              </a:lnSpc>
              <a:buNone/>
            </a:pPr>
            <a:r>
              <a:rPr lang="en-US" sz="1900" b="1" dirty="0" err="1" smtClean="0">
                <a:solidFill>
                  <a:srgbClr val="3B3535"/>
                </a:solidFill>
                <a:latin typeface="+mj-lt"/>
                <a:ea typeface="Alexandria Semi Bold" pitchFamily="34" charset="-122"/>
                <a:cs typeface="Alexandria Semi Bold" pitchFamily="34" charset="-120"/>
              </a:rPr>
              <a:t>Logika</a:t>
            </a:r>
            <a:r>
              <a:rPr lang="en-US" sz="1900" b="1" dirty="0" smtClean="0">
                <a:solidFill>
                  <a:srgbClr val="3B3535"/>
                </a:solidFill>
                <a:latin typeface="+mj-lt"/>
                <a:ea typeface="Alexandria Semi Bold" pitchFamily="34" charset="-122"/>
                <a:cs typeface="Alexandria Semi Bold" pitchFamily="34" charset="-120"/>
              </a:rPr>
              <a:t> </a:t>
            </a:r>
            <a:r>
              <a:rPr lang="en-US" sz="1900" b="1" dirty="0">
                <a:solidFill>
                  <a:srgbClr val="3B3535"/>
                </a:solidFill>
                <a:latin typeface="+mj-lt"/>
                <a:ea typeface="Alexandria Semi Bold" pitchFamily="34" charset="-122"/>
                <a:cs typeface="Alexandria Semi Bold" pitchFamily="34" charset="-120"/>
              </a:rPr>
              <a:t>Menentukan Kualitas Program</a:t>
            </a:r>
            <a:endParaRPr lang="en-US" sz="1900" b="1" dirty="0">
              <a:latin typeface="+mj-lt"/>
            </a:endParaRPr>
          </a:p>
        </p:txBody>
      </p:sp>
      <p:sp>
        <p:nvSpPr>
          <p:cNvPr id="11" name="Text 9"/>
          <p:cNvSpPr/>
          <p:nvPr/>
        </p:nvSpPr>
        <p:spPr>
          <a:xfrm>
            <a:off x="1351598" y="6293406"/>
            <a:ext cx="6415207" cy="1186815"/>
          </a:xfrm>
          <a:prstGeom prst="rect">
            <a:avLst/>
          </a:prstGeom>
          <a:noFill/>
          <a:ln/>
        </p:spPr>
        <p:txBody>
          <a:bodyPr wrap="square" lIns="0" tIns="0" rIns="0" bIns="0" rtlCol="0" anchor="t"/>
          <a:lstStyle/>
          <a:p>
            <a:pPr marL="0" indent="0" algn="l">
              <a:lnSpc>
                <a:spcPts val="2300"/>
              </a:lnSpc>
              <a:buNone/>
            </a:pPr>
            <a:r>
              <a:rPr lang="en-US" sz="1600" b="1" dirty="0">
                <a:solidFill>
                  <a:srgbClr val="3B3535"/>
                </a:solidFill>
                <a:ea typeface="Sora Light" pitchFamily="34" charset="-122"/>
                <a:cs typeface="Sora Light" pitchFamily="34" charset="-120"/>
              </a:rPr>
              <a:t>Program yang baik tidak hanya berjalan tanpa error, tetapi juga menghasilkan output yang akurat, efisien, dan sesuai </a:t>
            </a:r>
            <a:r>
              <a:rPr lang="en-US" sz="1600" b="1" dirty="0" err="1">
                <a:solidFill>
                  <a:srgbClr val="3B3535"/>
                </a:solidFill>
                <a:ea typeface="Sora Light" pitchFamily="34" charset="-122"/>
                <a:cs typeface="Sora Light" pitchFamily="34" charset="-120"/>
              </a:rPr>
              <a:t>dengan</a:t>
            </a:r>
            <a:r>
              <a:rPr lang="en-US" sz="1600" b="1" dirty="0">
                <a:solidFill>
                  <a:srgbClr val="3B3535"/>
                </a:solidFill>
                <a:ea typeface="Sora Light" pitchFamily="34" charset="-122"/>
                <a:cs typeface="Sora Light" pitchFamily="34" charset="-120"/>
              </a:rPr>
              <a:t> </a:t>
            </a:r>
            <a:r>
              <a:rPr lang="en-US" sz="1600" b="1" dirty="0" err="1" smtClean="0">
                <a:solidFill>
                  <a:srgbClr val="3B3535"/>
                </a:solidFill>
                <a:ea typeface="Sora Light" pitchFamily="34" charset="-122"/>
                <a:cs typeface="Sora Light" pitchFamily="34" charset="-120"/>
              </a:rPr>
              <a:t>kebutuhan</a:t>
            </a:r>
            <a:r>
              <a:rPr lang="en-US" sz="1600" b="1" dirty="0" smtClean="0">
                <a:solidFill>
                  <a:srgbClr val="3B3535"/>
                </a:solidFill>
                <a:ea typeface="Sora Light" pitchFamily="34" charset="-122"/>
                <a:cs typeface="Sora Light" pitchFamily="34" charset="-120"/>
              </a:rPr>
              <a:t> </a:t>
            </a:r>
            <a:r>
              <a:rPr lang="en-US" sz="1600" b="1" dirty="0">
                <a:solidFill>
                  <a:srgbClr val="3B3535"/>
                </a:solidFill>
                <a:ea typeface="Sora Light" pitchFamily="34" charset="-122"/>
                <a:cs typeface="Sora Light" pitchFamily="34" charset="-120"/>
              </a:rPr>
              <a:t>pengguna. Semua ini berakar pada fondasi algoritma yang kuat dan logis.</a:t>
            </a:r>
            <a:endParaRPr lang="en-US" sz="1600" b="1" dirty="0"/>
          </a:p>
        </p:txBody>
      </p:sp>
      <p:pic>
        <p:nvPicPr>
          <p:cNvPr id="12" name="Image 0" descr="preencoded.png"/>
          <p:cNvPicPr>
            <a:picLocks noChangeAspect="1"/>
          </p:cNvPicPr>
          <p:nvPr/>
        </p:nvPicPr>
        <p:blipFill>
          <a:blip r:embed="rId3"/>
          <a:stretch>
            <a:fillRect/>
          </a:stretch>
        </p:blipFill>
        <p:spPr>
          <a:xfrm>
            <a:off x="8230195" y="1516856"/>
            <a:ext cx="5660469" cy="5660469"/>
          </a:xfrm>
          <a:prstGeom prst="rect">
            <a:avLst/>
          </a:prstGeom>
        </p:spPr>
      </p:pic>
      <p:sp>
        <p:nvSpPr>
          <p:cNvPr id="13" name="Rounded Rectangle 12"/>
          <p:cNvSpPr/>
          <p:nvPr/>
        </p:nvSpPr>
        <p:spPr>
          <a:xfrm>
            <a:off x="12801600" y="7631722"/>
            <a:ext cx="1688123" cy="54512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69764" y="420767"/>
            <a:ext cx="3840242" cy="402193"/>
          </a:xfrm>
          <a:prstGeom prst="rect">
            <a:avLst/>
          </a:prstGeom>
          <a:noFill/>
          <a:ln/>
        </p:spPr>
        <p:txBody>
          <a:bodyPr wrap="none" lIns="0" tIns="0" rIns="0" bIns="0" rtlCol="0" anchor="t"/>
          <a:lstStyle/>
          <a:p>
            <a:pPr marL="0" indent="0" algn="l">
              <a:lnSpc>
                <a:spcPts val="3150"/>
              </a:lnSpc>
              <a:buNone/>
            </a:pPr>
            <a:r>
              <a:rPr lang="en-US" sz="2500" b="1" dirty="0">
                <a:solidFill>
                  <a:srgbClr val="1F1E1E"/>
                </a:solidFill>
                <a:latin typeface="+mj-lt"/>
                <a:ea typeface="Alexandria Semi Bold" pitchFamily="34" charset="-122"/>
                <a:cs typeface="Alexandria Semi Bold" pitchFamily="34" charset="-120"/>
              </a:rPr>
              <a:t>Pola Berpikir Algoritma</a:t>
            </a:r>
            <a:endParaRPr lang="en-US" sz="2500" b="1" dirty="0">
              <a:latin typeface="+mj-lt"/>
            </a:endParaRPr>
          </a:p>
        </p:txBody>
      </p:sp>
      <p:pic>
        <p:nvPicPr>
          <p:cNvPr id="3" name="Image 0" descr="preencoded.png"/>
          <p:cNvPicPr>
            <a:picLocks noChangeAspect="1"/>
          </p:cNvPicPr>
          <p:nvPr/>
        </p:nvPicPr>
        <p:blipFill>
          <a:blip r:embed="rId3"/>
          <a:stretch>
            <a:fillRect/>
          </a:stretch>
        </p:blipFill>
        <p:spPr>
          <a:xfrm>
            <a:off x="3028950" y="1069538"/>
            <a:ext cx="8572262" cy="5799296"/>
          </a:xfrm>
          <a:prstGeom prst="rect">
            <a:avLst/>
          </a:prstGeom>
        </p:spPr>
      </p:pic>
      <p:sp>
        <p:nvSpPr>
          <p:cNvPr id="4" name="Text 1"/>
          <p:cNvSpPr/>
          <p:nvPr/>
        </p:nvSpPr>
        <p:spPr>
          <a:xfrm>
            <a:off x="6514289" y="3311066"/>
            <a:ext cx="1560929" cy="1127271"/>
          </a:xfrm>
          <a:prstGeom prst="rect">
            <a:avLst/>
          </a:prstGeom>
          <a:noFill/>
          <a:ln/>
        </p:spPr>
        <p:txBody>
          <a:bodyPr wrap="square" lIns="0" tIns="0" rIns="0" bIns="0" rtlCol="0" anchor="t"/>
          <a:lstStyle/>
          <a:p>
            <a:pPr marL="0" indent="0" algn="ctr">
              <a:lnSpc>
                <a:spcPts val="1750"/>
              </a:lnSpc>
              <a:buNone/>
            </a:pPr>
            <a:r>
              <a:rPr lang="en-US" sz="1600" dirty="0">
                <a:solidFill>
                  <a:srgbClr val="FFFFFF"/>
                </a:solidFill>
                <a:latin typeface="+mj-lt"/>
                <a:ea typeface="Alexandria Semi Bold" pitchFamily="34" charset="-122"/>
                <a:cs typeface="Alexandria Semi Bold" pitchFamily="34" charset="-120"/>
              </a:rPr>
              <a:t>Input → Process → </a:t>
            </a:r>
            <a:r>
              <a:rPr lang="en-US" sz="1600" dirty="0" smtClean="0">
                <a:solidFill>
                  <a:srgbClr val="FFFFFF"/>
                </a:solidFill>
                <a:latin typeface="+mj-lt"/>
                <a:ea typeface="Alexandria Semi Bold" pitchFamily="34" charset="-122"/>
                <a:cs typeface="Alexandria Semi Bold" pitchFamily="34" charset="-120"/>
              </a:rPr>
              <a:t>Output</a:t>
            </a:r>
            <a:endParaRPr lang="en-US" sz="1600" dirty="0">
              <a:latin typeface="+mj-lt"/>
            </a:endParaRPr>
          </a:p>
        </p:txBody>
      </p:sp>
      <p:sp>
        <p:nvSpPr>
          <p:cNvPr id="5" name="Text 2"/>
          <p:cNvSpPr/>
          <p:nvPr/>
        </p:nvSpPr>
        <p:spPr>
          <a:xfrm>
            <a:off x="8847157" y="4998702"/>
            <a:ext cx="2322160" cy="751515"/>
          </a:xfrm>
          <a:prstGeom prst="rect">
            <a:avLst/>
          </a:prstGeom>
          <a:noFill/>
          <a:ln/>
        </p:spPr>
        <p:txBody>
          <a:bodyPr wrap="square" lIns="0" tIns="0" rIns="0" bIns="0" rtlCol="0" anchor="t"/>
          <a:lstStyle/>
          <a:p>
            <a:pPr marL="0" indent="0" algn="ctr">
              <a:lnSpc>
                <a:spcPts val="1750"/>
              </a:lnSpc>
              <a:buNone/>
            </a:pPr>
            <a:r>
              <a:rPr lang="en-US" sz="1600" b="1" dirty="0">
                <a:solidFill>
                  <a:srgbClr val="3B3535"/>
                </a:solidFill>
                <a:latin typeface="+mj-lt"/>
                <a:ea typeface="Alexandria Semi Bold" pitchFamily="34" charset="-122"/>
                <a:cs typeface="Alexandria Semi Bold" pitchFamily="34" charset="-120"/>
              </a:rPr>
              <a:t>Data Validation</a:t>
            </a:r>
            <a:endParaRPr lang="en-US" sz="1600" b="1" dirty="0">
              <a:latin typeface="+mj-lt"/>
            </a:endParaRPr>
          </a:p>
        </p:txBody>
      </p:sp>
      <p:sp>
        <p:nvSpPr>
          <p:cNvPr id="6" name="Text 3"/>
          <p:cNvSpPr/>
          <p:nvPr/>
        </p:nvSpPr>
        <p:spPr>
          <a:xfrm>
            <a:off x="8847157" y="5851740"/>
            <a:ext cx="2322160" cy="515551"/>
          </a:xfrm>
          <a:prstGeom prst="rect">
            <a:avLst/>
          </a:prstGeom>
          <a:noFill/>
          <a:ln/>
        </p:spPr>
        <p:txBody>
          <a:bodyPr wrap="square" lIns="0" tIns="0" rIns="0" bIns="0" rtlCol="0" anchor="t"/>
          <a:lstStyle/>
          <a:p>
            <a:pPr marL="0" indent="0" algn="ctr">
              <a:lnSpc>
                <a:spcPts val="1200"/>
              </a:lnSpc>
              <a:buNone/>
            </a:pPr>
            <a:r>
              <a:rPr lang="en-US" sz="1600" dirty="0">
                <a:solidFill>
                  <a:srgbClr val="3B3535"/>
                </a:solidFill>
                <a:ea typeface="Sora Light" pitchFamily="34" charset="-122"/>
                <a:cs typeface="Sora Light" pitchFamily="34" charset="-120"/>
              </a:rPr>
              <a:t>Check and clean inputs</a:t>
            </a:r>
            <a:endParaRPr lang="en-US" sz="1600" dirty="0"/>
          </a:p>
        </p:txBody>
      </p:sp>
      <p:sp>
        <p:nvSpPr>
          <p:cNvPr id="7" name="Text 4"/>
          <p:cNvSpPr/>
          <p:nvPr/>
        </p:nvSpPr>
        <p:spPr>
          <a:xfrm>
            <a:off x="3405121" y="4998702"/>
            <a:ext cx="2322160" cy="751515"/>
          </a:xfrm>
          <a:prstGeom prst="rect">
            <a:avLst/>
          </a:prstGeom>
          <a:noFill/>
          <a:ln/>
        </p:spPr>
        <p:txBody>
          <a:bodyPr wrap="square" lIns="0" tIns="0" rIns="0" bIns="0" rtlCol="0" anchor="t"/>
          <a:lstStyle/>
          <a:p>
            <a:pPr marL="0" indent="0" algn="ctr">
              <a:lnSpc>
                <a:spcPts val="1750"/>
              </a:lnSpc>
              <a:buNone/>
            </a:pPr>
            <a:r>
              <a:rPr lang="en-US" sz="1600" b="1" dirty="0">
                <a:solidFill>
                  <a:srgbClr val="3B3535"/>
                </a:solidFill>
                <a:latin typeface="+mj-lt"/>
                <a:ea typeface="Alexandria Semi Bold" pitchFamily="34" charset="-122"/>
                <a:cs typeface="Alexandria Semi Bold" pitchFamily="34" charset="-120"/>
              </a:rPr>
              <a:t>Algorithmic Processing</a:t>
            </a:r>
            <a:endParaRPr lang="en-US" sz="1600" b="1" dirty="0">
              <a:latin typeface="+mj-lt"/>
            </a:endParaRPr>
          </a:p>
        </p:txBody>
      </p:sp>
      <p:sp>
        <p:nvSpPr>
          <p:cNvPr id="8" name="Text 5"/>
          <p:cNvSpPr/>
          <p:nvPr/>
        </p:nvSpPr>
        <p:spPr>
          <a:xfrm>
            <a:off x="3405121" y="5851740"/>
            <a:ext cx="2322160" cy="515551"/>
          </a:xfrm>
          <a:prstGeom prst="rect">
            <a:avLst/>
          </a:prstGeom>
          <a:noFill/>
          <a:ln/>
        </p:spPr>
        <p:txBody>
          <a:bodyPr wrap="square" lIns="0" tIns="0" rIns="0" bIns="0" rtlCol="0" anchor="t"/>
          <a:lstStyle/>
          <a:p>
            <a:pPr marL="0" indent="0" algn="ctr">
              <a:lnSpc>
                <a:spcPts val="1200"/>
              </a:lnSpc>
              <a:buNone/>
            </a:pPr>
            <a:r>
              <a:rPr lang="en-US" sz="1600" dirty="0">
                <a:solidFill>
                  <a:srgbClr val="3B3535"/>
                </a:solidFill>
                <a:ea typeface="Sora Light" pitchFamily="34" charset="-122"/>
                <a:cs typeface="Sora Light" pitchFamily="34" charset="-120"/>
              </a:rPr>
              <a:t>Steps to transform data</a:t>
            </a:r>
            <a:endParaRPr lang="en-US" sz="1600" dirty="0"/>
          </a:p>
        </p:txBody>
      </p:sp>
      <p:sp>
        <p:nvSpPr>
          <p:cNvPr id="9" name="Text 6"/>
          <p:cNvSpPr/>
          <p:nvPr/>
        </p:nvSpPr>
        <p:spPr>
          <a:xfrm>
            <a:off x="3405121" y="1747559"/>
            <a:ext cx="2322160" cy="375757"/>
          </a:xfrm>
          <a:prstGeom prst="rect">
            <a:avLst/>
          </a:prstGeom>
          <a:noFill/>
          <a:ln/>
        </p:spPr>
        <p:txBody>
          <a:bodyPr wrap="none" lIns="0" tIns="0" rIns="0" bIns="0" rtlCol="0" anchor="t"/>
          <a:lstStyle/>
          <a:p>
            <a:pPr marL="0" indent="0" algn="ctr">
              <a:lnSpc>
                <a:spcPts val="1750"/>
              </a:lnSpc>
              <a:buNone/>
            </a:pPr>
            <a:r>
              <a:rPr lang="en-US" sz="1600" b="1" dirty="0">
                <a:solidFill>
                  <a:srgbClr val="3B3535"/>
                </a:solidFill>
                <a:latin typeface="+mj-lt"/>
                <a:ea typeface="Alexandria Semi Bold" pitchFamily="34" charset="-122"/>
                <a:cs typeface="Alexandria Semi Bold" pitchFamily="34" charset="-120"/>
              </a:rPr>
              <a:t>Result Output</a:t>
            </a:r>
            <a:endParaRPr lang="en-US" sz="1600" b="1" dirty="0">
              <a:latin typeface="+mj-lt"/>
            </a:endParaRPr>
          </a:p>
        </p:txBody>
      </p:sp>
      <p:sp>
        <p:nvSpPr>
          <p:cNvPr id="10" name="Text 7"/>
          <p:cNvSpPr/>
          <p:nvPr/>
        </p:nvSpPr>
        <p:spPr>
          <a:xfrm>
            <a:off x="3405121" y="2224840"/>
            <a:ext cx="2322160" cy="515551"/>
          </a:xfrm>
          <a:prstGeom prst="rect">
            <a:avLst/>
          </a:prstGeom>
          <a:noFill/>
          <a:ln/>
        </p:spPr>
        <p:txBody>
          <a:bodyPr wrap="square" lIns="0" tIns="0" rIns="0" bIns="0" rtlCol="0" anchor="t"/>
          <a:lstStyle/>
          <a:p>
            <a:pPr marL="0" indent="0" algn="ctr">
              <a:lnSpc>
                <a:spcPts val="1200"/>
              </a:lnSpc>
              <a:buNone/>
            </a:pPr>
            <a:r>
              <a:rPr lang="en-US" sz="1600" dirty="0">
                <a:solidFill>
                  <a:srgbClr val="3B3535"/>
                </a:solidFill>
                <a:ea typeface="Sora Light" pitchFamily="34" charset="-122"/>
                <a:cs typeface="Sora Light" pitchFamily="34" charset="-120"/>
              </a:rPr>
              <a:t>Final information produced</a:t>
            </a:r>
            <a:endParaRPr lang="en-US" sz="1600" dirty="0"/>
          </a:p>
        </p:txBody>
      </p:sp>
      <p:sp>
        <p:nvSpPr>
          <p:cNvPr id="11" name="Text 8"/>
          <p:cNvSpPr/>
          <p:nvPr/>
        </p:nvSpPr>
        <p:spPr>
          <a:xfrm>
            <a:off x="8862028" y="1747559"/>
            <a:ext cx="2322160" cy="375757"/>
          </a:xfrm>
          <a:prstGeom prst="rect">
            <a:avLst/>
          </a:prstGeom>
          <a:noFill/>
          <a:ln/>
        </p:spPr>
        <p:txBody>
          <a:bodyPr wrap="none" lIns="0" tIns="0" rIns="0" bIns="0" rtlCol="0" anchor="t"/>
          <a:lstStyle/>
          <a:p>
            <a:pPr marL="0" indent="0" algn="ctr">
              <a:lnSpc>
                <a:spcPts val="1750"/>
              </a:lnSpc>
              <a:buNone/>
            </a:pPr>
            <a:r>
              <a:rPr lang="en-US" sz="1600" b="1" dirty="0">
                <a:solidFill>
                  <a:srgbClr val="3B3535"/>
                </a:solidFill>
                <a:latin typeface="+mj-lt"/>
                <a:ea typeface="Alexandria Semi Bold" pitchFamily="34" charset="-122"/>
                <a:cs typeface="Alexandria Semi Bold" pitchFamily="34" charset="-120"/>
              </a:rPr>
              <a:t>User Input</a:t>
            </a:r>
            <a:endParaRPr lang="en-US" sz="1600" b="1" dirty="0">
              <a:latin typeface="+mj-lt"/>
            </a:endParaRPr>
          </a:p>
        </p:txBody>
      </p:sp>
      <p:sp>
        <p:nvSpPr>
          <p:cNvPr id="12" name="Text 9"/>
          <p:cNvSpPr/>
          <p:nvPr/>
        </p:nvSpPr>
        <p:spPr>
          <a:xfrm>
            <a:off x="8862028" y="2224840"/>
            <a:ext cx="2322160" cy="515551"/>
          </a:xfrm>
          <a:prstGeom prst="rect">
            <a:avLst/>
          </a:prstGeom>
          <a:noFill/>
          <a:ln/>
        </p:spPr>
        <p:txBody>
          <a:bodyPr wrap="square" lIns="0" tIns="0" rIns="0" bIns="0" rtlCol="0" anchor="t"/>
          <a:lstStyle/>
          <a:p>
            <a:pPr marL="0" indent="0" algn="ctr">
              <a:lnSpc>
                <a:spcPts val="1200"/>
              </a:lnSpc>
              <a:buNone/>
            </a:pPr>
            <a:r>
              <a:rPr lang="en-US" sz="1600" dirty="0">
                <a:solidFill>
                  <a:srgbClr val="3B3535"/>
                </a:solidFill>
                <a:ea typeface="Sora Light" pitchFamily="34" charset="-122"/>
                <a:cs typeface="Sora Light" pitchFamily="34" charset="-120"/>
              </a:rPr>
              <a:t>Data entered by the user</a:t>
            </a:r>
            <a:endParaRPr lang="en-US" sz="1600" dirty="0"/>
          </a:p>
        </p:txBody>
      </p:sp>
      <p:sp>
        <p:nvSpPr>
          <p:cNvPr id="13" name="Text 10"/>
          <p:cNvSpPr/>
          <p:nvPr/>
        </p:nvSpPr>
        <p:spPr>
          <a:xfrm>
            <a:off x="969764" y="7007543"/>
            <a:ext cx="12690753" cy="441722"/>
          </a:xfrm>
          <a:prstGeom prst="rect">
            <a:avLst/>
          </a:prstGeom>
          <a:noFill/>
          <a:ln/>
        </p:spPr>
        <p:txBody>
          <a:bodyPr wrap="square" lIns="0" tIns="0" rIns="0" bIns="0" rtlCol="0" anchor="t"/>
          <a:lstStyle/>
          <a:p>
            <a:pPr marL="0" indent="0" algn="l">
              <a:lnSpc>
                <a:spcPts val="1700"/>
              </a:lnSpc>
              <a:buNone/>
            </a:pPr>
            <a:r>
              <a:rPr lang="en-US" sz="1600" b="1" dirty="0">
                <a:solidFill>
                  <a:srgbClr val="3B3535"/>
                </a:solidFill>
                <a:ea typeface="Sora Light" pitchFamily="34" charset="-122"/>
                <a:cs typeface="Sora Light" pitchFamily="34" charset="-120"/>
              </a:rPr>
              <a:t>Pola dasar dalam berpikir algoritmik selalu melibatkan tiga tahapan utama: </a:t>
            </a:r>
            <a:r>
              <a:rPr lang="en-US" sz="1600" b="1" dirty="0">
                <a:solidFill>
                  <a:srgbClr val="1A2D7A"/>
                </a:solidFill>
                <a:ea typeface="Sora Light" pitchFamily="34" charset="-122"/>
                <a:cs typeface="Sora Light" pitchFamily="34" charset="-120"/>
              </a:rPr>
              <a:t>Input</a:t>
            </a:r>
            <a:r>
              <a:rPr lang="en-US" sz="1600" b="1" dirty="0">
                <a:solidFill>
                  <a:srgbClr val="3B3535"/>
                </a:solidFill>
                <a:ea typeface="Sora Light" pitchFamily="34" charset="-122"/>
                <a:cs typeface="Sora Light" pitchFamily="34" charset="-120"/>
              </a:rPr>
              <a:t>, </a:t>
            </a:r>
            <a:r>
              <a:rPr lang="en-US" sz="1600" b="1" dirty="0">
                <a:solidFill>
                  <a:srgbClr val="1A2D7A"/>
                </a:solidFill>
                <a:ea typeface="Sora Light" pitchFamily="34" charset="-122"/>
                <a:cs typeface="Sora Light" pitchFamily="34" charset="-120"/>
              </a:rPr>
              <a:t>Proses</a:t>
            </a:r>
            <a:r>
              <a:rPr lang="en-US" sz="1600" b="1" dirty="0">
                <a:solidFill>
                  <a:srgbClr val="3B3535"/>
                </a:solidFill>
                <a:ea typeface="Sora Light" pitchFamily="34" charset="-122"/>
                <a:cs typeface="Sora Light" pitchFamily="34" charset="-120"/>
              </a:rPr>
              <a:t>, dan </a:t>
            </a:r>
            <a:r>
              <a:rPr lang="en-US" sz="1600" b="1" dirty="0">
                <a:solidFill>
                  <a:srgbClr val="1A2D7A"/>
                </a:solidFill>
                <a:ea typeface="Sora Light" pitchFamily="34" charset="-122"/>
                <a:cs typeface="Sora Light" pitchFamily="34" charset="-120"/>
              </a:rPr>
              <a:t>Output</a:t>
            </a:r>
            <a:r>
              <a:rPr lang="en-US" sz="1600" b="1" dirty="0">
                <a:solidFill>
                  <a:srgbClr val="3B3535"/>
                </a:solidFill>
                <a:ea typeface="Sora Light" pitchFamily="34" charset="-122"/>
                <a:cs typeface="Sora Light" pitchFamily="34" charset="-120"/>
              </a:rPr>
              <a:t>. Input adalah data yang kita berikan, proses adalah langkah-langkah yang kita lakukan terhadap data tersebut, dan output adalah hasil akhir dari proses tersebut.</a:t>
            </a:r>
            <a:endParaRPr lang="en-US" sz="1600" b="1" dirty="0"/>
          </a:p>
        </p:txBody>
      </p:sp>
      <p:sp>
        <p:nvSpPr>
          <p:cNvPr id="14" name="Text 11"/>
          <p:cNvSpPr/>
          <p:nvPr/>
        </p:nvSpPr>
        <p:spPr>
          <a:xfrm>
            <a:off x="969764" y="7587972"/>
            <a:ext cx="12690753" cy="220861"/>
          </a:xfrm>
          <a:prstGeom prst="rect">
            <a:avLst/>
          </a:prstGeom>
          <a:noFill/>
          <a:ln/>
        </p:spPr>
        <p:txBody>
          <a:bodyPr wrap="none" lIns="0" tIns="0" rIns="0" bIns="0" rtlCol="0" anchor="t"/>
          <a:lstStyle/>
          <a:p>
            <a:pPr marL="0" indent="0" algn="l">
              <a:lnSpc>
                <a:spcPts val="1700"/>
              </a:lnSpc>
              <a:buNone/>
            </a:pPr>
            <a:r>
              <a:rPr lang="en-US" sz="1600" b="1" dirty="0">
                <a:solidFill>
                  <a:srgbClr val="3B3535"/>
                </a:solidFill>
                <a:ea typeface="Sora Light" pitchFamily="34" charset="-122"/>
                <a:cs typeface="Sora Light" pitchFamily="34" charset="-120"/>
              </a:rPr>
              <a:t>Memahami alur ini adalah kunci untuk merancang algoritma yang efektif, karena setiap masalah dapat dipecah menjadi komponen-komponen ini.</a:t>
            </a:r>
            <a:endParaRPr lang="en-US" sz="1600" b="1" dirty="0"/>
          </a:p>
        </p:txBody>
      </p:sp>
      <p:sp>
        <p:nvSpPr>
          <p:cNvPr id="15" name="Rounded Rectangle 14"/>
          <p:cNvSpPr/>
          <p:nvPr/>
        </p:nvSpPr>
        <p:spPr>
          <a:xfrm>
            <a:off x="12731261" y="7773663"/>
            <a:ext cx="1863969" cy="420767"/>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7236" y="542211"/>
            <a:ext cx="5838825" cy="491490"/>
          </a:xfrm>
          <a:prstGeom prst="rect">
            <a:avLst/>
          </a:prstGeom>
          <a:noFill/>
          <a:ln/>
        </p:spPr>
        <p:txBody>
          <a:bodyPr wrap="none" lIns="0" tIns="0" rIns="0" bIns="0" rtlCol="0" anchor="t"/>
          <a:lstStyle/>
          <a:p>
            <a:pPr marL="0" indent="0" algn="l">
              <a:lnSpc>
                <a:spcPts val="3850"/>
              </a:lnSpc>
              <a:buNone/>
            </a:pPr>
            <a:r>
              <a:rPr lang="en-US" sz="3050" b="1" dirty="0" smtClean="0">
                <a:solidFill>
                  <a:srgbClr val="1F1E1E"/>
                </a:solidFill>
                <a:latin typeface="+mj-lt"/>
                <a:ea typeface="Alexandria Semi Bold" pitchFamily="34" charset="-122"/>
                <a:cs typeface="Alexandria Semi Bold" pitchFamily="34" charset="-120"/>
              </a:rPr>
              <a:t>Flowchart </a:t>
            </a:r>
            <a:r>
              <a:rPr lang="en-US" sz="3050" b="1" dirty="0" err="1" smtClean="0">
                <a:solidFill>
                  <a:srgbClr val="1F1E1E"/>
                </a:solidFill>
                <a:latin typeface="+mj-lt"/>
                <a:ea typeface="Alexandria Semi Bold" pitchFamily="34" charset="-122"/>
                <a:cs typeface="Alexandria Semi Bold" pitchFamily="34" charset="-120"/>
              </a:rPr>
              <a:t>dan</a:t>
            </a:r>
            <a:r>
              <a:rPr lang="en-US" sz="3050" b="1" dirty="0" smtClean="0">
                <a:solidFill>
                  <a:srgbClr val="1F1E1E"/>
                </a:solidFill>
                <a:latin typeface="+mj-lt"/>
                <a:ea typeface="Alexandria Semi Bold" pitchFamily="34" charset="-122"/>
                <a:cs typeface="Alexandria Semi Bold" pitchFamily="34" charset="-120"/>
              </a:rPr>
              <a:t> Pseudocode</a:t>
            </a:r>
            <a:endParaRPr lang="en-US" sz="3050" b="1" dirty="0">
              <a:latin typeface="+mj-lt"/>
            </a:endParaRPr>
          </a:p>
        </p:txBody>
      </p:sp>
      <p:sp>
        <p:nvSpPr>
          <p:cNvPr id="3" name="Shape 1"/>
          <p:cNvSpPr/>
          <p:nvPr/>
        </p:nvSpPr>
        <p:spPr>
          <a:xfrm>
            <a:off x="747236" y="1516856"/>
            <a:ext cx="420291" cy="420291"/>
          </a:xfrm>
          <a:prstGeom prst="roundRect">
            <a:avLst>
              <a:gd name="adj" fmla="val 18668"/>
            </a:avLst>
          </a:prstGeom>
          <a:solidFill>
            <a:srgbClr val="D5DCF6"/>
          </a:solidFill>
          <a:ln w="7620">
            <a:solidFill>
              <a:srgbClr val="BBC2DC"/>
            </a:solidFill>
            <a:prstDash val="solid"/>
          </a:ln>
        </p:spPr>
      </p:sp>
      <p:sp>
        <p:nvSpPr>
          <p:cNvPr id="4" name="Text 2"/>
          <p:cNvSpPr/>
          <p:nvPr/>
        </p:nvSpPr>
        <p:spPr>
          <a:xfrm>
            <a:off x="1351598" y="1581031"/>
            <a:ext cx="3892629" cy="307300"/>
          </a:xfrm>
          <a:prstGeom prst="rect">
            <a:avLst/>
          </a:prstGeom>
          <a:noFill/>
          <a:ln/>
        </p:spPr>
        <p:txBody>
          <a:bodyPr wrap="none" lIns="0" tIns="0" rIns="0" bIns="0" rtlCol="0" anchor="t"/>
          <a:lstStyle/>
          <a:p>
            <a:pPr marL="0" indent="0" algn="l">
              <a:lnSpc>
                <a:spcPts val="2400"/>
              </a:lnSpc>
              <a:buNone/>
            </a:pPr>
            <a:r>
              <a:rPr lang="en-US" sz="2400" b="1" dirty="0" smtClean="0">
                <a:solidFill>
                  <a:srgbClr val="3B3535"/>
                </a:solidFill>
                <a:cs typeface="Alexandria Semi Bold" pitchFamily="34" charset="-120"/>
              </a:rPr>
              <a:t>Flowchart</a:t>
            </a:r>
            <a:r>
              <a:rPr lang="en-US" sz="2400" dirty="0" smtClean="0">
                <a:solidFill>
                  <a:srgbClr val="3B3535"/>
                </a:solidFill>
                <a:latin typeface="Alexandria Semi Bold" pitchFamily="34" charset="0"/>
                <a:cs typeface="Alexandria Semi Bold" pitchFamily="34" charset="-120"/>
              </a:rPr>
              <a:t> </a:t>
            </a:r>
            <a:endParaRPr lang="en-US" sz="2400" dirty="0"/>
          </a:p>
        </p:txBody>
      </p:sp>
      <p:sp>
        <p:nvSpPr>
          <p:cNvPr id="5" name="Text 3"/>
          <p:cNvSpPr/>
          <p:nvPr/>
        </p:nvSpPr>
        <p:spPr>
          <a:xfrm>
            <a:off x="1351598" y="2072402"/>
            <a:ext cx="6415207" cy="1186815"/>
          </a:xfrm>
          <a:prstGeom prst="rect">
            <a:avLst/>
          </a:prstGeom>
          <a:noFill/>
          <a:ln/>
        </p:spPr>
        <p:txBody>
          <a:bodyPr wrap="square" lIns="0" tIns="0" rIns="0" bIns="0" rtlCol="0" anchor="t"/>
          <a:lstStyle/>
          <a:p>
            <a:pPr>
              <a:lnSpc>
                <a:spcPts val="2300"/>
              </a:lnSpc>
            </a:pPr>
            <a:r>
              <a:rPr lang="en-US" sz="2000" dirty="0" smtClean="0"/>
              <a:t>Flowchart </a:t>
            </a:r>
            <a:r>
              <a:rPr lang="en-US" sz="2000" dirty="0" err="1" smtClean="0"/>
              <a:t>atau</a:t>
            </a:r>
            <a:r>
              <a:rPr lang="en-US" sz="2000" dirty="0" smtClean="0"/>
              <a:t> </a:t>
            </a:r>
            <a:r>
              <a:rPr lang="en-US" sz="2000" dirty="0" err="1" smtClean="0"/>
              <a:t>bagan</a:t>
            </a:r>
            <a:r>
              <a:rPr lang="en-US" sz="2000" dirty="0" smtClean="0"/>
              <a:t> </a:t>
            </a:r>
            <a:r>
              <a:rPr lang="en-US" sz="2000" dirty="0" err="1" smtClean="0"/>
              <a:t>alir</a:t>
            </a:r>
            <a:r>
              <a:rPr lang="en-US" sz="2000" dirty="0" smtClean="0"/>
              <a:t> </a:t>
            </a:r>
            <a:r>
              <a:rPr lang="en-US" sz="2000" dirty="0" err="1" smtClean="0"/>
              <a:t>adalah</a:t>
            </a:r>
            <a:r>
              <a:rPr lang="en-US" sz="2000" dirty="0" smtClean="0"/>
              <a:t> diagram yang </a:t>
            </a:r>
            <a:r>
              <a:rPr lang="en-US" sz="2000" dirty="0" err="1" smtClean="0"/>
              <a:t>menampilkan</a:t>
            </a:r>
            <a:r>
              <a:rPr lang="en-US" sz="2000" dirty="0" smtClean="0"/>
              <a:t> </a:t>
            </a:r>
            <a:r>
              <a:rPr lang="en-US" sz="2000" dirty="0" err="1" smtClean="0"/>
              <a:t>langkah-langkah</a:t>
            </a:r>
            <a:r>
              <a:rPr lang="en-US" sz="2000" dirty="0" smtClean="0"/>
              <a:t> </a:t>
            </a:r>
            <a:r>
              <a:rPr lang="en-US" sz="2000" dirty="0" err="1" smtClean="0"/>
              <a:t>dan</a:t>
            </a:r>
            <a:r>
              <a:rPr lang="en-US" sz="2000" dirty="0" smtClean="0"/>
              <a:t> </a:t>
            </a:r>
            <a:r>
              <a:rPr lang="en-US" sz="2000" dirty="0" err="1" smtClean="0"/>
              <a:t>keputusan</a:t>
            </a:r>
            <a:r>
              <a:rPr lang="en-US" sz="2000" dirty="0" smtClean="0"/>
              <a:t> </a:t>
            </a:r>
            <a:r>
              <a:rPr lang="en-US" sz="2000" dirty="0" err="1" smtClean="0"/>
              <a:t>untuk</a:t>
            </a:r>
            <a:r>
              <a:rPr lang="en-US" sz="2000" dirty="0" smtClean="0"/>
              <a:t> </a:t>
            </a:r>
            <a:r>
              <a:rPr lang="en-US" sz="2000" dirty="0" err="1" smtClean="0"/>
              <a:t>melakukan</a:t>
            </a:r>
            <a:r>
              <a:rPr lang="en-US" sz="2000" dirty="0" smtClean="0"/>
              <a:t> </a:t>
            </a:r>
            <a:r>
              <a:rPr lang="en-US" sz="2000" dirty="0" err="1" smtClean="0"/>
              <a:t>sebuah</a:t>
            </a:r>
            <a:r>
              <a:rPr lang="en-US" sz="2000" dirty="0" smtClean="0"/>
              <a:t> proses </a:t>
            </a:r>
            <a:r>
              <a:rPr lang="en-US" sz="2000" dirty="0" err="1" smtClean="0"/>
              <a:t>dari</a:t>
            </a:r>
            <a:r>
              <a:rPr lang="en-US" sz="2000" dirty="0" smtClean="0"/>
              <a:t> </a:t>
            </a:r>
            <a:r>
              <a:rPr lang="en-US" sz="2000" dirty="0" err="1" smtClean="0"/>
              <a:t>suatu</a:t>
            </a:r>
            <a:r>
              <a:rPr lang="en-US" sz="2000" dirty="0" smtClean="0"/>
              <a:t> program</a:t>
            </a:r>
            <a:endParaRPr lang="en-US" sz="2000" dirty="0"/>
          </a:p>
        </p:txBody>
      </p:sp>
      <p:sp>
        <p:nvSpPr>
          <p:cNvPr id="6" name="Shape 4"/>
          <p:cNvSpPr/>
          <p:nvPr/>
        </p:nvSpPr>
        <p:spPr>
          <a:xfrm>
            <a:off x="747236" y="3627358"/>
            <a:ext cx="420291" cy="420291"/>
          </a:xfrm>
          <a:prstGeom prst="roundRect">
            <a:avLst>
              <a:gd name="adj" fmla="val 18668"/>
            </a:avLst>
          </a:prstGeom>
          <a:solidFill>
            <a:srgbClr val="D5DCF6"/>
          </a:solidFill>
          <a:ln w="7620">
            <a:solidFill>
              <a:srgbClr val="BBC2DC"/>
            </a:solidFill>
            <a:prstDash val="solid"/>
          </a:ln>
        </p:spPr>
      </p:sp>
      <p:sp>
        <p:nvSpPr>
          <p:cNvPr id="7" name="Text 5"/>
          <p:cNvSpPr/>
          <p:nvPr/>
        </p:nvSpPr>
        <p:spPr>
          <a:xfrm>
            <a:off x="1351598" y="3691533"/>
            <a:ext cx="4131469" cy="307300"/>
          </a:xfrm>
          <a:prstGeom prst="rect">
            <a:avLst/>
          </a:prstGeom>
          <a:noFill/>
          <a:ln/>
        </p:spPr>
        <p:txBody>
          <a:bodyPr wrap="none" lIns="0" tIns="0" rIns="0" bIns="0" rtlCol="0" anchor="t"/>
          <a:lstStyle/>
          <a:p>
            <a:pPr marL="0" indent="0" algn="l">
              <a:lnSpc>
                <a:spcPts val="2400"/>
              </a:lnSpc>
              <a:buNone/>
            </a:pPr>
            <a:r>
              <a:rPr lang="en-US" sz="2400" b="1" dirty="0" smtClean="0"/>
              <a:t>Pseudocode</a:t>
            </a:r>
            <a:endParaRPr lang="en-US" sz="2400" b="1" dirty="0"/>
          </a:p>
        </p:txBody>
      </p:sp>
      <p:sp>
        <p:nvSpPr>
          <p:cNvPr id="8" name="Text 6"/>
          <p:cNvSpPr/>
          <p:nvPr/>
        </p:nvSpPr>
        <p:spPr>
          <a:xfrm>
            <a:off x="1351598" y="4182904"/>
            <a:ext cx="6415207" cy="1186815"/>
          </a:xfrm>
          <a:prstGeom prst="rect">
            <a:avLst/>
          </a:prstGeom>
          <a:noFill/>
          <a:ln/>
        </p:spPr>
        <p:txBody>
          <a:bodyPr wrap="square" lIns="0" tIns="0" rIns="0" bIns="0" rtlCol="0" anchor="t"/>
          <a:lstStyle/>
          <a:p>
            <a:pPr>
              <a:lnSpc>
                <a:spcPts val="2300"/>
              </a:lnSpc>
            </a:pPr>
            <a:r>
              <a:rPr lang="en-US" sz="2000" dirty="0" smtClean="0"/>
              <a:t>Cara </a:t>
            </a:r>
            <a:r>
              <a:rPr lang="en-US" sz="2000" dirty="0" err="1" smtClean="0"/>
              <a:t>menulis</a:t>
            </a:r>
            <a:r>
              <a:rPr lang="en-US" sz="2000" dirty="0" smtClean="0"/>
              <a:t> </a:t>
            </a:r>
            <a:r>
              <a:rPr lang="en-US" sz="2000" dirty="0" err="1" smtClean="0"/>
              <a:t>algoritma</a:t>
            </a:r>
            <a:r>
              <a:rPr lang="en-US" sz="2000" dirty="0" smtClean="0"/>
              <a:t> </a:t>
            </a:r>
            <a:r>
              <a:rPr lang="en-US" sz="2000" dirty="0" err="1" smtClean="0"/>
              <a:t>atau</a:t>
            </a:r>
            <a:r>
              <a:rPr lang="en-US" sz="2000" dirty="0" smtClean="0"/>
              <a:t> </a:t>
            </a:r>
            <a:r>
              <a:rPr lang="en-US" sz="2000" dirty="0" err="1" smtClean="0"/>
              <a:t>rangkaian</a:t>
            </a:r>
            <a:r>
              <a:rPr lang="en-US" sz="2000" dirty="0" smtClean="0"/>
              <a:t> </a:t>
            </a:r>
            <a:r>
              <a:rPr lang="en-US" sz="2000" dirty="0" err="1" smtClean="0"/>
              <a:t>instruksi</a:t>
            </a:r>
            <a:r>
              <a:rPr lang="en-US" sz="2000" dirty="0" smtClean="0"/>
              <a:t> program </a:t>
            </a:r>
            <a:r>
              <a:rPr lang="en-US" sz="2000" dirty="0" err="1" smtClean="0"/>
              <a:t>dalam</a:t>
            </a:r>
            <a:r>
              <a:rPr lang="en-US" sz="2000" dirty="0" smtClean="0"/>
              <a:t> </a:t>
            </a:r>
            <a:r>
              <a:rPr lang="en-US" sz="2000" dirty="0" err="1" smtClean="0"/>
              <a:t>bentuk</a:t>
            </a:r>
            <a:r>
              <a:rPr lang="en-US" sz="2000" dirty="0" smtClean="0"/>
              <a:t> </a:t>
            </a:r>
            <a:r>
              <a:rPr lang="en-US" sz="2000" dirty="0" err="1" smtClean="0"/>
              <a:t>bahasa</a:t>
            </a:r>
            <a:r>
              <a:rPr lang="en-US" sz="2000" dirty="0" smtClean="0"/>
              <a:t> </a:t>
            </a:r>
            <a:r>
              <a:rPr lang="en-US" sz="2000" dirty="0" err="1" smtClean="0"/>
              <a:t>deskriptif</a:t>
            </a:r>
            <a:r>
              <a:rPr lang="en-US" sz="2000" dirty="0" smtClean="0"/>
              <a:t> yang </a:t>
            </a:r>
            <a:r>
              <a:rPr lang="en-US" sz="2000" dirty="0" err="1" smtClean="0"/>
              <a:t>sederhana</a:t>
            </a:r>
            <a:r>
              <a:rPr lang="en-US" sz="2000" dirty="0" smtClean="0"/>
              <a:t>, agar </a:t>
            </a:r>
            <a:r>
              <a:rPr lang="en-US" sz="2000" dirty="0" err="1" smtClean="0"/>
              <a:t>mudah</a:t>
            </a:r>
            <a:r>
              <a:rPr lang="en-US" sz="2000" dirty="0" smtClean="0"/>
              <a:t> </a:t>
            </a:r>
            <a:r>
              <a:rPr lang="en-US" sz="2000" dirty="0" err="1" smtClean="0"/>
              <a:t>untuk</a:t>
            </a:r>
            <a:r>
              <a:rPr lang="en-US" sz="2000" dirty="0" smtClean="0"/>
              <a:t> </a:t>
            </a:r>
            <a:r>
              <a:rPr lang="en-US" sz="2000" dirty="0" err="1" smtClean="0"/>
              <a:t>dipahami</a:t>
            </a:r>
            <a:r>
              <a:rPr lang="en-US" sz="2000" dirty="0"/>
              <a:t>.</a:t>
            </a:r>
            <a:r>
              <a:rPr lang="en-US" sz="2000" dirty="0" smtClean="0"/>
              <a:t> </a:t>
            </a:r>
            <a:endParaRPr lang="en-US" sz="2000" dirty="0"/>
          </a:p>
        </p:txBody>
      </p:sp>
      <p:sp>
        <p:nvSpPr>
          <p:cNvPr id="10" name="Text 8"/>
          <p:cNvSpPr/>
          <p:nvPr/>
        </p:nvSpPr>
        <p:spPr>
          <a:xfrm>
            <a:off x="1351598" y="5802035"/>
            <a:ext cx="4691063" cy="307300"/>
          </a:xfrm>
          <a:prstGeom prst="rect">
            <a:avLst/>
          </a:prstGeom>
          <a:noFill/>
          <a:ln/>
        </p:spPr>
        <p:txBody>
          <a:bodyPr wrap="none" lIns="0" tIns="0" rIns="0" bIns="0" rtlCol="0" anchor="t"/>
          <a:lstStyle/>
          <a:p>
            <a:pPr marL="0" indent="0" algn="l">
              <a:lnSpc>
                <a:spcPts val="2400"/>
              </a:lnSpc>
              <a:buNone/>
            </a:pPr>
            <a:endParaRPr lang="en-US" sz="1900" dirty="0"/>
          </a:p>
        </p:txBody>
      </p:sp>
      <p:sp>
        <p:nvSpPr>
          <p:cNvPr id="11" name="Text 9"/>
          <p:cNvSpPr/>
          <p:nvPr/>
        </p:nvSpPr>
        <p:spPr>
          <a:xfrm>
            <a:off x="1351598" y="6293406"/>
            <a:ext cx="6415207" cy="1186815"/>
          </a:xfrm>
          <a:prstGeom prst="rect">
            <a:avLst/>
          </a:prstGeom>
          <a:noFill/>
          <a:ln/>
        </p:spPr>
        <p:txBody>
          <a:bodyPr wrap="square" lIns="0" tIns="0" rIns="0" bIns="0" rtlCol="0" anchor="t"/>
          <a:lstStyle/>
          <a:p>
            <a:pPr marL="0" indent="0" algn="l">
              <a:lnSpc>
                <a:spcPts val="2300"/>
              </a:lnSpc>
              <a:buNone/>
            </a:pPr>
            <a:endParaRPr lang="en-US" sz="1450" dirty="0"/>
          </a:p>
        </p:txBody>
      </p:sp>
      <p:pic>
        <p:nvPicPr>
          <p:cNvPr id="12" name="Image 0" descr="preencoded.png"/>
          <p:cNvPicPr>
            <a:picLocks noChangeAspect="1"/>
          </p:cNvPicPr>
          <p:nvPr/>
        </p:nvPicPr>
        <p:blipFill>
          <a:blip r:embed="rId3"/>
          <a:stretch>
            <a:fillRect/>
          </a:stretch>
        </p:blipFill>
        <p:spPr>
          <a:xfrm>
            <a:off x="8230195" y="1516856"/>
            <a:ext cx="5660469" cy="5660469"/>
          </a:xfrm>
          <a:prstGeom prst="rect">
            <a:avLst/>
          </a:prstGeom>
        </p:spPr>
      </p:pic>
      <p:sp>
        <p:nvSpPr>
          <p:cNvPr id="13" name="Rounded Rectangle 12"/>
          <p:cNvSpPr/>
          <p:nvPr/>
        </p:nvSpPr>
        <p:spPr>
          <a:xfrm>
            <a:off x="12801600" y="7631722"/>
            <a:ext cx="1688123" cy="54512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13326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7236" y="542211"/>
            <a:ext cx="5838825" cy="491490"/>
          </a:xfrm>
          <a:prstGeom prst="rect">
            <a:avLst/>
          </a:prstGeom>
          <a:noFill/>
          <a:ln/>
        </p:spPr>
        <p:txBody>
          <a:bodyPr wrap="none" lIns="0" tIns="0" rIns="0" bIns="0" rtlCol="0" anchor="t"/>
          <a:lstStyle/>
          <a:p>
            <a:pPr marL="0" indent="0" algn="l">
              <a:lnSpc>
                <a:spcPts val="3850"/>
              </a:lnSpc>
              <a:buNone/>
            </a:pPr>
            <a:r>
              <a:rPr lang="id-ID" sz="3050" b="1" dirty="0" smtClean="0">
                <a:solidFill>
                  <a:srgbClr val="1F1E1E"/>
                </a:solidFill>
                <a:latin typeface="+mj-lt"/>
                <a:ea typeface="Alexandria Semi Bold" pitchFamily="34" charset="-122"/>
                <a:cs typeface="Calibri" panose="020F0502020204030204" pitchFamily="34" charset="0"/>
              </a:rPr>
              <a:t>Simbol-s</a:t>
            </a:r>
            <a:r>
              <a:rPr lang="en-US" sz="3050" b="1" dirty="0" err="1" smtClean="0">
                <a:solidFill>
                  <a:srgbClr val="1F1E1E"/>
                </a:solidFill>
                <a:latin typeface="+mj-lt"/>
                <a:ea typeface="Alexandria Semi Bold" pitchFamily="34" charset="-122"/>
                <a:cs typeface="Calibri" panose="020F0502020204030204" pitchFamily="34" charset="0"/>
              </a:rPr>
              <a:t>i</a:t>
            </a:r>
            <a:r>
              <a:rPr lang="id-ID" sz="3050" b="1" dirty="0" smtClean="0">
                <a:solidFill>
                  <a:srgbClr val="1F1E1E"/>
                </a:solidFill>
                <a:latin typeface="+mj-lt"/>
                <a:ea typeface="Alexandria Semi Bold" pitchFamily="34" charset="-122"/>
                <a:cs typeface="Calibri" panose="020F0502020204030204" pitchFamily="34" charset="0"/>
              </a:rPr>
              <a:t>mbol</a:t>
            </a:r>
            <a:r>
              <a:rPr lang="en-US" sz="3050" b="1" dirty="0" smtClean="0">
                <a:solidFill>
                  <a:srgbClr val="1F1E1E"/>
                </a:solidFill>
                <a:latin typeface="+mj-lt"/>
                <a:ea typeface="Alexandria Semi Bold" pitchFamily="34" charset="-122"/>
                <a:cs typeface="Calibri" panose="020F0502020204030204" pitchFamily="34" charset="0"/>
              </a:rPr>
              <a:t> </a:t>
            </a:r>
            <a:r>
              <a:rPr lang="id-ID" sz="3050" b="1" dirty="0" smtClean="0">
                <a:solidFill>
                  <a:srgbClr val="1F1E1E"/>
                </a:solidFill>
                <a:latin typeface="+mj-lt"/>
                <a:ea typeface="Alexandria Semi Bold" pitchFamily="34" charset="-122"/>
                <a:cs typeface="Calibri" panose="020F0502020204030204" pitchFamily="34" charset="0"/>
              </a:rPr>
              <a:t>Dasar</a:t>
            </a:r>
            <a:r>
              <a:rPr lang="en-US" sz="3050" b="1" dirty="0" smtClean="0">
                <a:solidFill>
                  <a:srgbClr val="1F1E1E"/>
                </a:solidFill>
                <a:latin typeface="+mj-lt"/>
                <a:ea typeface="Alexandria Semi Bold" pitchFamily="34" charset="-122"/>
                <a:cs typeface="Calibri" panose="020F0502020204030204" pitchFamily="34" charset="0"/>
              </a:rPr>
              <a:t> </a:t>
            </a:r>
            <a:r>
              <a:rPr lang="en-US" sz="3050" b="1" dirty="0" err="1" smtClean="0">
                <a:solidFill>
                  <a:srgbClr val="1F1E1E"/>
                </a:solidFill>
                <a:latin typeface="+mj-lt"/>
                <a:ea typeface="Alexandria Semi Bold" pitchFamily="34" charset="-122"/>
                <a:cs typeface="Calibri" panose="020F0502020204030204" pitchFamily="34" charset="0"/>
              </a:rPr>
              <a:t>Dalam</a:t>
            </a:r>
            <a:r>
              <a:rPr lang="en-US" sz="3050" b="1" dirty="0" smtClean="0">
                <a:solidFill>
                  <a:srgbClr val="1F1E1E"/>
                </a:solidFill>
                <a:latin typeface="+mj-lt"/>
                <a:ea typeface="Alexandria Semi Bold" pitchFamily="34" charset="-122"/>
                <a:cs typeface="Calibri" panose="020F0502020204030204" pitchFamily="34" charset="0"/>
              </a:rPr>
              <a:t> Flowchart</a:t>
            </a:r>
            <a:endParaRPr lang="en-US" sz="3050" b="1" dirty="0">
              <a:latin typeface="+mj-lt"/>
              <a:cs typeface="Calibri" panose="020F0502020204030204" pitchFamily="34" charset="0"/>
            </a:endParaRPr>
          </a:p>
        </p:txBody>
      </p:sp>
      <p:sp>
        <p:nvSpPr>
          <p:cNvPr id="4" name="Text 2"/>
          <p:cNvSpPr/>
          <p:nvPr/>
        </p:nvSpPr>
        <p:spPr>
          <a:xfrm>
            <a:off x="2150032" y="1376613"/>
            <a:ext cx="3892629" cy="307300"/>
          </a:xfrm>
          <a:prstGeom prst="rect">
            <a:avLst/>
          </a:prstGeom>
          <a:noFill/>
          <a:ln/>
        </p:spPr>
        <p:txBody>
          <a:bodyPr wrap="none" lIns="0" tIns="0" rIns="0" bIns="0" rtlCol="0" anchor="t"/>
          <a:lstStyle/>
          <a:p>
            <a:pPr marL="0" indent="0" algn="l">
              <a:lnSpc>
                <a:spcPts val="2400"/>
              </a:lnSpc>
              <a:buNone/>
            </a:pPr>
            <a:r>
              <a:rPr lang="en-US" sz="2400" b="1" dirty="0" smtClean="0">
                <a:solidFill>
                  <a:srgbClr val="3B3535"/>
                </a:solidFill>
                <a:latin typeface="+mj-lt"/>
                <a:cs typeface="Alexandria Semi Bold" pitchFamily="34" charset="-120"/>
              </a:rPr>
              <a:t>Terminator</a:t>
            </a:r>
            <a:endParaRPr lang="en-US" sz="2400" b="1" dirty="0">
              <a:latin typeface="+mj-lt"/>
            </a:endParaRPr>
          </a:p>
        </p:txBody>
      </p:sp>
      <p:sp>
        <p:nvSpPr>
          <p:cNvPr id="5" name="Text 3"/>
          <p:cNvSpPr/>
          <p:nvPr/>
        </p:nvSpPr>
        <p:spPr>
          <a:xfrm>
            <a:off x="2150032" y="1696899"/>
            <a:ext cx="5868553" cy="1186815"/>
          </a:xfrm>
          <a:prstGeom prst="rect">
            <a:avLst/>
          </a:prstGeom>
          <a:noFill/>
          <a:ln/>
        </p:spPr>
        <p:txBody>
          <a:bodyPr wrap="square" lIns="0" tIns="0" rIns="0" bIns="0" rtlCol="0" anchor="t"/>
          <a:lstStyle/>
          <a:p>
            <a:pPr>
              <a:lnSpc>
                <a:spcPts val="2300"/>
              </a:lnSpc>
            </a:pPr>
            <a:r>
              <a:rPr lang="en-US" dirty="0" err="1"/>
              <a:t>Simbol</a:t>
            </a:r>
            <a:r>
              <a:rPr lang="en-US" dirty="0"/>
              <a:t> terminator </a:t>
            </a:r>
            <a:r>
              <a:rPr lang="en-US" dirty="0" err="1"/>
              <a:t>digunakan</a:t>
            </a:r>
            <a:r>
              <a:rPr lang="en-US" dirty="0"/>
              <a:t> </a:t>
            </a:r>
            <a:r>
              <a:rPr lang="en-US" dirty="0" err="1"/>
              <a:t>untuk</a:t>
            </a:r>
            <a:r>
              <a:rPr lang="en-US" dirty="0"/>
              <a:t> </a:t>
            </a:r>
            <a:r>
              <a:rPr lang="en-US" dirty="0" err="1"/>
              <a:t>menandai</a:t>
            </a:r>
            <a:r>
              <a:rPr lang="en-US" dirty="0"/>
              <a:t> </a:t>
            </a:r>
            <a:r>
              <a:rPr lang="en-US" dirty="0" err="1"/>
              <a:t>awal</a:t>
            </a:r>
            <a:r>
              <a:rPr lang="en-US" dirty="0"/>
              <a:t> </a:t>
            </a:r>
            <a:r>
              <a:rPr lang="en-US" dirty="0" err="1"/>
              <a:t>atau</a:t>
            </a:r>
            <a:r>
              <a:rPr lang="en-US" dirty="0"/>
              <a:t> </a:t>
            </a:r>
            <a:r>
              <a:rPr lang="en-US" dirty="0" err="1"/>
              <a:t>akhir</a:t>
            </a:r>
            <a:r>
              <a:rPr lang="en-US" dirty="0"/>
              <a:t> </a:t>
            </a:r>
            <a:r>
              <a:rPr lang="en-US" dirty="0" err="1"/>
              <a:t>dari</a:t>
            </a:r>
            <a:r>
              <a:rPr lang="en-US" dirty="0"/>
              <a:t> </a:t>
            </a:r>
            <a:r>
              <a:rPr lang="en-US" dirty="0" err="1"/>
              <a:t>sebuah</a:t>
            </a:r>
            <a:r>
              <a:rPr lang="en-US" dirty="0"/>
              <a:t> proses </a:t>
            </a:r>
            <a:r>
              <a:rPr lang="en-US" dirty="0" err="1"/>
              <a:t>dalam</a:t>
            </a:r>
            <a:r>
              <a:rPr lang="en-US" dirty="0"/>
              <a:t> flowchart. </a:t>
            </a:r>
            <a:r>
              <a:rPr lang="en-US" dirty="0" err="1"/>
              <a:t>Bentuknya</a:t>
            </a:r>
            <a:r>
              <a:rPr lang="en-US" dirty="0"/>
              <a:t> </a:t>
            </a:r>
            <a:r>
              <a:rPr lang="en-US" dirty="0" err="1"/>
              <a:t>berupa</a:t>
            </a:r>
            <a:r>
              <a:rPr lang="en-US" dirty="0"/>
              <a:t> oval </a:t>
            </a:r>
            <a:r>
              <a:rPr lang="en-US" dirty="0" err="1"/>
              <a:t>atau</a:t>
            </a:r>
            <a:r>
              <a:rPr lang="en-US" dirty="0"/>
              <a:t> </a:t>
            </a:r>
            <a:r>
              <a:rPr lang="en-US" dirty="0" err="1"/>
              <a:t>persegi</a:t>
            </a:r>
            <a:r>
              <a:rPr lang="en-US" dirty="0"/>
              <a:t> </a:t>
            </a:r>
            <a:r>
              <a:rPr lang="en-US" dirty="0" err="1"/>
              <a:t>panjang</a:t>
            </a:r>
            <a:r>
              <a:rPr lang="en-US" dirty="0"/>
              <a:t> </a:t>
            </a:r>
            <a:r>
              <a:rPr lang="en-US" dirty="0" err="1"/>
              <a:t>dengan</a:t>
            </a:r>
            <a:r>
              <a:rPr lang="en-US" dirty="0"/>
              <a:t> </a:t>
            </a:r>
            <a:r>
              <a:rPr lang="en-US" dirty="0" err="1"/>
              <a:t>sudut</a:t>
            </a:r>
            <a:r>
              <a:rPr lang="en-US" dirty="0"/>
              <a:t> </a:t>
            </a:r>
            <a:r>
              <a:rPr lang="en-US" dirty="0" err="1"/>
              <a:t>melengkung</a:t>
            </a:r>
            <a:r>
              <a:rPr lang="en-US" dirty="0" smtClean="0"/>
              <a:t>. </a:t>
            </a:r>
            <a:r>
              <a:rPr lang="en-US" dirty="0" err="1"/>
              <a:t>Pada</a:t>
            </a:r>
            <a:r>
              <a:rPr lang="en-US" dirty="0"/>
              <a:t> </a:t>
            </a:r>
            <a:r>
              <a:rPr lang="en-US" dirty="0" err="1"/>
              <a:t>awal</a:t>
            </a:r>
            <a:r>
              <a:rPr lang="en-US" dirty="0"/>
              <a:t> flowchart, </a:t>
            </a:r>
            <a:r>
              <a:rPr lang="en-US" dirty="0" err="1"/>
              <a:t>simbol</a:t>
            </a:r>
            <a:r>
              <a:rPr lang="en-US" dirty="0"/>
              <a:t> </a:t>
            </a:r>
            <a:r>
              <a:rPr lang="en-US" dirty="0" err="1"/>
              <a:t>ini</a:t>
            </a:r>
            <a:r>
              <a:rPr lang="en-US" dirty="0"/>
              <a:t> </a:t>
            </a:r>
            <a:r>
              <a:rPr lang="en-US" dirty="0" err="1"/>
              <a:t>berfungsi</a:t>
            </a:r>
            <a:r>
              <a:rPr lang="en-US" dirty="0"/>
              <a:t> </a:t>
            </a:r>
            <a:r>
              <a:rPr lang="en-US" dirty="0" err="1"/>
              <a:t>untuk</a:t>
            </a:r>
            <a:r>
              <a:rPr lang="en-US" dirty="0"/>
              <a:t> </a:t>
            </a:r>
            <a:r>
              <a:rPr lang="en-US" dirty="0" err="1"/>
              <a:t>menandai</a:t>
            </a:r>
            <a:r>
              <a:rPr lang="en-US" dirty="0"/>
              <a:t> </a:t>
            </a:r>
            <a:r>
              <a:rPr lang="en-US" dirty="0" err="1" smtClean="0"/>
              <a:t>titik</a:t>
            </a:r>
            <a:r>
              <a:rPr lang="en-US" dirty="0" smtClean="0"/>
              <a:t> </a:t>
            </a:r>
            <a:r>
              <a:rPr lang="en-US" dirty="0" err="1" smtClean="0"/>
              <a:t>dimulainya</a:t>
            </a:r>
            <a:r>
              <a:rPr lang="en-US" dirty="0" smtClean="0"/>
              <a:t> </a:t>
            </a:r>
            <a:r>
              <a:rPr lang="en-US" dirty="0" err="1"/>
              <a:t>suatu</a:t>
            </a:r>
            <a:r>
              <a:rPr lang="en-US" dirty="0"/>
              <a:t> proses, </a:t>
            </a:r>
            <a:r>
              <a:rPr lang="en-US" dirty="0" err="1"/>
              <a:t>misalnya</a:t>
            </a:r>
            <a:r>
              <a:rPr lang="en-US" dirty="0"/>
              <a:t> </a:t>
            </a:r>
            <a:r>
              <a:rPr lang="en-US" b="1" dirty="0" err="1"/>
              <a:t>Mulai</a:t>
            </a:r>
            <a:r>
              <a:rPr lang="en-US" dirty="0"/>
              <a:t> </a:t>
            </a:r>
            <a:r>
              <a:rPr lang="en-US" dirty="0" err="1"/>
              <a:t>atau</a:t>
            </a:r>
            <a:r>
              <a:rPr lang="en-US" dirty="0"/>
              <a:t> </a:t>
            </a:r>
            <a:r>
              <a:rPr lang="en-US" b="1" dirty="0"/>
              <a:t>Login</a:t>
            </a:r>
            <a:r>
              <a:rPr lang="en-US" dirty="0"/>
              <a:t>. Di </a:t>
            </a:r>
            <a:r>
              <a:rPr lang="en-US" dirty="0" err="1"/>
              <a:t>akhir</a:t>
            </a:r>
            <a:r>
              <a:rPr lang="en-US" dirty="0"/>
              <a:t>, </a:t>
            </a:r>
            <a:r>
              <a:rPr lang="en-US" dirty="0" err="1"/>
              <a:t>simbol</a:t>
            </a:r>
            <a:r>
              <a:rPr lang="en-US" dirty="0"/>
              <a:t> </a:t>
            </a:r>
            <a:r>
              <a:rPr lang="en-US" dirty="0" err="1"/>
              <a:t>ini</a:t>
            </a:r>
            <a:r>
              <a:rPr lang="en-US" dirty="0"/>
              <a:t> </a:t>
            </a:r>
            <a:r>
              <a:rPr lang="en-US" dirty="0" err="1"/>
              <a:t>menunjukkan</a:t>
            </a:r>
            <a:r>
              <a:rPr lang="en-US" dirty="0"/>
              <a:t> </a:t>
            </a:r>
            <a:r>
              <a:rPr lang="en-US" dirty="0" err="1"/>
              <a:t>bahwa</a:t>
            </a:r>
            <a:r>
              <a:rPr lang="en-US" dirty="0"/>
              <a:t> </a:t>
            </a:r>
            <a:r>
              <a:rPr lang="en-US" dirty="0" err="1"/>
              <a:t>seluruh</a:t>
            </a:r>
            <a:r>
              <a:rPr lang="en-US" dirty="0"/>
              <a:t> </a:t>
            </a:r>
            <a:r>
              <a:rPr lang="en-US" dirty="0" err="1"/>
              <a:t>rangkaian</a:t>
            </a:r>
            <a:r>
              <a:rPr lang="en-US" dirty="0"/>
              <a:t> proses </a:t>
            </a:r>
            <a:r>
              <a:rPr lang="en-US" dirty="0" err="1"/>
              <a:t>telah</a:t>
            </a:r>
            <a:r>
              <a:rPr lang="en-US" dirty="0"/>
              <a:t> </a:t>
            </a:r>
            <a:r>
              <a:rPr lang="en-US" dirty="0" err="1"/>
              <a:t>selesai</a:t>
            </a:r>
            <a:r>
              <a:rPr lang="en-US" dirty="0"/>
              <a:t>.</a:t>
            </a:r>
            <a:endParaRPr lang="en-US" sz="1600" b="1" dirty="0"/>
          </a:p>
        </p:txBody>
      </p:sp>
      <p:sp>
        <p:nvSpPr>
          <p:cNvPr id="7" name="Text 5"/>
          <p:cNvSpPr/>
          <p:nvPr/>
        </p:nvSpPr>
        <p:spPr>
          <a:xfrm>
            <a:off x="2150032" y="3926457"/>
            <a:ext cx="4131469" cy="307300"/>
          </a:xfrm>
          <a:prstGeom prst="rect">
            <a:avLst/>
          </a:prstGeom>
          <a:noFill/>
          <a:ln/>
        </p:spPr>
        <p:txBody>
          <a:bodyPr wrap="none" lIns="0" tIns="0" rIns="0" bIns="0" rtlCol="0" anchor="t"/>
          <a:lstStyle/>
          <a:p>
            <a:pPr marL="0" indent="0" algn="l">
              <a:lnSpc>
                <a:spcPts val="2400"/>
              </a:lnSpc>
              <a:buNone/>
            </a:pPr>
            <a:r>
              <a:rPr lang="en-US" sz="2400" b="1" dirty="0" smtClean="0">
                <a:solidFill>
                  <a:srgbClr val="3B3535"/>
                </a:solidFill>
                <a:latin typeface="+mj-lt"/>
                <a:cs typeface="Alexandria Semi Bold" pitchFamily="34" charset="-120"/>
              </a:rPr>
              <a:t>Proses</a:t>
            </a:r>
            <a:endParaRPr lang="en-US" sz="2400" b="1" dirty="0">
              <a:latin typeface="+mj-lt"/>
            </a:endParaRPr>
          </a:p>
        </p:txBody>
      </p:sp>
      <p:sp>
        <p:nvSpPr>
          <p:cNvPr id="8" name="Text 6"/>
          <p:cNvSpPr/>
          <p:nvPr/>
        </p:nvSpPr>
        <p:spPr>
          <a:xfrm>
            <a:off x="2150032" y="4225485"/>
            <a:ext cx="6415207" cy="1186815"/>
          </a:xfrm>
          <a:prstGeom prst="rect">
            <a:avLst/>
          </a:prstGeom>
          <a:noFill/>
          <a:ln/>
        </p:spPr>
        <p:txBody>
          <a:bodyPr wrap="square" lIns="0" tIns="0" rIns="0" bIns="0" rtlCol="0" anchor="t"/>
          <a:lstStyle/>
          <a:p>
            <a:pPr>
              <a:lnSpc>
                <a:spcPts val="2300"/>
              </a:lnSpc>
            </a:pPr>
            <a:r>
              <a:rPr lang="en-US" dirty="0" err="1"/>
              <a:t>Pada</a:t>
            </a:r>
            <a:r>
              <a:rPr lang="en-US" dirty="0"/>
              <a:t> </a:t>
            </a:r>
            <a:r>
              <a:rPr lang="en-US" dirty="0" err="1"/>
              <a:t>awal</a:t>
            </a:r>
            <a:r>
              <a:rPr lang="en-US" dirty="0"/>
              <a:t> flowchart, </a:t>
            </a:r>
            <a:r>
              <a:rPr lang="en-US" dirty="0" err="1"/>
              <a:t>simbol</a:t>
            </a:r>
            <a:r>
              <a:rPr lang="en-US" dirty="0"/>
              <a:t> </a:t>
            </a:r>
            <a:r>
              <a:rPr lang="en-US" dirty="0" err="1"/>
              <a:t>ini</a:t>
            </a:r>
            <a:r>
              <a:rPr lang="en-US" dirty="0"/>
              <a:t> </a:t>
            </a:r>
            <a:r>
              <a:rPr lang="en-US" dirty="0" err="1"/>
              <a:t>berfungsi</a:t>
            </a:r>
            <a:r>
              <a:rPr lang="en-US" dirty="0"/>
              <a:t> </a:t>
            </a:r>
            <a:r>
              <a:rPr lang="en-US" dirty="0" err="1"/>
              <a:t>untuk</a:t>
            </a:r>
            <a:r>
              <a:rPr lang="en-US" dirty="0"/>
              <a:t> </a:t>
            </a:r>
            <a:r>
              <a:rPr lang="en-US" dirty="0" err="1"/>
              <a:t>menandai</a:t>
            </a:r>
            <a:r>
              <a:rPr lang="en-US" dirty="0"/>
              <a:t> </a:t>
            </a:r>
            <a:r>
              <a:rPr lang="en-US" dirty="0" err="1"/>
              <a:t>titik</a:t>
            </a:r>
            <a:r>
              <a:rPr lang="en-US" dirty="0"/>
              <a:t> </a:t>
            </a:r>
            <a:r>
              <a:rPr lang="en-US" dirty="0" err="1"/>
              <a:t>dimulainya</a:t>
            </a:r>
            <a:r>
              <a:rPr lang="en-US" dirty="0"/>
              <a:t> </a:t>
            </a:r>
            <a:r>
              <a:rPr lang="en-US" dirty="0" err="1"/>
              <a:t>suatu</a:t>
            </a:r>
            <a:r>
              <a:rPr lang="en-US" dirty="0"/>
              <a:t> proses, </a:t>
            </a:r>
            <a:r>
              <a:rPr lang="en-US" dirty="0" err="1"/>
              <a:t>misalnya</a:t>
            </a:r>
            <a:r>
              <a:rPr lang="en-US" dirty="0"/>
              <a:t> </a:t>
            </a:r>
            <a:r>
              <a:rPr lang="en-US" b="1" dirty="0" err="1"/>
              <a:t>Mulai</a:t>
            </a:r>
            <a:r>
              <a:rPr lang="en-US" dirty="0"/>
              <a:t> </a:t>
            </a:r>
            <a:r>
              <a:rPr lang="en-US" dirty="0" err="1"/>
              <a:t>atau</a:t>
            </a:r>
            <a:r>
              <a:rPr lang="en-US" dirty="0"/>
              <a:t> </a:t>
            </a:r>
            <a:r>
              <a:rPr lang="en-US" b="1" dirty="0"/>
              <a:t>Login</a:t>
            </a:r>
            <a:r>
              <a:rPr lang="en-US" dirty="0"/>
              <a:t>. Di </a:t>
            </a:r>
            <a:r>
              <a:rPr lang="en-US" dirty="0" err="1"/>
              <a:t>akhir</a:t>
            </a:r>
            <a:r>
              <a:rPr lang="en-US" dirty="0"/>
              <a:t>, </a:t>
            </a:r>
            <a:r>
              <a:rPr lang="en-US" dirty="0" err="1"/>
              <a:t>simbol</a:t>
            </a:r>
            <a:r>
              <a:rPr lang="en-US" dirty="0"/>
              <a:t> </a:t>
            </a:r>
            <a:r>
              <a:rPr lang="en-US" dirty="0" err="1"/>
              <a:t>ini</a:t>
            </a:r>
            <a:r>
              <a:rPr lang="en-US" dirty="0"/>
              <a:t> </a:t>
            </a:r>
            <a:r>
              <a:rPr lang="en-US" dirty="0" err="1"/>
              <a:t>menunjukkan</a:t>
            </a:r>
            <a:r>
              <a:rPr lang="en-US" dirty="0"/>
              <a:t> </a:t>
            </a:r>
            <a:r>
              <a:rPr lang="en-US" dirty="0" err="1"/>
              <a:t>bahwa</a:t>
            </a:r>
            <a:r>
              <a:rPr lang="en-US" dirty="0"/>
              <a:t> </a:t>
            </a:r>
            <a:r>
              <a:rPr lang="en-US" dirty="0" err="1"/>
              <a:t>seluruh</a:t>
            </a:r>
            <a:r>
              <a:rPr lang="en-US" dirty="0"/>
              <a:t> </a:t>
            </a:r>
            <a:r>
              <a:rPr lang="en-US" dirty="0" err="1"/>
              <a:t>rangkaian</a:t>
            </a:r>
            <a:r>
              <a:rPr lang="en-US" dirty="0"/>
              <a:t> proses </a:t>
            </a:r>
            <a:r>
              <a:rPr lang="en-US" dirty="0" err="1"/>
              <a:t>telah</a:t>
            </a:r>
            <a:r>
              <a:rPr lang="en-US" dirty="0"/>
              <a:t> </a:t>
            </a:r>
            <a:r>
              <a:rPr lang="en-US" dirty="0" err="1"/>
              <a:t>selesai</a:t>
            </a:r>
            <a:r>
              <a:rPr lang="en-US" dirty="0"/>
              <a:t>.</a:t>
            </a:r>
            <a:endParaRPr lang="en-US" sz="1600" b="1" dirty="0"/>
          </a:p>
        </p:txBody>
      </p:sp>
      <p:sp>
        <p:nvSpPr>
          <p:cNvPr id="10" name="Text 8"/>
          <p:cNvSpPr/>
          <p:nvPr/>
        </p:nvSpPr>
        <p:spPr>
          <a:xfrm>
            <a:off x="2176665" y="5480500"/>
            <a:ext cx="4691063" cy="307300"/>
          </a:xfrm>
          <a:prstGeom prst="rect">
            <a:avLst/>
          </a:prstGeom>
          <a:noFill/>
          <a:ln/>
        </p:spPr>
        <p:txBody>
          <a:bodyPr wrap="none" lIns="0" tIns="0" rIns="0" bIns="0" rtlCol="0" anchor="t"/>
          <a:lstStyle/>
          <a:p>
            <a:pPr marL="0" indent="0" algn="l">
              <a:lnSpc>
                <a:spcPts val="2400"/>
              </a:lnSpc>
              <a:buNone/>
            </a:pPr>
            <a:r>
              <a:rPr lang="en-US" sz="2400" b="1" dirty="0" err="1" smtClean="0">
                <a:solidFill>
                  <a:srgbClr val="3B3535"/>
                </a:solidFill>
                <a:latin typeface="+mj-lt"/>
                <a:ea typeface="Alexandria Semi Bold" pitchFamily="34" charset="-122"/>
                <a:cs typeface="Alexandria Semi Bold" pitchFamily="34" charset="-120"/>
              </a:rPr>
              <a:t>Keputusan</a:t>
            </a:r>
            <a:endParaRPr lang="en-US" sz="2400" b="1" dirty="0">
              <a:latin typeface="+mj-lt"/>
            </a:endParaRPr>
          </a:p>
        </p:txBody>
      </p:sp>
      <p:sp>
        <p:nvSpPr>
          <p:cNvPr id="11" name="Text 9"/>
          <p:cNvSpPr/>
          <p:nvPr/>
        </p:nvSpPr>
        <p:spPr>
          <a:xfrm>
            <a:off x="2176665" y="5865162"/>
            <a:ext cx="6415207" cy="1186815"/>
          </a:xfrm>
          <a:prstGeom prst="rect">
            <a:avLst/>
          </a:prstGeom>
          <a:noFill/>
          <a:ln/>
        </p:spPr>
        <p:txBody>
          <a:bodyPr wrap="square" lIns="0" tIns="0" rIns="0" bIns="0" rtlCol="0" anchor="t"/>
          <a:lstStyle/>
          <a:p>
            <a:r>
              <a:rPr lang="en-US" dirty="0" err="1"/>
              <a:t>Simbol</a:t>
            </a:r>
            <a:r>
              <a:rPr lang="en-US" dirty="0"/>
              <a:t> </a:t>
            </a:r>
            <a:r>
              <a:rPr lang="en-US" dirty="0" err="1"/>
              <a:t>keputusan</a:t>
            </a:r>
            <a:r>
              <a:rPr lang="en-US" dirty="0"/>
              <a:t> </a:t>
            </a:r>
            <a:r>
              <a:rPr lang="en-US" dirty="0" err="1"/>
              <a:t>berbentuk</a:t>
            </a:r>
            <a:r>
              <a:rPr lang="en-US" dirty="0"/>
              <a:t> </a:t>
            </a:r>
            <a:r>
              <a:rPr lang="en-US" dirty="0" err="1"/>
              <a:t>belah</a:t>
            </a:r>
            <a:r>
              <a:rPr lang="en-US" dirty="0"/>
              <a:t> </a:t>
            </a:r>
            <a:r>
              <a:rPr lang="en-US" dirty="0" err="1"/>
              <a:t>ketupat</a:t>
            </a:r>
            <a:r>
              <a:rPr lang="en-US" dirty="0"/>
              <a:t> </a:t>
            </a:r>
            <a:r>
              <a:rPr lang="en-US" dirty="0" err="1"/>
              <a:t>dan</a:t>
            </a:r>
            <a:r>
              <a:rPr lang="en-US" dirty="0"/>
              <a:t> </a:t>
            </a:r>
            <a:r>
              <a:rPr lang="en-US" dirty="0" err="1"/>
              <a:t>digunakan</a:t>
            </a:r>
            <a:r>
              <a:rPr lang="en-US" dirty="0"/>
              <a:t> </a:t>
            </a:r>
            <a:r>
              <a:rPr lang="en-US" dirty="0" err="1"/>
              <a:t>saat</a:t>
            </a:r>
            <a:r>
              <a:rPr lang="en-US" dirty="0"/>
              <a:t> </a:t>
            </a:r>
            <a:r>
              <a:rPr lang="en-US" dirty="0" err="1"/>
              <a:t>ada</a:t>
            </a:r>
            <a:r>
              <a:rPr lang="en-US" dirty="0"/>
              <a:t> </a:t>
            </a:r>
            <a:r>
              <a:rPr lang="en-US" dirty="0" err="1"/>
              <a:t>pilihan</a:t>
            </a:r>
            <a:r>
              <a:rPr lang="en-US" dirty="0"/>
              <a:t> </a:t>
            </a:r>
            <a:r>
              <a:rPr lang="en-US" dirty="0" err="1"/>
              <a:t>atau</a:t>
            </a:r>
            <a:r>
              <a:rPr lang="en-US" dirty="0"/>
              <a:t> </a:t>
            </a:r>
            <a:r>
              <a:rPr lang="en-US" dirty="0" err="1"/>
              <a:t>percabangan</a:t>
            </a:r>
            <a:r>
              <a:rPr lang="en-US" dirty="0"/>
              <a:t> </a:t>
            </a:r>
            <a:r>
              <a:rPr lang="en-US" dirty="0" err="1"/>
              <a:t>dalam</a:t>
            </a:r>
            <a:r>
              <a:rPr lang="en-US" dirty="0"/>
              <a:t> </a:t>
            </a:r>
            <a:r>
              <a:rPr lang="en-US" dirty="0" err="1"/>
              <a:t>alur</a:t>
            </a:r>
            <a:r>
              <a:rPr lang="en-US" dirty="0"/>
              <a:t> proses. </a:t>
            </a:r>
            <a:r>
              <a:rPr lang="en-US" dirty="0" err="1"/>
              <a:t>Simbol</a:t>
            </a:r>
            <a:r>
              <a:rPr lang="en-US" dirty="0"/>
              <a:t> </a:t>
            </a:r>
            <a:r>
              <a:rPr lang="en-US" dirty="0" err="1"/>
              <a:t>ini</a:t>
            </a:r>
            <a:r>
              <a:rPr lang="en-US" dirty="0"/>
              <a:t> </a:t>
            </a:r>
            <a:r>
              <a:rPr lang="en-US" dirty="0" err="1"/>
              <a:t>memastikan</a:t>
            </a:r>
            <a:r>
              <a:rPr lang="en-US" dirty="0"/>
              <a:t> </a:t>
            </a:r>
            <a:r>
              <a:rPr lang="en-US" dirty="0" err="1"/>
              <a:t>alur</a:t>
            </a:r>
            <a:r>
              <a:rPr lang="en-US" dirty="0"/>
              <a:t> proses </a:t>
            </a:r>
            <a:r>
              <a:rPr lang="en-US" dirty="0" err="1"/>
              <a:t>bisa</a:t>
            </a:r>
            <a:r>
              <a:rPr lang="en-US" dirty="0"/>
              <a:t> </a:t>
            </a:r>
            <a:r>
              <a:rPr lang="en-US" dirty="0" err="1"/>
              <a:t>berubah</a:t>
            </a:r>
            <a:r>
              <a:rPr lang="en-US" dirty="0"/>
              <a:t> </a:t>
            </a:r>
            <a:r>
              <a:rPr lang="en-US" dirty="0" err="1"/>
              <a:t>sesuai</a:t>
            </a:r>
            <a:r>
              <a:rPr lang="en-US" dirty="0"/>
              <a:t> </a:t>
            </a:r>
            <a:r>
              <a:rPr lang="en-US" dirty="0" err="1"/>
              <a:t>kondisi</a:t>
            </a:r>
            <a:r>
              <a:rPr lang="en-US" dirty="0"/>
              <a:t> yang </a:t>
            </a:r>
            <a:r>
              <a:rPr lang="en-US" dirty="0" err="1"/>
              <a:t>terjadi</a:t>
            </a:r>
            <a:r>
              <a:rPr lang="en-US" dirty="0"/>
              <a:t> </a:t>
            </a:r>
            <a:r>
              <a:rPr lang="en-US" dirty="0" err="1"/>
              <a:t>atau</a:t>
            </a:r>
            <a:r>
              <a:rPr lang="en-US" dirty="0"/>
              <a:t> </a:t>
            </a:r>
            <a:r>
              <a:rPr lang="en-US" dirty="0" err="1"/>
              <a:t>keputusan</a:t>
            </a:r>
            <a:r>
              <a:rPr lang="en-US" dirty="0"/>
              <a:t> yang </a:t>
            </a:r>
            <a:r>
              <a:rPr lang="en-US" dirty="0" err="1"/>
              <a:t>dibuat</a:t>
            </a:r>
            <a:r>
              <a:rPr lang="en-US" dirty="0"/>
              <a:t>.</a:t>
            </a:r>
          </a:p>
          <a:p>
            <a:r>
              <a:rPr lang="en-US" dirty="0" err="1"/>
              <a:t>Keputusan</a:t>
            </a:r>
            <a:r>
              <a:rPr lang="en-US" dirty="0"/>
              <a:t> yang </a:t>
            </a:r>
            <a:r>
              <a:rPr lang="en-US" dirty="0" err="1"/>
              <a:t>dimaksud</a:t>
            </a:r>
            <a:r>
              <a:rPr lang="en-US" dirty="0"/>
              <a:t> </a:t>
            </a:r>
            <a:r>
              <a:rPr lang="en-US" dirty="0" err="1"/>
              <a:t>bisa</a:t>
            </a:r>
            <a:r>
              <a:rPr lang="en-US" dirty="0"/>
              <a:t> </a:t>
            </a:r>
            <a:r>
              <a:rPr lang="en-US" dirty="0" err="1"/>
              <a:t>berupa</a:t>
            </a:r>
            <a:r>
              <a:rPr lang="en-US" dirty="0"/>
              <a:t> </a:t>
            </a:r>
            <a:r>
              <a:rPr lang="en-US" dirty="0" err="1"/>
              <a:t>jawaban</a:t>
            </a:r>
            <a:r>
              <a:rPr lang="en-US" dirty="0"/>
              <a:t> </a:t>
            </a:r>
            <a:r>
              <a:rPr lang="en-US" b="1" dirty="0" err="1"/>
              <a:t>ya</a:t>
            </a:r>
            <a:r>
              <a:rPr lang="en-US" dirty="0"/>
              <a:t> </a:t>
            </a:r>
            <a:r>
              <a:rPr lang="en-US" dirty="0" err="1"/>
              <a:t>atau</a:t>
            </a:r>
            <a:r>
              <a:rPr lang="en-US" dirty="0"/>
              <a:t> </a:t>
            </a:r>
            <a:r>
              <a:rPr lang="en-US" b="1" dirty="0" err="1"/>
              <a:t>tidak</a:t>
            </a:r>
            <a:r>
              <a:rPr lang="en-US" dirty="0"/>
              <a:t>, </a:t>
            </a:r>
            <a:r>
              <a:rPr lang="en-US" b="1" dirty="0" err="1"/>
              <a:t>benar</a:t>
            </a:r>
            <a:r>
              <a:rPr lang="en-US" dirty="0"/>
              <a:t> </a:t>
            </a:r>
            <a:r>
              <a:rPr lang="en-US" dirty="0" err="1"/>
              <a:t>atau</a:t>
            </a:r>
            <a:r>
              <a:rPr lang="en-US" dirty="0"/>
              <a:t> </a:t>
            </a:r>
            <a:r>
              <a:rPr lang="en-US" b="1" dirty="0" err="1"/>
              <a:t>salah</a:t>
            </a:r>
            <a:r>
              <a:rPr lang="en-US" dirty="0"/>
              <a:t>, yang </a:t>
            </a:r>
            <a:r>
              <a:rPr lang="en-US" dirty="0" err="1"/>
              <a:t>memengaruhi</a:t>
            </a:r>
            <a:r>
              <a:rPr lang="en-US" dirty="0"/>
              <a:t> </a:t>
            </a:r>
            <a:r>
              <a:rPr lang="en-US" dirty="0" err="1"/>
              <a:t>langkah</a:t>
            </a:r>
            <a:r>
              <a:rPr lang="en-US" dirty="0"/>
              <a:t> </a:t>
            </a:r>
            <a:r>
              <a:rPr lang="en-US" dirty="0" err="1"/>
              <a:t>berikutnya</a:t>
            </a:r>
            <a:r>
              <a:rPr lang="en-US" dirty="0"/>
              <a:t> </a:t>
            </a:r>
            <a:r>
              <a:rPr lang="en-US" dirty="0" err="1"/>
              <a:t>dalam</a:t>
            </a:r>
            <a:r>
              <a:rPr lang="en-US" dirty="0"/>
              <a:t> flowchart.</a:t>
            </a:r>
          </a:p>
          <a:p>
            <a:pPr marL="0" indent="0" algn="l">
              <a:lnSpc>
                <a:spcPts val="2300"/>
              </a:lnSpc>
              <a:buNone/>
            </a:pPr>
            <a:endParaRPr lang="en-US" sz="1600" b="1" dirty="0"/>
          </a:p>
        </p:txBody>
      </p:sp>
      <p:sp>
        <p:nvSpPr>
          <p:cNvPr id="13" name="Rounded Rectangle 12"/>
          <p:cNvSpPr/>
          <p:nvPr/>
        </p:nvSpPr>
        <p:spPr>
          <a:xfrm>
            <a:off x="12801600" y="7631722"/>
            <a:ext cx="1688123" cy="54512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owchart: Alternate Process 14"/>
          <p:cNvSpPr/>
          <p:nvPr/>
        </p:nvSpPr>
        <p:spPr>
          <a:xfrm>
            <a:off x="624141" y="1376613"/>
            <a:ext cx="1276735" cy="560534"/>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Process 15"/>
          <p:cNvSpPr/>
          <p:nvPr/>
        </p:nvSpPr>
        <p:spPr>
          <a:xfrm>
            <a:off x="676896" y="3956541"/>
            <a:ext cx="1276735" cy="554433"/>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Decision 16"/>
          <p:cNvSpPr/>
          <p:nvPr/>
        </p:nvSpPr>
        <p:spPr>
          <a:xfrm>
            <a:off x="641726" y="5525107"/>
            <a:ext cx="1402796" cy="68226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p:cNvCxnSpPr/>
          <p:nvPr/>
        </p:nvCxnSpPr>
        <p:spPr>
          <a:xfrm>
            <a:off x="8932976" y="4014308"/>
            <a:ext cx="110783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10247290" y="1332729"/>
            <a:ext cx="1874231" cy="400110"/>
          </a:xfrm>
          <a:prstGeom prst="rect">
            <a:avLst/>
          </a:prstGeom>
        </p:spPr>
        <p:txBody>
          <a:bodyPr wrap="none">
            <a:spAutoFit/>
          </a:bodyPr>
          <a:lstStyle/>
          <a:p>
            <a:pPr>
              <a:lnSpc>
                <a:spcPts val="2400"/>
              </a:lnSpc>
            </a:pPr>
            <a:r>
              <a:rPr lang="en-US" sz="2400" b="1" dirty="0" smtClean="0">
                <a:solidFill>
                  <a:srgbClr val="3B3535"/>
                </a:solidFill>
                <a:latin typeface="+mj-lt"/>
                <a:cs typeface="Alexandria Semi Bold" pitchFamily="34" charset="-120"/>
              </a:rPr>
              <a:t>Input/ Output</a:t>
            </a:r>
            <a:endParaRPr lang="en-US" sz="2400" b="1" dirty="0">
              <a:latin typeface="+mj-lt"/>
            </a:endParaRPr>
          </a:p>
        </p:txBody>
      </p:sp>
      <p:sp>
        <p:nvSpPr>
          <p:cNvPr id="22" name="Rectangle 21"/>
          <p:cNvSpPr/>
          <p:nvPr/>
        </p:nvSpPr>
        <p:spPr>
          <a:xfrm>
            <a:off x="10243293" y="1656726"/>
            <a:ext cx="4457444" cy="1567096"/>
          </a:xfrm>
          <a:prstGeom prst="rect">
            <a:avLst/>
          </a:prstGeom>
        </p:spPr>
        <p:txBody>
          <a:bodyPr wrap="square">
            <a:spAutoFit/>
          </a:bodyPr>
          <a:lstStyle/>
          <a:p>
            <a:pPr>
              <a:lnSpc>
                <a:spcPts val="2300"/>
              </a:lnSpc>
            </a:pPr>
            <a:r>
              <a:rPr lang="en-US" dirty="0" err="1" smtClean="0"/>
              <a:t>Pada</a:t>
            </a:r>
            <a:r>
              <a:rPr lang="en-US" dirty="0" smtClean="0"/>
              <a:t> </a:t>
            </a:r>
            <a:r>
              <a:rPr lang="en-US" dirty="0" err="1" smtClean="0"/>
              <a:t>awal</a:t>
            </a:r>
            <a:r>
              <a:rPr lang="en-US" dirty="0" smtClean="0"/>
              <a:t> flowchart, </a:t>
            </a:r>
            <a:r>
              <a:rPr lang="en-US" dirty="0" err="1" smtClean="0"/>
              <a:t>simbol</a:t>
            </a:r>
            <a:r>
              <a:rPr lang="en-US" dirty="0" smtClean="0"/>
              <a:t> </a:t>
            </a:r>
            <a:r>
              <a:rPr lang="en-US" dirty="0" err="1" smtClean="0"/>
              <a:t>ini</a:t>
            </a:r>
            <a:r>
              <a:rPr lang="en-US" dirty="0" smtClean="0"/>
              <a:t> </a:t>
            </a:r>
            <a:r>
              <a:rPr lang="en-US" dirty="0" err="1" smtClean="0"/>
              <a:t>berfungsi</a:t>
            </a:r>
            <a:r>
              <a:rPr lang="en-US" dirty="0" smtClean="0"/>
              <a:t> </a:t>
            </a:r>
            <a:r>
              <a:rPr lang="en-US" dirty="0" err="1" smtClean="0"/>
              <a:t>untuk</a:t>
            </a:r>
            <a:r>
              <a:rPr lang="en-US" dirty="0" smtClean="0"/>
              <a:t> </a:t>
            </a:r>
            <a:r>
              <a:rPr lang="en-US" dirty="0" err="1" smtClean="0"/>
              <a:t>menandai</a:t>
            </a:r>
            <a:r>
              <a:rPr lang="en-US" dirty="0" smtClean="0"/>
              <a:t> </a:t>
            </a:r>
            <a:r>
              <a:rPr lang="en-US" dirty="0" err="1" smtClean="0"/>
              <a:t>titik</a:t>
            </a:r>
            <a:r>
              <a:rPr lang="en-US" dirty="0" smtClean="0"/>
              <a:t> </a:t>
            </a:r>
            <a:r>
              <a:rPr lang="en-US" dirty="0" err="1" smtClean="0"/>
              <a:t>dimulainya</a:t>
            </a:r>
            <a:r>
              <a:rPr lang="en-US" dirty="0" smtClean="0"/>
              <a:t> </a:t>
            </a:r>
            <a:r>
              <a:rPr lang="en-US" dirty="0" err="1" smtClean="0"/>
              <a:t>suatu</a:t>
            </a:r>
            <a:r>
              <a:rPr lang="en-US" dirty="0" smtClean="0"/>
              <a:t> proses, </a:t>
            </a:r>
            <a:r>
              <a:rPr lang="en-US" dirty="0" err="1" smtClean="0"/>
              <a:t>misalnya</a:t>
            </a:r>
            <a:r>
              <a:rPr lang="en-US" dirty="0" smtClean="0"/>
              <a:t> </a:t>
            </a:r>
            <a:r>
              <a:rPr lang="en-US" b="1" dirty="0" err="1" smtClean="0"/>
              <a:t>Mulai</a:t>
            </a:r>
            <a:r>
              <a:rPr lang="en-US" dirty="0" smtClean="0"/>
              <a:t> </a:t>
            </a:r>
            <a:r>
              <a:rPr lang="en-US" dirty="0" err="1" smtClean="0"/>
              <a:t>atau</a:t>
            </a:r>
            <a:r>
              <a:rPr lang="en-US" dirty="0" smtClean="0"/>
              <a:t> </a:t>
            </a:r>
            <a:r>
              <a:rPr lang="en-US" b="1" dirty="0" smtClean="0"/>
              <a:t>Login</a:t>
            </a:r>
            <a:r>
              <a:rPr lang="en-US" dirty="0" smtClean="0"/>
              <a:t>. Di </a:t>
            </a:r>
            <a:r>
              <a:rPr lang="en-US" dirty="0" err="1" smtClean="0"/>
              <a:t>akhir</a:t>
            </a:r>
            <a:r>
              <a:rPr lang="en-US" dirty="0" smtClean="0"/>
              <a:t>, </a:t>
            </a:r>
            <a:r>
              <a:rPr lang="en-US" dirty="0" err="1" smtClean="0"/>
              <a:t>simbol</a:t>
            </a:r>
            <a:r>
              <a:rPr lang="en-US" dirty="0" smtClean="0"/>
              <a:t> </a:t>
            </a:r>
            <a:r>
              <a:rPr lang="en-US" dirty="0" err="1" smtClean="0"/>
              <a:t>ini</a:t>
            </a:r>
            <a:r>
              <a:rPr lang="en-US" dirty="0" smtClean="0"/>
              <a:t> </a:t>
            </a:r>
            <a:r>
              <a:rPr lang="en-US" dirty="0" err="1" smtClean="0"/>
              <a:t>menunjukkan</a:t>
            </a:r>
            <a:r>
              <a:rPr lang="en-US" dirty="0" smtClean="0"/>
              <a:t> </a:t>
            </a:r>
            <a:r>
              <a:rPr lang="en-US" dirty="0" err="1" smtClean="0"/>
              <a:t>bahwa</a:t>
            </a:r>
            <a:r>
              <a:rPr lang="en-US" dirty="0" smtClean="0"/>
              <a:t> </a:t>
            </a:r>
            <a:r>
              <a:rPr lang="en-US" dirty="0" err="1" smtClean="0"/>
              <a:t>seluruh</a:t>
            </a:r>
            <a:r>
              <a:rPr lang="en-US" dirty="0" smtClean="0"/>
              <a:t> </a:t>
            </a:r>
            <a:r>
              <a:rPr lang="en-US" dirty="0" err="1" smtClean="0"/>
              <a:t>rangkaian</a:t>
            </a:r>
            <a:r>
              <a:rPr lang="en-US" dirty="0" smtClean="0"/>
              <a:t> proses </a:t>
            </a:r>
            <a:r>
              <a:rPr lang="en-US" dirty="0" err="1" smtClean="0"/>
              <a:t>telah</a:t>
            </a:r>
            <a:r>
              <a:rPr lang="en-US" dirty="0" smtClean="0"/>
              <a:t> </a:t>
            </a:r>
            <a:r>
              <a:rPr lang="en-US" dirty="0" err="1" smtClean="0"/>
              <a:t>selesai</a:t>
            </a:r>
            <a:r>
              <a:rPr lang="en-US" dirty="0" smtClean="0"/>
              <a:t>.</a:t>
            </a:r>
            <a:endParaRPr lang="en-US" sz="1600" b="1" dirty="0"/>
          </a:p>
        </p:txBody>
      </p:sp>
      <p:sp>
        <p:nvSpPr>
          <p:cNvPr id="23" name="Rectangle 22"/>
          <p:cNvSpPr/>
          <p:nvPr/>
        </p:nvSpPr>
        <p:spPr>
          <a:xfrm>
            <a:off x="10238953" y="3861271"/>
            <a:ext cx="1620636" cy="404406"/>
          </a:xfrm>
          <a:prstGeom prst="rect">
            <a:avLst/>
          </a:prstGeom>
        </p:spPr>
        <p:txBody>
          <a:bodyPr wrap="none">
            <a:spAutoFit/>
          </a:bodyPr>
          <a:lstStyle/>
          <a:p>
            <a:pPr>
              <a:lnSpc>
                <a:spcPts val="2400"/>
              </a:lnSpc>
            </a:pPr>
            <a:r>
              <a:rPr lang="en-US" sz="2400" b="1" dirty="0" err="1" smtClean="0">
                <a:solidFill>
                  <a:srgbClr val="3B3535"/>
                </a:solidFill>
                <a:latin typeface="+mj-lt"/>
                <a:cs typeface="Alexandria Semi Bold" pitchFamily="34" charset="-120"/>
              </a:rPr>
              <a:t>Garis</a:t>
            </a:r>
            <a:r>
              <a:rPr lang="en-US" sz="2400" b="1" dirty="0" smtClean="0">
                <a:solidFill>
                  <a:srgbClr val="3B3535"/>
                </a:solidFill>
                <a:latin typeface="+mj-lt"/>
                <a:cs typeface="Alexandria Semi Bold" pitchFamily="34" charset="-120"/>
              </a:rPr>
              <a:t> </a:t>
            </a:r>
            <a:r>
              <a:rPr lang="en-US" sz="2400" b="1" dirty="0" err="1" smtClean="0">
                <a:solidFill>
                  <a:srgbClr val="3B3535"/>
                </a:solidFill>
                <a:latin typeface="+mj-lt"/>
                <a:cs typeface="Alexandria Semi Bold" pitchFamily="34" charset="-120"/>
              </a:rPr>
              <a:t>Panah</a:t>
            </a:r>
            <a:endParaRPr lang="en-US" sz="2400" b="1" dirty="0">
              <a:latin typeface="+mj-lt"/>
            </a:endParaRPr>
          </a:p>
        </p:txBody>
      </p:sp>
      <p:sp>
        <p:nvSpPr>
          <p:cNvPr id="24" name="Flowchart: Data 23"/>
          <p:cNvSpPr/>
          <p:nvPr/>
        </p:nvSpPr>
        <p:spPr>
          <a:xfrm>
            <a:off x="8880231" y="1385484"/>
            <a:ext cx="1301256" cy="551663"/>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10247290" y="4225162"/>
            <a:ext cx="4079636" cy="1569660"/>
          </a:xfrm>
          <a:prstGeom prst="rect">
            <a:avLst/>
          </a:prstGeom>
        </p:spPr>
        <p:txBody>
          <a:bodyPr wrap="square">
            <a:spAutoFit/>
          </a:bodyPr>
          <a:lstStyle/>
          <a:p>
            <a:r>
              <a:rPr lang="en-US" sz="1600" b="0" i="0" dirty="0" err="1" smtClean="0">
                <a:effectLst/>
              </a:rPr>
              <a:t>Garis</a:t>
            </a:r>
            <a:r>
              <a:rPr lang="en-US" sz="1600" b="0" i="0" dirty="0" smtClean="0">
                <a:effectLst/>
              </a:rPr>
              <a:t> </a:t>
            </a:r>
            <a:r>
              <a:rPr lang="en-US" sz="1600" b="0" i="0" dirty="0" err="1" smtClean="0">
                <a:effectLst/>
              </a:rPr>
              <a:t>ini</a:t>
            </a:r>
            <a:r>
              <a:rPr lang="en-US" sz="1600" b="0" i="0" dirty="0" smtClean="0">
                <a:effectLst/>
              </a:rPr>
              <a:t> </a:t>
            </a:r>
            <a:r>
              <a:rPr lang="en-US" sz="1600" b="0" i="0" dirty="0" err="1" smtClean="0">
                <a:effectLst/>
              </a:rPr>
              <a:t>menghubungkan</a:t>
            </a:r>
            <a:r>
              <a:rPr lang="en-US" sz="1600" b="0" i="0" dirty="0" smtClean="0">
                <a:effectLst/>
              </a:rPr>
              <a:t> </a:t>
            </a:r>
            <a:r>
              <a:rPr lang="en-US" sz="1600" b="0" i="0" dirty="0" err="1" smtClean="0">
                <a:effectLst/>
              </a:rPr>
              <a:t>berbagai</a:t>
            </a:r>
            <a:r>
              <a:rPr lang="en-US" sz="1600" b="0" i="0" dirty="0" smtClean="0">
                <a:effectLst/>
              </a:rPr>
              <a:t> </a:t>
            </a:r>
            <a:r>
              <a:rPr lang="en-US" sz="1600" b="0" i="0" dirty="0" err="1" smtClean="0">
                <a:effectLst/>
              </a:rPr>
              <a:t>langkah</a:t>
            </a:r>
            <a:r>
              <a:rPr lang="en-US" sz="1600" b="0" i="0" dirty="0" smtClean="0">
                <a:effectLst/>
              </a:rPr>
              <a:t> </a:t>
            </a:r>
            <a:r>
              <a:rPr lang="en-US" sz="1600" b="0" i="0" dirty="0" err="1" smtClean="0">
                <a:effectLst/>
              </a:rPr>
              <a:t>dalam</a:t>
            </a:r>
            <a:r>
              <a:rPr lang="en-US" sz="1600" b="0" i="0" dirty="0" smtClean="0">
                <a:effectLst/>
              </a:rPr>
              <a:t> flowchart </a:t>
            </a:r>
            <a:r>
              <a:rPr lang="en-US" sz="1600" b="0" i="0" dirty="0" err="1" smtClean="0">
                <a:effectLst/>
              </a:rPr>
              <a:t>untuk</a:t>
            </a:r>
            <a:r>
              <a:rPr lang="en-US" sz="1600" b="0" i="0" dirty="0" smtClean="0">
                <a:effectLst/>
              </a:rPr>
              <a:t> </a:t>
            </a:r>
            <a:r>
              <a:rPr lang="en-US" sz="1600" b="0" i="0" dirty="0" err="1" smtClean="0">
                <a:effectLst/>
              </a:rPr>
              <a:t>menunjukkan</a:t>
            </a:r>
            <a:r>
              <a:rPr lang="en-US" sz="1600" b="0" i="0" dirty="0" smtClean="0">
                <a:effectLst/>
              </a:rPr>
              <a:t> </a:t>
            </a:r>
            <a:r>
              <a:rPr lang="en-US" sz="1600" b="0" i="0" dirty="0" err="1" smtClean="0">
                <a:effectLst/>
              </a:rPr>
              <a:t>urutan</a:t>
            </a:r>
            <a:r>
              <a:rPr lang="en-US" sz="1600" b="0" i="0" dirty="0" smtClean="0">
                <a:effectLst/>
              </a:rPr>
              <a:t> </a:t>
            </a:r>
            <a:r>
              <a:rPr lang="en-US" sz="1600" b="0" i="0" dirty="0" err="1" smtClean="0">
                <a:effectLst/>
              </a:rPr>
              <a:t>atau</a:t>
            </a:r>
            <a:r>
              <a:rPr lang="en-US" sz="1600" b="0" i="0" dirty="0" smtClean="0">
                <a:effectLst/>
              </a:rPr>
              <a:t> </a:t>
            </a:r>
            <a:r>
              <a:rPr lang="en-US" sz="1600" b="0" i="0" dirty="0" err="1" smtClean="0">
                <a:effectLst/>
              </a:rPr>
              <a:t>arah</a:t>
            </a:r>
            <a:r>
              <a:rPr lang="en-US" sz="1600" b="0" i="0" dirty="0" smtClean="0">
                <a:effectLst/>
              </a:rPr>
              <a:t> proses. </a:t>
            </a:r>
            <a:r>
              <a:rPr lang="en-US" sz="1600" b="0" i="0" dirty="0" err="1" smtClean="0">
                <a:effectLst/>
              </a:rPr>
              <a:t>Sering</a:t>
            </a:r>
            <a:r>
              <a:rPr lang="en-US" sz="1600" b="0" i="0" dirty="0" smtClean="0">
                <a:effectLst/>
              </a:rPr>
              <a:t> </a:t>
            </a:r>
            <a:r>
              <a:rPr lang="en-US" sz="1600" b="0" i="0" dirty="0" err="1" smtClean="0">
                <a:effectLst/>
              </a:rPr>
              <a:t>juga</a:t>
            </a:r>
            <a:r>
              <a:rPr lang="en-US" sz="1600" b="0" i="0" dirty="0" smtClean="0">
                <a:effectLst/>
              </a:rPr>
              <a:t> </a:t>
            </a:r>
            <a:r>
              <a:rPr lang="en-US" sz="1600" b="0" i="0" dirty="0" err="1" smtClean="0">
                <a:effectLst/>
              </a:rPr>
              <a:t>disebut</a:t>
            </a:r>
            <a:r>
              <a:rPr lang="en-US" sz="1600" b="0" i="0" dirty="0" smtClean="0">
                <a:effectLst/>
              </a:rPr>
              <a:t> </a:t>
            </a:r>
            <a:r>
              <a:rPr lang="en-US" sz="1600" b="1" i="0" dirty="0" err="1" smtClean="0">
                <a:effectLst/>
              </a:rPr>
              <a:t>garis</a:t>
            </a:r>
            <a:r>
              <a:rPr lang="en-US" sz="1600" b="1" i="0" dirty="0" smtClean="0">
                <a:effectLst/>
              </a:rPr>
              <a:t> </a:t>
            </a:r>
            <a:r>
              <a:rPr lang="en-US" sz="1600" b="1" i="0" dirty="0" err="1" smtClean="0">
                <a:effectLst/>
              </a:rPr>
              <a:t>alir</a:t>
            </a:r>
            <a:r>
              <a:rPr lang="en-US" sz="1600" b="0" i="0" dirty="0" smtClean="0">
                <a:effectLst/>
              </a:rPr>
              <a:t>, </a:t>
            </a:r>
            <a:r>
              <a:rPr lang="en-US" sz="1600" b="0" i="0" dirty="0" err="1" smtClean="0">
                <a:effectLst/>
              </a:rPr>
              <a:t>simbol</a:t>
            </a:r>
            <a:r>
              <a:rPr lang="en-US" sz="1600" b="0" i="0" dirty="0" smtClean="0">
                <a:effectLst/>
              </a:rPr>
              <a:t> </a:t>
            </a:r>
            <a:r>
              <a:rPr lang="en-US" sz="1600" b="0" i="0" dirty="0" err="1" smtClean="0">
                <a:effectLst/>
              </a:rPr>
              <a:t>ini</a:t>
            </a:r>
            <a:r>
              <a:rPr lang="en-US" sz="1600" b="0" i="0" dirty="0" smtClean="0">
                <a:effectLst/>
              </a:rPr>
              <a:t> </a:t>
            </a:r>
            <a:r>
              <a:rPr lang="en-US" sz="1600" b="0" i="0" dirty="0" err="1" smtClean="0">
                <a:effectLst/>
              </a:rPr>
              <a:t>mengarahkan</a:t>
            </a:r>
            <a:r>
              <a:rPr lang="en-US" sz="1600" b="0" i="0" dirty="0" smtClean="0">
                <a:effectLst/>
              </a:rPr>
              <a:t> </a:t>
            </a:r>
            <a:r>
              <a:rPr lang="en-US" sz="1600" b="0" i="0" dirty="0" err="1" smtClean="0">
                <a:effectLst/>
              </a:rPr>
              <a:t>pembaca</a:t>
            </a:r>
            <a:r>
              <a:rPr lang="en-US" sz="1600" b="0" i="0" dirty="0" smtClean="0">
                <a:effectLst/>
              </a:rPr>
              <a:t> </a:t>
            </a:r>
            <a:r>
              <a:rPr lang="en-US" sz="1600" b="0" i="0" dirty="0" err="1" smtClean="0">
                <a:effectLst/>
              </a:rPr>
              <a:t>dari</a:t>
            </a:r>
            <a:r>
              <a:rPr lang="en-US" sz="1600" b="0" i="0" dirty="0" smtClean="0">
                <a:effectLst/>
              </a:rPr>
              <a:t> </a:t>
            </a:r>
            <a:r>
              <a:rPr lang="en-US" sz="1600" b="0" i="0" dirty="0" err="1" smtClean="0">
                <a:effectLst/>
              </a:rPr>
              <a:t>satu</a:t>
            </a:r>
            <a:r>
              <a:rPr lang="en-US" sz="1600" b="0" i="0" dirty="0" smtClean="0">
                <a:effectLst/>
              </a:rPr>
              <a:t> </a:t>
            </a:r>
            <a:r>
              <a:rPr lang="en-US" sz="1600" b="0" i="0" dirty="0" err="1" smtClean="0">
                <a:effectLst/>
              </a:rPr>
              <a:t>simbol</a:t>
            </a:r>
            <a:r>
              <a:rPr lang="en-US" sz="1600" b="0" i="0" dirty="0" smtClean="0">
                <a:effectLst/>
              </a:rPr>
              <a:t> </a:t>
            </a:r>
            <a:r>
              <a:rPr lang="en-US" sz="1600" b="0" i="0" dirty="0" err="1" smtClean="0">
                <a:effectLst/>
              </a:rPr>
              <a:t>ke</a:t>
            </a:r>
            <a:r>
              <a:rPr lang="en-US" sz="1600" b="0" i="0" dirty="0" smtClean="0">
                <a:effectLst/>
              </a:rPr>
              <a:t> </a:t>
            </a:r>
            <a:r>
              <a:rPr lang="en-US" sz="1600" b="0" i="0" dirty="0" err="1" smtClean="0">
                <a:effectLst/>
              </a:rPr>
              <a:t>simbol</a:t>
            </a:r>
            <a:r>
              <a:rPr lang="en-US" sz="1600" b="0" i="0" dirty="0" smtClean="0">
                <a:effectLst/>
              </a:rPr>
              <a:t> </a:t>
            </a:r>
            <a:r>
              <a:rPr lang="en-US" sz="1600" b="0" i="0" dirty="0" err="1" smtClean="0">
                <a:effectLst/>
              </a:rPr>
              <a:t>berikutnya</a:t>
            </a:r>
            <a:r>
              <a:rPr lang="en-US" sz="1600" b="0" i="0" dirty="0" smtClean="0">
                <a:effectLst/>
              </a:rPr>
              <a:t>, </a:t>
            </a:r>
            <a:r>
              <a:rPr lang="en-US" sz="1600" b="0" i="0" dirty="0" err="1" smtClean="0">
                <a:effectLst/>
              </a:rPr>
              <a:t>membantu</a:t>
            </a:r>
            <a:r>
              <a:rPr lang="en-US" sz="1600" b="0" i="0" dirty="0" smtClean="0">
                <a:effectLst/>
              </a:rPr>
              <a:t> </a:t>
            </a:r>
            <a:r>
              <a:rPr lang="en-US" sz="1600" b="0" i="0" dirty="0" err="1" smtClean="0">
                <a:effectLst/>
              </a:rPr>
              <a:t>mereka</a:t>
            </a:r>
            <a:r>
              <a:rPr lang="en-US" sz="1600" b="0" i="0" dirty="0" smtClean="0">
                <a:effectLst/>
              </a:rPr>
              <a:t> </a:t>
            </a:r>
            <a:r>
              <a:rPr lang="en-US" sz="1600" b="0" i="0" dirty="0" err="1" smtClean="0">
                <a:effectLst/>
              </a:rPr>
              <a:t>mengikuti</a:t>
            </a:r>
            <a:r>
              <a:rPr lang="en-US" sz="1600" b="0" i="0" dirty="0" smtClean="0">
                <a:effectLst/>
              </a:rPr>
              <a:t> </a:t>
            </a:r>
            <a:r>
              <a:rPr lang="en-US" sz="1600" b="0" i="0" dirty="0" err="1" smtClean="0">
                <a:effectLst/>
              </a:rPr>
              <a:t>alur</a:t>
            </a:r>
            <a:r>
              <a:rPr lang="en-US" sz="1600" b="0" i="0" dirty="0" smtClean="0">
                <a:effectLst/>
              </a:rPr>
              <a:t> </a:t>
            </a:r>
            <a:r>
              <a:rPr lang="en-US" sz="1600" b="0" i="0" dirty="0" err="1" smtClean="0">
                <a:effectLst/>
              </a:rPr>
              <a:t>dari</a:t>
            </a:r>
            <a:r>
              <a:rPr lang="en-US" sz="1600" b="0" i="0" dirty="0" smtClean="0">
                <a:effectLst/>
              </a:rPr>
              <a:t> </a:t>
            </a:r>
            <a:r>
              <a:rPr lang="en-US" sz="1600" b="0" i="0" dirty="0" err="1" smtClean="0">
                <a:effectLst/>
              </a:rPr>
              <a:t>awal</a:t>
            </a:r>
            <a:r>
              <a:rPr lang="en-US" sz="1600" b="0" i="0" dirty="0" smtClean="0">
                <a:effectLst/>
              </a:rPr>
              <a:t> </a:t>
            </a:r>
            <a:r>
              <a:rPr lang="en-US" sz="1600" b="0" i="0" dirty="0" err="1" smtClean="0">
                <a:effectLst/>
              </a:rPr>
              <a:t>hingga</a:t>
            </a:r>
            <a:r>
              <a:rPr lang="en-US" sz="1600" b="0" i="0" dirty="0" smtClean="0">
                <a:effectLst/>
              </a:rPr>
              <a:t> </a:t>
            </a:r>
            <a:r>
              <a:rPr lang="en-US" sz="1600" b="0" i="0" dirty="0" err="1" smtClean="0">
                <a:effectLst/>
              </a:rPr>
              <a:t>akhir</a:t>
            </a:r>
            <a:r>
              <a:rPr lang="en-US" sz="1600" b="0" i="0" dirty="0" smtClean="0">
                <a:effectLst/>
              </a:rPr>
              <a:t>.</a:t>
            </a:r>
            <a:endParaRPr lang="en-US" sz="1600" dirty="0"/>
          </a:p>
        </p:txBody>
      </p:sp>
    </p:spTree>
    <p:extLst>
      <p:ext uri="{BB962C8B-B14F-4D97-AF65-F5344CB8AC3E}">
        <p14:creationId xmlns:p14="http://schemas.microsoft.com/office/powerpoint/2010/main" val="17265597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15804" y="736640"/>
            <a:ext cx="6432113" cy="471011"/>
          </a:xfrm>
          <a:prstGeom prst="rect">
            <a:avLst/>
          </a:prstGeom>
          <a:noFill/>
          <a:ln/>
        </p:spPr>
        <p:txBody>
          <a:bodyPr wrap="none" lIns="0" tIns="0" rIns="0" bIns="0" rtlCol="0" anchor="t"/>
          <a:lstStyle/>
          <a:p>
            <a:pPr marL="0" indent="0" algn="l">
              <a:lnSpc>
                <a:spcPts val="3700"/>
              </a:lnSpc>
              <a:buNone/>
            </a:pPr>
            <a:r>
              <a:rPr lang="en-US" sz="2950" b="1" dirty="0">
                <a:solidFill>
                  <a:srgbClr val="1F1E1E"/>
                </a:solidFill>
                <a:latin typeface="+mj-lt"/>
                <a:ea typeface="Alexandria Semi Bold" pitchFamily="34" charset="-122"/>
                <a:cs typeface="Alexandria Semi Bold" pitchFamily="34" charset="-120"/>
              </a:rPr>
              <a:t>Studi Kasus: </a:t>
            </a:r>
            <a:r>
              <a:rPr lang="en-US" sz="2950" b="1" dirty="0" err="1">
                <a:solidFill>
                  <a:srgbClr val="1F1E1E"/>
                </a:solidFill>
                <a:latin typeface="+mj-lt"/>
                <a:ea typeface="Alexandria Semi Bold" pitchFamily="34" charset="-122"/>
                <a:cs typeface="Alexandria Semi Bold" pitchFamily="34" charset="-120"/>
              </a:rPr>
              <a:t>Penilaian</a:t>
            </a:r>
            <a:r>
              <a:rPr lang="en-US" sz="2950" b="1" dirty="0">
                <a:solidFill>
                  <a:srgbClr val="1F1E1E"/>
                </a:solidFill>
                <a:latin typeface="+mj-lt"/>
                <a:ea typeface="Alexandria Semi Bold" pitchFamily="34" charset="-122"/>
                <a:cs typeface="Alexandria Semi Bold" pitchFamily="34" charset="-120"/>
              </a:rPr>
              <a:t> </a:t>
            </a:r>
            <a:r>
              <a:rPr lang="en-US" sz="2950" b="1" dirty="0" err="1" smtClean="0">
                <a:solidFill>
                  <a:srgbClr val="1F1E1E"/>
                </a:solidFill>
                <a:latin typeface="+mj-lt"/>
                <a:ea typeface="Alexandria Semi Bold" pitchFamily="34" charset="-122"/>
                <a:cs typeface="Alexandria Semi Bold" pitchFamily="34" charset="-120"/>
              </a:rPr>
              <a:t>Mahasiswa</a:t>
            </a:r>
            <a:endParaRPr lang="en-US" sz="2950" b="1" dirty="0">
              <a:latin typeface="+mj-lt"/>
            </a:endParaRPr>
          </a:p>
        </p:txBody>
      </p:sp>
      <p:sp>
        <p:nvSpPr>
          <p:cNvPr id="3" name="Text 1"/>
          <p:cNvSpPr/>
          <p:nvPr/>
        </p:nvSpPr>
        <p:spPr>
          <a:xfrm>
            <a:off x="7541062" y="1629966"/>
            <a:ext cx="2825829" cy="353139"/>
          </a:xfrm>
          <a:prstGeom prst="rect">
            <a:avLst/>
          </a:prstGeom>
          <a:noFill/>
          <a:ln/>
        </p:spPr>
        <p:txBody>
          <a:bodyPr wrap="none" lIns="0" tIns="0" rIns="0" bIns="0" rtlCol="0" anchor="t"/>
          <a:lstStyle/>
          <a:p>
            <a:pPr marL="0" indent="0" algn="l">
              <a:lnSpc>
                <a:spcPts val="2750"/>
              </a:lnSpc>
              <a:buNone/>
            </a:pPr>
            <a:r>
              <a:rPr lang="en-US" sz="2800" b="1" dirty="0">
                <a:solidFill>
                  <a:srgbClr val="1F1E1E"/>
                </a:solidFill>
                <a:latin typeface="+mj-lt"/>
                <a:ea typeface="Alexandria Semi Bold" pitchFamily="34" charset="-122"/>
                <a:cs typeface="Alexandria Semi Bold" pitchFamily="34" charset="-120"/>
              </a:rPr>
              <a:t>Tujuan:</a:t>
            </a:r>
            <a:endParaRPr lang="en-US" sz="2800" b="1" dirty="0">
              <a:latin typeface="+mj-lt"/>
            </a:endParaRPr>
          </a:p>
        </p:txBody>
      </p:sp>
      <p:sp>
        <p:nvSpPr>
          <p:cNvPr id="4" name="Text 2"/>
          <p:cNvSpPr/>
          <p:nvPr/>
        </p:nvSpPr>
        <p:spPr>
          <a:xfrm>
            <a:off x="7541062" y="2152055"/>
            <a:ext cx="6381155" cy="556498"/>
          </a:xfrm>
          <a:prstGeom prst="rect">
            <a:avLst/>
          </a:prstGeom>
          <a:noFill/>
          <a:ln/>
        </p:spPr>
        <p:txBody>
          <a:bodyPr wrap="square" lIns="0" tIns="0" rIns="0" bIns="0" rtlCol="0" anchor="t"/>
          <a:lstStyle/>
          <a:p>
            <a:pPr marL="0" indent="0" algn="l">
              <a:lnSpc>
                <a:spcPts val="2150"/>
              </a:lnSpc>
              <a:buNone/>
            </a:pPr>
            <a:r>
              <a:rPr lang="en-US" sz="1600" b="1" dirty="0">
                <a:solidFill>
                  <a:srgbClr val="3B3535"/>
                </a:solidFill>
                <a:ea typeface="Sora Light" pitchFamily="34" charset="-122"/>
                <a:cs typeface="Sora Light" pitchFamily="34" charset="-120"/>
              </a:rPr>
              <a:t>Membuat program untuk menentukan grade mahasiswa berdasarkan nilai yang diperoleh.</a:t>
            </a:r>
            <a:endParaRPr lang="en-US" sz="1600" b="1" dirty="0"/>
          </a:p>
        </p:txBody>
      </p:sp>
      <p:sp>
        <p:nvSpPr>
          <p:cNvPr id="5" name="Text 3"/>
          <p:cNvSpPr/>
          <p:nvPr/>
        </p:nvSpPr>
        <p:spPr>
          <a:xfrm>
            <a:off x="7541062" y="2877503"/>
            <a:ext cx="2825829" cy="353139"/>
          </a:xfrm>
          <a:prstGeom prst="rect">
            <a:avLst/>
          </a:prstGeom>
          <a:noFill/>
          <a:ln/>
        </p:spPr>
        <p:txBody>
          <a:bodyPr wrap="none" lIns="0" tIns="0" rIns="0" bIns="0" rtlCol="0" anchor="t"/>
          <a:lstStyle/>
          <a:p>
            <a:pPr marL="0" indent="0" algn="l">
              <a:lnSpc>
                <a:spcPts val="2750"/>
              </a:lnSpc>
              <a:buNone/>
            </a:pPr>
            <a:r>
              <a:rPr lang="en-US" sz="2800" b="1" dirty="0">
                <a:solidFill>
                  <a:srgbClr val="1F1E1E"/>
                </a:solidFill>
                <a:latin typeface="+mj-lt"/>
                <a:ea typeface="Alexandria Semi Bold" pitchFamily="34" charset="-122"/>
                <a:cs typeface="Alexandria Semi Bold" pitchFamily="34" charset="-120"/>
              </a:rPr>
              <a:t>Input:</a:t>
            </a:r>
            <a:endParaRPr lang="en-US" sz="2800" b="1" dirty="0">
              <a:latin typeface="+mj-lt"/>
            </a:endParaRPr>
          </a:p>
        </p:txBody>
      </p:sp>
      <p:sp>
        <p:nvSpPr>
          <p:cNvPr id="6" name="Text 4"/>
          <p:cNvSpPr/>
          <p:nvPr/>
        </p:nvSpPr>
        <p:spPr>
          <a:xfrm>
            <a:off x="7541062" y="3399592"/>
            <a:ext cx="6381155" cy="278249"/>
          </a:xfrm>
          <a:prstGeom prst="rect">
            <a:avLst/>
          </a:prstGeom>
          <a:noFill/>
          <a:ln/>
        </p:spPr>
        <p:txBody>
          <a:bodyPr wrap="none" lIns="0" tIns="0" rIns="0" bIns="0" rtlCol="0" anchor="t"/>
          <a:lstStyle/>
          <a:p>
            <a:pPr marL="342900" indent="-342900" algn="l">
              <a:lnSpc>
                <a:spcPts val="2150"/>
              </a:lnSpc>
              <a:buSzPct val="100000"/>
              <a:buChar char="•"/>
            </a:pPr>
            <a:r>
              <a:rPr lang="en-US" sz="1600" b="1" dirty="0">
                <a:solidFill>
                  <a:srgbClr val="3B3535"/>
                </a:solidFill>
                <a:ea typeface="Sora Light" pitchFamily="34" charset="-122"/>
                <a:cs typeface="Sora Light" pitchFamily="34" charset="-120"/>
              </a:rPr>
              <a:t>Nilai (angka antara 0-100)</a:t>
            </a:r>
            <a:endParaRPr lang="en-US" sz="1600" b="1" dirty="0"/>
          </a:p>
        </p:txBody>
      </p:sp>
      <p:sp>
        <p:nvSpPr>
          <p:cNvPr id="7" name="Text 5"/>
          <p:cNvSpPr/>
          <p:nvPr/>
        </p:nvSpPr>
        <p:spPr>
          <a:xfrm>
            <a:off x="7541062" y="3846790"/>
            <a:ext cx="3586877" cy="353139"/>
          </a:xfrm>
          <a:prstGeom prst="rect">
            <a:avLst/>
          </a:prstGeom>
          <a:noFill/>
          <a:ln/>
        </p:spPr>
        <p:txBody>
          <a:bodyPr wrap="none" lIns="0" tIns="0" rIns="0" bIns="0" rtlCol="0" anchor="t"/>
          <a:lstStyle/>
          <a:p>
            <a:pPr marL="0" indent="0" algn="l">
              <a:lnSpc>
                <a:spcPts val="2750"/>
              </a:lnSpc>
              <a:buNone/>
            </a:pPr>
            <a:r>
              <a:rPr lang="en-US" sz="2800" b="1" dirty="0">
                <a:solidFill>
                  <a:srgbClr val="1F1E1E"/>
                </a:solidFill>
                <a:latin typeface="+mj-lt"/>
                <a:ea typeface="Alexandria Semi Bold" pitchFamily="34" charset="-122"/>
                <a:cs typeface="Alexandria Semi Bold" pitchFamily="34" charset="-120"/>
              </a:rPr>
              <a:t>Output yang diharapkan:</a:t>
            </a:r>
            <a:endParaRPr lang="en-US" sz="2800" b="1" dirty="0">
              <a:latin typeface="+mj-lt"/>
            </a:endParaRPr>
          </a:p>
        </p:txBody>
      </p:sp>
      <p:sp>
        <p:nvSpPr>
          <p:cNvPr id="8" name="Text 6"/>
          <p:cNvSpPr/>
          <p:nvPr/>
        </p:nvSpPr>
        <p:spPr>
          <a:xfrm>
            <a:off x="7541062" y="4368879"/>
            <a:ext cx="6381155" cy="278249"/>
          </a:xfrm>
          <a:prstGeom prst="rect">
            <a:avLst/>
          </a:prstGeom>
          <a:noFill/>
          <a:ln/>
        </p:spPr>
        <p:txBody>
          <a:bodyPr wrap="none" lIns="0" tIns="0" rIns="0" bIns="0" rtlCol="0" anchor="t"/>
          <a:lstStyle/>
          <a:p>
            <a:pPr marL="342900" indent="-342900" algn="l">
              <a:lnSpc>
                <a:spcPts val="2150"/>
              </a:lnSpc>
              <a:buSzPct val="100000"/>
              <a:buChar char="•"/>
            </a:pPr>
            <a:r>
              <a:rPr lang="en-US" sz="1600" b="1" dirty="0">
                <a:solidFill>
                  <a:srgbClr val="3B3535"/>
                </a:solidFill>
                <a:ea typeface="Sora Light" pitchFamily="34" charset="-122"/>
                <a:cs typeface="Sora Light" pitchFamily="34" charset="-120"/>
              </a:rPr>
              <a:t>Grade (A, B, C, D, E)</a:t>
            </a:r>
            <a:endParaRPr lang="en-US" sz="1600" b="1" dirty="0"/>
          </a:p>
        </p:txBody>
      </p:sp>
      <p:sp>
        <p:nvSpPr>
          <p:cNvPr id="9" name="Text 7"/>
          <p:cNvSpPr/>
          <p:nvPr/>
        </p:nvSpPr>
        <p:spPr>
          <a:xfrm>
            <a:off x="7541062" y="4816078"/>
            <a:ext cx="2825829" cy="353139"/>
          </a:xfrm>
          <a:prstGeom prst="rect">
            <a:avLst/>
          </a:prstGeom>
          <a:noFill/>
          <a:ln/>
        </p:spPr>
        <p:txBody>
          <a:bodyPr wrap="none" lIns="0" tIns="0" rIns="0" bIns="0" rtlCol="0" anchor="t"/>
          <a:lstStyle/>
          <a:p>
            <a:pPr marL="0" indent="0" algn="l">
              <a:lnSpc>
                <a:spcPts val="2750"/>
              </a:lnSpc>
              <a:buNone/>
            </a:pPr>
            <a:r>
              <a:rPr lang="en-US" sz="2800" b="1" dirty="0" err="1" smtClean="0">
                <a:solidFill>
                  <a:srgbClr val="1F1E1E"/>
                </a:solidFill>
                <a:latin typeface="+mj-lt"/>
                <a:ea typeface="Alexandria Semi Bold" pitchFamily="34" charset="-122"/>
                <a:cs typeface="Alexandria Semi Bold" pitchFamily="34" charset="-120"/>
              </a:rPr>
              <a:t>Kriteria</a:t>
            </a:r>
            <a:r>
              <a:rPr lang="en-US" sz="2800" b="1" dirty="0" smtClean="0">
                <a:solidFill>
                  <a:srgbClr val="1F1E1E"/>
                </a:solidFill>
                <a:latin typeface="+mj-lt"/>
                <a:ea typeface="Alexandria Semi Bold" pitchFamily="34" charset="-122"/>
                <a:cs typeface="Alexandria Semi Bold" pitchFamily="34" charset="-120"/>
              </a:rPr>
              <a:t> </a:t>
            </a:r>
            <a:r>
              <a:rPr lang="en-US" sz="2800" b="1" dirty="0">
                <a:solidFill>
                  <a:srgbClr val="1F1E1E"/>
                </a:solidFill>
                <a:latin typeface="+mj-lt"/>
                <a:ea typeface="Alexandria Semi Bold" pitchFamily="34" charset="-122"/>
                <a:cs typeface="Alexandria Semi Bold" pitchFamily="34" charset="-120"/>
              </a:rPr>
              <a:t>Grade:</a:t>
            </a:r>
            <a:endParaRPr lang="en-US" sz="2800" b="1" dirty="0">
              <a:latin typeface="+mj-lt"/>
            </a:endParaRPr>
          </a:p>
        </p:txBody>
      </p:sp>
      <p:sp>
        <p:nvSpPr>
          <p:cNvPr id="10" name="Text 8"/>
          <p:cNvSpPr/>
          <p:nvPr/>
        </p:nvSpPr>
        <p:spPr>
          <a:xfrm>
            <a:off x="7541062" y="5338167"/>
            <a:ext cx="6381155" cy="278249"/>
          </a:xfrm>
          <a:prstGeom prst="rect">
            <a:avLst/>
          </a:prstGeom>
          <a:noFill/>
          <a:ln/>
        </p:spPr>
        <p:txBody>
          <a:bodyPr wrap="none" lIns="0" tIns="0" rIns="0" bIns="0" rtlCol="0" anchor="t"/>
          <a:lstStyle/>
          <a:p>
            <a:pPr marL="342900" indent="-342900" algn="l">
              <a:lnSpc>
                <a:spcPts val="2150"/>
              </a:lnSpc>
              <a:buSzPct val="100000"/>
              <a:buChar char="•"/>
            </a:pPr>
            <a:r>
              <a:rPr lang="en-US" sz="1600" b="1" dirty="0">
                <a:solidFill>
                  <a:srgbClr val="3B3535"/>
                </a:solidFill>
                <a:ea typeface="Sora Light" pitchFamily="34" charset="-122"/>
                <a:cs typeface="Sora Light" pitchFamily="34" charset="-120"/>
              </a:rPr>
              <a:t>A: Nilai &gt; 80</a:t>
            </a:r>
            <a:endParaRPr lang="en-US" sz="1600" b="1" dirty="0"/>
          </a:p>
        </p:txBody>
      </p:sp>
      <p:sp>
        <p:nvSpPr>
          <p:cNvPr id="11" name="Text 9"/>
          <p:cNvSpPr/>
          <p:nvPr/>
        </p:nvSpPr>
        <p:spPr>
          <a:xfrm>
            <a:off x="7541062" y="5675471"/>
            <a:ext cx="6381155" cy="278249"/>
          </a:xfrm>
          <a:prstGeom prst="rect">
            <a:avLst/>
          </a:prstGeom>
          <a:noFill/>
          <a:ln/>
        </p:spPr>
        <p:txBody>
          <a:bodyPr wrap="none" lIns="0" tIns="0" rIns="0" bIns="0" rtlCol="0" anchor="t"/>
          <a:lstStyle/>
          <a:p>
            <a:pPr marL="342900" indent="-342900" algn="l">
              <a:lnSpc>
                <a:spcPts val="2150"/>
              </a:lnSpc>
              <a:buSzPct val="100000"/>
              <a:buChar char="•"/>
            </a:pPr>
            <a:r>
              <a:rPr lang="en-US" sz="1600" b="1" dirty="0">
                <a:solidFill>
                  <a:srgbClr val="3B3535"/>
                </a:solidFill>
                <a:ea typeface="Sora Light" pitchFamily="34" charset="-122"/>
                <a:cs typeface="Sora Light" pitchFamily="34" charset="-120"/>
              </a:rPr>
              <a:t>B: Nilai &gt; 70</a:t>
            </a:r>
            <a:endParaRPr lang="en-US" sz="1600" b="1" dirty="0"/>
          </a:p>
        </p:txBody>
      </p:sp>
      <p:sp>
        <p:nvSpPr>
          <p:cNvPr id="12" name="Text 10"/>
          <p:cNvSpPr/>
          <p:nvPr/>
        </p:nvSpPr>
        <p:spPr>
          <a:xfrm>
            <a:off x="7541062" y="6012775"/>
            <a:ext cx="6381155" cy="278249"/>
          </a:xfrm>
          <a:prstGeom prst="rect">
            <a:avLst/>
          </a:prstGeom>
          <a:noFill/>
          <a:ln/>
        </p:spPr>
        <p:txBody>
          <a:bodyPr wrap="none" lIns="0" tIns="0" rIns="0" bIns="0" rtlCol="0" anchor="t"/>
          <a:lstStyle/>
          <a:p>
            <a:pPr marL="342900" indent="-342900" algn="l">
              <a:lnSpc>
                <a:spcPts val="2150"/>
              </a:lnSpc>
              <a:buSzPct val="100000"/>
              <a:buChar char="•"/>
            </a:pPr>
            <a:r>
              <a:rPr lang="en-US" sz="1600" b="1" dirty="0">
                <a:solidFill>
                  <a:srgbClr val="3B3535"/>
                </a:solidFill>
                <a:ea typeface="Sora Light" pitchFamily="34" charset="-122"/>
                <a:cs typeface="Sora Light" pitchFamily="34" charset="-120"/>
              </a:rPr>
              <a:t>C: Nilai &gt; 60</a:t>
            </a:r>
            <a:endParaRPr lang="en-US" sz="1600" b="1" dirty="0"/>
          </a:p>
        </p:txBody>
      </p:sp>
      <p:sp>
        <p:nvSpPr>
          <p:cNvPr id="13" name="Text 11"/>
          <p:cNvSpPr/>
          <p:nvPr/>
        </p:nvSpPr>
        <p:spPr>
          <a:xfrm>
            <a:off x="7541062" y="6350079"/>
            <a:ext cx="6381155" cy="278249"/>
          </a:xfrm>
          <a:prstGeom prst="rect">
            <a:avLst/>
          </a:prstGeom>
          <a:noFill/>
          <a:ln/>
        </p:spPr>
        <p:txBody>
          <a:bodyPr wrap="none" lIns="0" tIns="0" rIns="0" bIns="0" rtlCol="0" anchor="t"/>
          <a:lstStyle/>
          <a:p>
            <a:pPr marL="342900" indent="-342900" algn="l">
              <a:lnSpc>
                <a:spcPts val="2150"/>
              </a:lnSpc>
              <a:buSzPct val="100000"/>
              <a:buChar char="•"/>
            </a:pPr>
            <a:r>
              <a:rPr lang="en-US" sz="1600" b="1" dirty="0">
                <a:solidFill>
                  <a:srgbClr val="3B3535"/>
                </a:solidFill>
                <a:ea typeface="Sora Light" pitchFamily="34" charset="-122"/>
                <a:cs typeface="Sora Light" pitchFamily="34" charset="-120"/>
              </a:rPr>
              <a:t>D: Nilai &gt; 50</a:t>
            </a:r>
            <a:endParaRPr lang="en-US" sz="1600" b="1" dirty="0"/>
          </a:p>
        </p:txBody>
      </p:sp>
      <p:sp>
        <p:nvSpPr>
          <p:cNvPr id="14" name="Text 12"/>
          <p:cNvSpPr/>
          <p:nvPr/>
        </p:nvSpPr>
        <p:spPr>
          <a:xfrm>
            <a:off x="7541062" y="6687383"/>
            <a:ext cx="6381155" cy="278249"/>
          </a:xfrm>
          <a:prstGeom prst="rect">
            <a:avLst/>
          </a:prstGeom>
          <a:noFill/>
          <a:ln/>
        </p:spPr>
        <p:txBody>
          <a:bodyPr wrap="none" lIns="0" tIns="0" rIns="0" bIns="0" rtlCol="0" anchor="t"/>
          <a:lstStyle/>
          <a:p>
            <a:pPr marL="342900" indent="-342900" algn="l">
              <a:lnSpc>
                <a:spcPts val="2150"/>
              </a:lnSpc>
              <a:buSzPct val="100000"/>
              <a:buChar char="•"/>
            </a:pPr>
            <a:r>
              <a:rPr lang="en-US" sz="1600" b="1" dirty="0">
                <a:solidFill>
                  <a:srgbClr val="3B3535"/>
                </a:solidFill>
                <a:ea typeface="Sora Light" pitchFamily="34" charset="-122"/>
                <a:cs typeface="Sora Light" pitchFamily="34" charset="-120"/>
              </a:rPr>
              <a:t>E: Nilai &lt;= 50</a:t>
            </a:r>
            <a:endParaRPr lang="en-US" sz="1600" b="1" dirty="0"/>
          </a:p>
        </p:txBody>
      </p:sp>
      <p:sp>
        <p:nvSpPr>
          <p:cNvPr id="15" name="Text 13"/>
          <p:cNvSpPr/>
          <p:nvPr/>
        </p:nvSpPr>
        <p:spPr>
          <a:xfrm>
            <a:off x="715804" y="7214711"/>
            <a:ext cx="13198793" cy="278249"/>
          </a:xfrm>
          <a:prstGeom prst="rect">
            <a:avLst/>
          </a:prstGeom>
          <a:noFill/>
          <a:ln/>
        </p:spPr>
        <p:txBody>
          <a:bodyPr wrap="none" lIns="0" tIns="0" rIns="0" bIns="0" rtlCol="0" anchor="t"/>
          <a:lstStyle/>
          <a:p>
            <a:pPr marL="0" indent="0" algn="l">
              <a:lnSpc>
                <a:spcPts val="2150"/>
              </a:lnSpc>
              <a:buNone/>
            </a:pPr>
            <a:r>
              <a:rPr lang="en-US" sz="1600" b="1" dirty="0">
                <a:solidFill>
                  <a:srgbClr val="3B3535"/>
                </a:solidFill>
                <a:ea typeface="Sora Light" pitchFamily="34" charset="-122"/>
                <a:cs typeface="Sora Light" pitchFamily="34" charset="-120"/>
              </a:rPr>
              <a:t>Kita akan mencoba merancang algoritma untuk kasus ini, dengan fokus pada bagaimana urutan pengambilan keputusan memengaruhi hasil akhir.</a:t>
            </a:r>
            <a:endParaRPr lang="en-US" sz="1600" b="1" dirty="0"/>
          </a:p>
        </p:txBody>
      </p:sp>
      <p:sp>
        <p:nvSpPr>
          <p:cNvPr id="16" name="Rounded Rectangle 15"/>
          <p:cNvSpPr/>
          <p:nvPr/>
        </p:nvSpPr>
        <p:spPr>
          <a:xfrm>
            <a:off x="12801600" y="7649307"/>
            <a:ext cx="1688123" cy="527538"/>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7492" y="1359246"/>
            <a:ext cx="4484077" cy="5699118"/>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4133" y="787956"/>
            <a:ext cx="7209592" cy="450056"/>
          </a:xfrm>
          <a:prstGeom prst="rect">
            <a:avLst/>
          </a:prstGeom>
          <a:noFill/>
          <a:ln/>
        </p:spPr>
        <p:txBody>
          <a:bodyPr wrap="none" lIns="0" tIns="0" rIns="0" bIns="0" rtlCol="0" anchor="t"/>
          <a:lstStyle/>
          <a:p>
            <a:pPr marL="0" indent="0" algn="l">
              <a:lnSpc>
                <a:spcPts val="3500"/>
              </a:lnSpc>
              <a:buNone/>
            </a:pPr>
            <a:r>
              <a:rPr lang="en-US" sz="2800" b="1" dirty="0">
                <a:solidFill>
                  <a:srgbClr val="1F1E1E"/>
                </a:solidFill>
                <a:latin typeface="+mj-lt"/>
                <a:ea typeface="Alexandria Semi Bold" pitchFamily="34" charset="-122"/>
                <a:cs typeface="Alexandria Semi Bold" pitchFamily="34" charset="-120"/>
              </a:rPr>
              <a:t>Contoh Algoritma SALAH (Pseudocode)</a:t>
            </a:r>
            <a:endParaRPr lang="en-US" sz="2800" b="1" dirty="0">
              <a:latin typeface="+mj-lt"/>
            </a:endParaRPr>
          </a:p>
        </p:txBody>
      </p:sp>
      <p:sp>
        <p:nvSpPr>
          <p:cNvPr id="3" name="Shape 1"/>
          <p:cNvSpPr/>
          <p:nvPr/>
        </p:nvSpPr>
        <p:spPr>
          <a:xfrm>
            <a:off x="684133" y="1643063"/>
            <a:ext cx="7790378" cy="1377434"/>
          </a:xfrm>
          <a:prstGeom prst="roundRect">
            <a:avLst>
              <a:gd name="adj" fmla="val 5216"/>
            </a:avLst>
          </a:prstGeom>
          <a:solidFill>
            <a:srgbClr val="C0CAF2"/>
          </a:solidFill>
          <a:ln/>
        </p:spPr>
      </p:sp>
      <p:pic>
        <p:nvPicPr>
          <p:cNvPr id="4" name="Image 0" descr="preencoded.png"/>
          <p:cNvPicPr>
            <a:picLocks noChangeAspect="1"/>
          </p:cNvPicPr>
          <p:nvPr/>
        </p:nvPicPr>
        <p:blipFill>
          <a:blip r:embed="rId3"/>
          <a:stretch>
            <a:fillRect/>
          </a:stretch>
        </p:blipFill>
        <p:spPr>
          <a:xfrm>
            <a:off x="855107" y="1864162"/>
            <a:ext cx="281226" cy="225028"/>
          </a:xfrm>
          <a:prstGeom prst="rect">
            <a:avLst/>
          </a:prstGeom>
        </p:spPr>
      </p:pic>
      <p:sp>
        <p:nvSpPr>
          <p:cNvPr id="5" name="Text 2"/>
          <p:cNvSpPr/>
          <p:nvPr/>
        </p:nvSpPr>
        <p:spPr>
          <a:xfrm>
            <a:off x="1307306" y="1840111"/>
            <a:ext cx="3076813" cy="281226"/>
          </a:xfrm>
          <a:prstGeom prst="rect">
            <a:avLst/>
          </a:prstGeom>
          <a:noFill/>
          <a:ln/>
        </p:spPr>
        <p:txBody>
          <a:bodyPr wrap="none" lIns="0" tIns="0" rIns="0" bIns="0" rtlCol="0" anchor="t"/>
          <a:lstStyle/>
          <a:p>
            <a:pPr marL="0" indent="0" algn="l">
              <a:lnSpc>
                <a:spcPts val="2200"/>
              </a:lnSpc>
              <a:buNone/>
            </a:pPr>
            <a:r>
              <a:rPr lang="en-US" sz="2000" b="1" dirty="0">
                <a:solidFill>
                  <a:srgbClr val="000000"/>
                </a:solidFill>
                <a:latin typeface="+mj-lt"/>
                <a:ea typeface="Alexandria Semi Bold" pitchFamily="34" charset="-122"/>
                <a:cs typeface="Alexandria Semi Bold" pitchFamily="34" charset="-120"/>
              </a:rPr>
              <a:t>Perhatikan Urutan Kondisi!</a:t>
            </a:r>
            <a:endParaRPr lang="en-US" sz="2000" b="1" dirty="0">
              <a:latin typeface="+mj-lt"/>
            </a:endParaRPr>
          </a:p>
        </p:txBody>
      </p:sp>
      <p:sp>
        <p:nvSpPr>
          <p:cNvPr id="6" name="Text 3"/>
          <p:cNvSpPr/>
          <p:nvPr/>
        </p:nvSpPr>
        <p:spPr>
          <a:xfrm>
            <a:off x="1307306" y="2275642"/>
            <a:ext cx="6996232" cy="520541"/>
          </a:xfrm>
          <a:prstGeom prst="rect">
            <a:avLst/>
          </a:prstGeom>
          <a:noFill/>
          <a:ln/>
        </p:spPr>
        <p:txBody>
          <a:bodyPr wrap="square" lIns="0" tIns="0" rIns="0" bIns="0" rtlCol="0" anchor="t"/>
          <a:lstStyle/>
          <a:p>
            <a:pPr marL="0" indent="0" algn="l">
              <a:lnSpc>
                <a:spcPts val="2000"/>
              </a:lnSpc>
              <a:buNone/>
            </a:pPr>
            <a:r>
              <a:rPr lang="en-US" sz="1600" b="1" dirty="0">
                <a:solidFill>
                  <a:srgbClr val="000000"/>
                </a:solidFill>
                <a:ea typeface="Sora Light" pitchFamily="34" charset="-122"/>
                <a:cs typeface="Sora Light" pitchFamily="34" charset="-120"/>
              </a:rPr>
              <a:t>Ini adalah contoh bagaimana urutan pengecekan kondisi bisa mengakibatkan hasil yang tidak tepat, meskipun sintaks terlihat benar.</a:t>
            </a:r>
            <a:endParaRPr lang="en-US" sz="1600" b="1" dirty="0"/>
          </a:p>
        </p:txBody>
      </p:sp>
      <p:sp>
        <p:nvSpPr>
          <p:cNvPr id="7" name="Shape 4"/>
          <p:cNvSpPr/>
          <p:nvPr/>
        </p:nvSpPr>
        <p:spPr>
          <a:xfrm>
            <a:off x="684133" y="3194090"/>
            <a:ext cx="7790378" cy="3639979"/>
          </a:xfrm>
          <a:prstGeom prst="roundRect">
            <a:avLst>
              <a:gd name="adj" fmla="val 1974"/>
            </a:avLst>
          </a:prstGeom>
          <a:solidFill>
            <a:srgbClr val="F2EDED"/>
          </a:solidFill>
          <a:ln/>
        </p:spPr>
      </p:sp>
      <p:sp>
        <p:nvSpPr>
          <p:cNvPr id="8" name="Shape 5"/>
          <p:cNvSpPr/>
          <p:nvPr/>
        </p:nvSpPr>
        <p:spPr>
          <a:xfrm>
            <a:off x="675680" y="3194090"/>
            <a:ext cx="7807285" cy="3639979"/>
          </a:xfrm>
          <a:prstGeom prst="roundRect">
            <a:avLst>
              <a:gd name="adj" fmla="val 705"/>
            </a:avLst>
          </a:prstGeom>
          <a:solidFill>
            <a:srgbClr val="F2EDED"/>
          </a:solidFill>
          <a:ln/>
        </p:spPr>
      </p:sp>
      <p:sp>
        <p:nvSpPr>
          <p:cNvPr id="9" name="Text 6"/>
          <p:cNvSpPr/>
          <p:nvPr/>
        </p:nvSpPr>
        <p:spPr>
          <a:xfrm>
            <a:off x="846653" y="3322320"/>
            <a:ext cx="7465338" cy="3383518"/>
          </a:xfrm>
          <a:prstGeom prst="rect">
            <a:avLst/>
          </a:prstGeom>
          <a:noFill/>
          <a:ln/>
        </p:spPr>
        <p:txBody>
          <a:bodyPr wrap="square" lIns="0" tIns="0" rIns="0" bIns="0" rtlCol="0" anchor="t"/>
          <a:lstStyle/>
          <a:p>
            <a:pPr marL="0" indent="0" algn="l">
              <a:lnSpc>
                <a:spcPts val="2000"/>
              </a:lnSpc>
              <a:buNone/>
            </a:pPr>
            <a:r>
              <a:rPr lang="en-US" sz="1600" dirty="0">
                <a:solidFill>
                  <a:srgbClr val="3B3535"/>
                </a:solidFill>
                <a:highlight>
                  <a:srgbClr val="F2EDED"/>
                </a:highlight>
                <a:latin typeface="Calibri" panose="020F0502020204030204" pitchFamily="34" charset="0"/>
                <a:ea typeface="Consolas Light" pitchFamily="34" charset="-122"/>
                <a:cs typeface="Calibri" panose="020F0502020204030204" pitchFamily="34" charset="0"/>
              </a:rPr>
              <a:t>BACA Nilai
JIKA Nilai &gt; 50 MAKA
  TULIS "Grade D"
JIKA Nilai &gt; 60 MAKA
  TULIS "Grade C"
JIKA Nilai &gt; 70 MAKA
  TULIS "Grade B"
JIKA Nilai &gt; 80 MAKA
  TULIS "Grade A"
SELAIN ITU
  TULIS "Grade E"
</a:t>
            </a:r>
            <a:endParaRPr lang="en-US" sz="1600" dirty="0">
              <a:latin typeface="Calibri" panose="020F0502020204030204" pitchFamily="34" charset="0"/>
              <a:cs typeface="Calibri" panose="020F0502020204030204" pitchFamily="34" charset="0"/>
            </a:endParaRPr>
          </a:p>
        </p:txBody>
      </p:sp>
      <p:pic>
        <p:nvPicPr>
          <p:cNvPr id="10" name="Image 1" descr="preencoded.png"/>
          <p:cNvPicPr>
            <a:picLocks noChangeAspect="1"/>
          </p:cNvPicPr>
          <p:nvPr/>
        </p:nvPicPr>
        <p:blipFill>
          <a:blip r:embed="rId4"/>
          <a:stretch>
            <a:fillRect/>
          </a:stretch>
        </p:blipFill>
        <p:spPr>
          <a:xfrm>
            <a:off x="8899327" y="1643063"/>
            <a:ext cx="5054441" cy="5054441"/>
          </a:xfrm>
          <a:prstGeom prst="rect">
            <a:avLst/>
          </a:prstGeom>
        </p:spPr>
      </p:pic>
      <p:sp>
        <p:nvSpPr>
          <p:cNvPr id="11" name="Text 7"/>
          <p:cNvSpPr/>
          <p:nvPr/>
        </p:nvSpPr>
        <p:spPr>
          <a:xfrm>
            <a:off x="684133" y="7181255"/>
            <a:ext cx="13262134" cy="260271"/>
          </a:xfrm>
          <a:prstGeom prst="rect">
            <a:avLst/>
          </a:prstGeom>
          <a:noFill/>
          <a:ln/>
        </p:spPr>
        <p:txBody>
          <a:bodyPr wrap="none" lIns="0" tIns="0" rIns="0" bIns="0" rtlCol="0" anchor="t"/>
          <a:lstStyle/>
          <a:p>
            <a:pPr marL="0" indent="0" algn="l">
              <a:lnSpc>
                <a:spcPts val="2000"/>
              </a:lnSpc>
              <a:buNone/>
            </a:pPr>
            <a:r>
              <a:rPr lang="en-US" sz="1600" dirty="0">
                <a:solidFill>
                  <a:srgbClr val="3B3535"/>
                </a:solidFill>
                <a:ea typeface="Sora Light" pitchFamily="34" charset="-122"/>
                <a:cs typeface="Sora Light" pitchFamily="34" charset="-120"/>
              </a:rPr>
              <a:t>Coba pikirkan, jika nilai mahasiswa adalah 85, output apa yang akan dihasilkan oleh algoritma di atas? Apakah sesuai dengan kriteria yang diharapkan?</a:t>
            </a:r>
            <a:endParaRPr lang="en-US" sz="1600" dirty="0"/>
          </a:p>
        </p:txBody>
      </p:sp>
      <p:sp>
        <p:nvSpPr>
          <p:cNvPr id="12" name="Rounded Rectangle 11"/>
          <p:cNvSpPr/>
          <p:nvPr/>
        </p:nvSpPr>
        <p:spPr>
          <a:xfrm>
            <a:off x="12696092" y="7596553"/>
            <a:ext cx="1916723" cy="580292"/>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542336" y="688777"/>
            <a:ext cx="3828574" cy="365879"/>
          </a:xfrm>
          <a:prstGeom prst="rect">
            <a:avLst/>
          </a:prstGeom>
          <a:noFill/>
          <a:ln/>
        </p:spPr>
        <p:txBody>
          <a:bodyPr wrap="none" lIns="0" tIns="0" rIns="0" bIns="0" rtlCol="0" anchor="t"/>
          <a:lstStyle/>
          <a:p>
            <a:pPr marL="0" indent="0" algn="l">
              <a:lnSpc>
                <a:spcPts val="2850"/>
              </a:lnSpc>
              <a:buNone/>
            </a:pPr>
            <a:r>
              <a:rPr lang="en-US" sz="2800" b="1" dirty="0">
                <a:solidFill>
                  <a:srgbClr val="1F1E1E"/>
                </a:solidFill>
                <a:latin typeface="+mj-lt"/>
                <a:ea typeface="Alexandria Semi Bold" pitchFamily="34" charset="-122"/>
                <a:cs typeface="Alexandria Semi Bold" pitchFamily="34" charset="-120"/>
              </a:rPr>
              <a:t>Analisis Kesalahan Logika</a:t>
            </a:r>
            <a:endParaRPr lang="en-US" sz="2800" b="1" dirty="0">
              <a:latin typeface="+mj-lt"/>
            </a:endParaRPr>
          </a:p>
        </p:txBody>
      </p:sp>
      <p:sp>
        <p:nvSpPr>
          <p:cNvPr id="3" name="Shape 1"/>
          <p:cNvSpPr/>
          <p:nvPr/>
        </p:nvSpPr>
        <p:spPr>
          <a:xfrm>
            <a:off x="1542336" y="1531025"/>
            <a:ext cx="5603200" cy="1218248"/>
          </a:xfrm>
          <a:prstGeom prst="roundRect">
            <a:avLst>
              <a:gd name="adj" fmla="val 6005"/>
            </a:avLst>
          </a:prstGeom>
          <a:solidFill>
            <a:srgbClr val="FFFAFA"/>
          </a:solidFill>
          <a:ln/>
        </p:spPr>
      </p:sp>
      <p:sp>
        <p:nvSpPr>
          <p:cNvPr id="4" name="Shape 2"/>
          <p:cNvSpPr/>
          <p:nvPr/>
        </p:nvSpPr>
        <p:spPr>
          <a:xfrm>
            <a:off x="1542336" y="1515785"/>
            <a:ext cx="5603200" cy="60960"/>
          </a:xfrm>
          <a:prstGeom prst="roundRect">
            <a:avLst>
              <a:gd name="adj" fmla="val 95832"/>
            </a:avLst>
          </a:prstGeom>
          <a:solidFill>
            <a:srgbClr val="1A2D7A"/>
          </a:solidFill>
          <a:ln/>
        </p:spPr>
      </p:sp>
      <p:sp>
        <p:nvSpPr>
          <p:cNvPr id="5" name="Shape 3"/>
          <p:cNvSpPr/>
          <p:nvPr/>
        </p:nvSpPr>
        <p:spPr>
          <a:xfrm>
            <a:off x="4135279" y="1322427"/>
            <a:ext cx="417195" cy="417195"/>
          </a:xfrm>
          <a:prstGeom prst="roundRect">
            <a:avLst>
              <a:gd name="adj" fmla="val 219178"/>
            </a:avLst>
          </a:prstGeom>
          <a:solidFill>
            <a:srgbClr val="1A2D7A"/>
          </a:solidFill>
          <a:ln/>
        </p:spPr>
      </p:sp>
      <p:sp>
        <p:nvSpPr>
          <p:cNvPr id="6" name="Text 4"/>
          <p:cNvSpPr/>
          <p:nvPr/>
        </p:nvSpPr>
        <p:spPr>
          <a:xfrm>
            <a:off x="4260413" y="1426726"/>
            <a:ext cx="166807" cy="208598"/>
          </a:xfrm>
          <a:prstGeom prst="rect">
            <a:avLst/>
          </a:prstGeom>
          <a:noFill/>
          <a:ln/>
        </p:spPr>
        <p:txBody>
          <a:bodyPr wrap="none" lIns="0" tIns="0" rIns="0" bIns="0" rtlCol="0" anchor="t"/>
          <a:lstStyle/>
          <a:p>
            <a:pPr marL="0" indent="0" algn="l">
              <a:lnSpc>
                <a:spcPts val="1800"/>
              </a:lnSpc>
              <a:buNone/>
            </a:pPr>
            <a:r>
              <a:rPr lang="en-US" sz="1300" dirty="0">
                <a:solidFill>
                  <a:srgbClr val="FFFFFF"/>
                </a:solidFill>
                <a:latin typeface="Alexandria Semi Bold" pitchFamily="34" charset="0"/>
                <a:ea typeface="Alexandria Semi Bold" pitchFamily="34" charset="-122"/>
                <a:cs typeface="Alexandria Semi Bold" pitchFamily="34" charset="-120"/>
              </a:rPr>
              <a:t>1</a:t>
            </a:r>
            <a:endParaRPr lang="en-US" sz="1300" dirty="0"/>
          </a:p>
        </p:txBody>
      </p:sp>
      <p:sp>
        <p:nvSpPr>
          <p:cNvPr id="7" name="Text 5"/>
          <p:cNvSpPr/>
          <p:nvPr/>
        </p:nvSpPr>
        <p:spPr>
          <a:xfrm>
            <a:off x="1696641" y="1878687"/>
            <a:ext cx="1995964" cy="228719"/>
          </a:xfrm>
          <a:prstGeom prst="rect">
            <a:avLst/>
          </a:prstGeom>
          <a:noFill/>
          <a:ln/>
        </p:spPr>
        <p:txBody>
          <a:bodyPr wrap="none" lIns="0" tIns="0" rIns="0" bIns="0" rtlCol="0" anchor="t"/>
          <a:lstStyle/>
          <a:p>
            <a:pPr marL="0" indent="0" algn="l">
              <a:lnSpc>
                <a:spcPts val="1800"/>
              </a:lnSpc>
              <a:buNone/>
            </a:pPr>
            <a:r>
              <a:rPr lang="en-US" sz="2000" b="1" dirty="0">
                <a:solidFill>
                  <a:srgbClr val="3B3535"/>
                </a:solidFill>
                <a:ea typeface="Alexandria Semi Bold" pitchFamily="34" charset="-122"/>
                <a:cs typeface="Alexandria Semi Bold" pitchFamily="34" charset="-120"/>
              </a:rPr>
              <a:t>Urutan Kondisi Keliru</a:t>
            </a:r>
            <a:endParaRPr lang="en-US" sz="2000" b="1" dirty="0"/>
          </a:p>
        </p:txBody>
      </p:sp>
      <p:sp>
        <p:nvSpPr>
          <p:cNvPr id="8" name="Text 6"/>
          <p:cNvSpPr/>
          <p:nvPr/>
        </p:nvSpPr>
        <p:spPr>
          <a:xfrm>
            <a:off x="1696641" y="2209443"/>
            <a:ext cx="5294590" cy="385524"/>
          </a:xfrm>
          <a:prstGeom prst="rect">
            <a:avLst/>
          </a:prstGeom>
          <a:noFill/>
          <a:ln/>
        </p:spPr>
        <p:txBody>
          <a:bodyPr wrap="square" lIns="0" tIns="0" rIns="0" bIns="0" rtlCol="0" anchor="t"/>
          <a:lstStyle/>
          <a:p>
            <a:pPr marL="0" indent="0" algn="l">
              <a:lnSpc>
                <a:spcPts val="1500"/>
              </a:lnSpc>
              <a:buNone/>
            </a:pPr>
            <a:r>
              <a:rPr lang="en-US" sz="1600" b="1" dirty="0">
                <a:solidFill>
                  <a:srgbClr val="3B3535"/>
                </a:solidFill>
                <a:ea typeface="Sora Light" pitchFamily="34" charset="-122"/>
                <a:cs typeface="Sora Light" pitchFamily="34" charset="-120"/>
              </a:rPr>
              <a:t>Masalah utama ada pada urutan pengecekan kondisi. Algoritma ini memeriksa kondisi dari yang paling "longgar" (Nilai &gt; 50) terlebih dahulu.</a:t>
            </a:r>
            <a:endParaRPr lang="en-US" sz="1600" b="1" dirty="0"/>
          </a:p>
        </p:txBody>
      </p:sp>
      <p:sp>
        <p:nvSpPr>
          <p:cNvPr id="9" name="Shape 7"/>
          <p:cNvSpPr/>
          <p:nvPr/>
        </p:nvSpPr>
        <p:spPr>
          <a:xfrm>
            <a:off x="1542336" y="3059906"/>
            <a:ext cx="5603200" cy="1626632"/>
          </a:xfrm>
          <a:prstGeom prst="roundRect">
            <a:avLst>
              <a:gd name="adj" fmla="val 4497"/>
            </a:avLst>
          </a:prstGeom>
          <a:solidFill>
            <a:srgbClr val="FFFAFA"/>
          </a:solidFill>
          <a:ln/>
        </p:spPr>
      </p:sp>
      <p:sp>
        <p:nvSpPr>
          <p:cNvPr id="10" name="Shape 8"/>
          <p:cNvSpPr/>
          <p:nvPr/>
        </p:nvSpPr>
        <p:spPr>
          <a:xfrm>
            <a:off x="1542336" y="3044666"/>
            <a:ext cx="5603200" cy="60960"/>
          </a:xfrm>
          <a:prstGeom prst="roundRect">
            <a:avLst>
              <a:gd name="adj" fmla="val 95832"/>
            </a:avLst>
          </a:prstGeom>
          <a:solidFill>
            <a:srgbClr val="1A2D7A"/>
          </a:solidFill>
          <a:ln/>
        </p:spPr>
      </p:sp>
      <p:sp>
        <p:nvSpPr>
          <p:cNvPr id="11" name="Shape 9"/>
          <p:cNvSpPr/>
          <p:nvPr/>
        </p:nvSpPr>
        <p:spPr>
          <a:xfrm>
            <a:off x="4135279" y="2851309"/>
            <a:ext cx="417195" cy="417195"/>
          </a:xfrm>
          <a:prstGeom prst="roundRect">
            <a:avLst>
              <a:gd name="adj" fmla="val 219178"/>
            </a:avLst>
          </a:prstGeom>
          <a:solidFill>
            <a:srgbClr val="1A2D7A"/>
          </a:solidFill>
          <a:ln/>
        </p:spPr>
      </p:sp>
      <p:sp>
        <p:nvSpPr>
          <p:cNvPr id="12" name="Text 10"/>
          <p:cNvSpPr/>
          <p:nvPr/>
        </p:nvSpPr>
        <p:spPr>
          <a:xfrm>
            <a:off x="4260413" y="2955608"/>
            <a:ext cx="166807" cy="208598"/>
          </a:xfrm>
          <a:prstGeom prst="rect">
            <a:avLst/>
          </a:prstGeom>
          <a:noFill/>
          <a:ln/>
        </p:spPr>
        <p:txBody>
          <a:bodyPr wrap="none" lIns="0" tIns="0" rIns="0" bIns="0" rtlCol="0" anchor="t"/>
          <a:lstStyle/>
          <a:p>
            <a:pPr marL="0" indent="0" algn="l">
              <a:lnSpc>
                <a:spcPts val="1800"/>
              </a:lnSpc>
              <a:buNone/>
            </a:pPr>
            <a:r>
              <a:rPr lang="en-US" sz="1300" dirty="0">
                <a:solidFill>
                  <a:srgbClr val="FFFFFF"/>
                </a:solidFill>
                <a:latin typeface="Alexandria Semi Bold" pitchFamily="34" charset="0"/>
                <a:ea typeface="Alexandria Semi Bold" pitchFamily="34" charset="-122"/>
                <a:cs typeface="Alexandria Semi Bold" pitchFamily="34" charset="-120"/>
              </a:rPr>
              <a:t>2</a:t>
            </a:r>
            <a:endParaRPr lang="en-US" sz="1300" dirty="0"/>
          </a:p>
        </p:txBody>
      </p:sp>
      <p:sp>
        <p:nvSpPr>
          <p:cNvPr id="13" name="Text 11"/>
          <p:cNvSpPr/>
          <p:nvPr/>
        </p:nvSpPr>
        <p:spPr>
          <a:xfrm>
            <a:off x="1696641" y="3407569"/>
            <a:ext cx="1830110" cy="228719"/>
          </a:xfrm>
          <a:prstGeom prst="rect">
            <a:avLst/>
          </a:prstGeom>
          <a:noFill/>
          <a:ln/>
        </p:spPr>
        <p:txBody>
          <a:bodyPr wrap="none" lIns="0" tIns="0" rIns="0" bIns="0" rtlCol="0" anchor="t"/>
          <a:lstStyle/>
          <a:p>
            <a:pPr marL="0" indent="0" algn="l">
              <a:lnSpc>
                <a:spcPts val="1800"/>
              </a:lnSpc>
              <a:buNone/>
            </a:pPr>
            <a:r>
              <a:rPr lang="en-US" sz="2000" b="1" dirty="0">
                <a:solidFill>
                  <a:srgbClr val="3B3535"/>
                </a:solidFill>
                <a:latin typeface="Calibri" panose="020F0502020204030204" pitchFamily="34" charset="0"/>
                <a:ea typeface="Alexandria Semi Bold" pitchFamily="34" charset="-122"/>
                <a:cs typeface="Calibri" panose="020F0502020204030204" pitchFamily="34" charset="0"/>
              </a:rPr>
              <a:t>Dampak pada Hasil</a:t>
            </a:r>
            <a:endParaRPr lang="en-US" sz="2000" b="1" dirty="0">
              <a:latin typeface="Calibri" panose="020F0502020204030204" pitchFamily="34" charset="0"/>
              <a:cs typeface="Calibri" panose="020F0502020204030204" pitchFamily="34" charset="0"/>
            </a:endParaRPr>
          </a:p>
        </p:txBody>
      </p:sp>
      <p:sp>
        <p:nvSpPr>
          <p:cNvPr id="14" name="Text 12"/>
          <p:cNvSpPr/>
          <p:nvPr/>
        </p:nvSpPr>
        <p:spPr>
          <a:xfrm>
            <a:off x="1696641" y="3738324"/>
            <a:ext cx="5294590" cy="793909"/>
          </a:xfrm>
          <a:prstGeom prst="rect">
            <a:avLst/>
          </a:prstGeom>
          <a:noFill/>
          <a:ln/>
        </p:spPr>
        <p:txBody>
          <a:bodyPr wrap="square" lIns="0" tIns="0" rIns="0" bIns="0" rtlCol="0" anchor="t"/>
          <a:lstStyle/>
          <a:p>
            <a:pPr marL="0" indent="0" algn="l">
              <a:lnSpc>
                <a:spcPts val="1500"/>
              </a:lnSpc>
              <a:buNone/>
            </a:pPr>
            <a:r>
              <a:rPr lang="en-US" sz="1600" b="1" dirty="0">
                <a:solidFill>
                  <a:srgbClr val="3B3535"/>
                </a:solidFill>
                <a:ea typeface="Sora Light" pitchFamily="34" charset="-122"/>
                <a:cs typeface="Sora Light" pitchFamily="34" charset="-120"/>
              </a:rPr>
              <a:t>Jika Nilai = 85, kondisi pertama (</a:t>
            </a:r>
            <a:r>
              <a:rPr lang="en-US" sz="1600" b="1" dirty="0">
                <a:solidFill>
                  <a:srgbClr val="3B3535"/>
                </a:solidFill>
                <a:highlight>
                  <a:srgbClr val="F2EDED"/>
                </a:highlight>
                <a:ea typeface="Consolas" pitchFamily="34" charset="-122"/>
                <a:cs typeface="Consolas" pitchFamily="34" charset="-120"/>
              </a:rPr>
              <a:t>Nilai &gt; 50</a:t>
            </a:r>
            <a:r>
              <a:rPr lang="en-US" sz="1600" b="1" dirty="0">
                <a:solidFill>
                  <a:srgbClr val="3B3535"/>
                </a:solidFill>
                <a:ea typeface="Sora Light" pitchFamily="34" charset="-122"/>
                <a:cs typeface="Sora Light" pitchFamily="34" charset="-120"/>
              </a:rPr>
              <a:t>) akan terpenuhi, sehingga output akan langsung "Grade D". Kondisi-kondisi selanjutnya (</a:t>
            </a:r>
            <a:r>
              <a:rPr lang="en-US" sz="1600" b="1" dirty="0">
                <a:solidFill>
                  <a:srgbClr val="3B3535"/>
                </a:solidFill>
                <a:highlight>
                  <a:srgbClr val="F2EDED"/>
                </a:highlight>
                <a:ea typeface="Consolas" pitchFamily="34" charset="-122"/>
                <a:cs typeface="Consolas" pitchFamily="34" charset="-120"/>
              </a:rPr>
              <a:t>Nilai &gt; 60</a:t>
            </a:r>
            <a:r>
              <a:rPr lang="en-US" sz="1600" b="1" dirty="0">
                <a:solidFill>
                  <a:srgbClr val="3B3535"/>
                </a:solidFill>
                <a:ea typeface="Sora Light" pitchFamily="34" charset="-122"/>
                <a:cs typeface="Sora Light" pitchFamily="34" charset="-120"/>
              </a:rPr>
              <a:t>, </a:t>
            </a:r>
            <a:r>
              <a:rPr lang="en-US" sz="1600" b="1" dirty="0">
                <a:solidFill>
                  <a:srgbClr val="3B3535"/>
                </a:solidFill>
                <a:highlight>
                  <a:srgbClr val="F2EDED"/>
                </a:highlight>
                <a:ea typeface="Consolas" pitchFamily="34" charset="-122"/>
                <a:cs typeface="Consolas" pitchFamily="34" charset="-120"/>
              </a:rPr>
              <a:t>Nilai &gt; 70</a:t>
            </a:r>
            <a:r>
              <a:rPr lang="en-US" sz="1600" b="1" dirty="0">
                <a:solidFill>
                  <a:srgbClr val="3B3535"/>
                </a:solidFill>
                <a:ea typeface="Sora Light" pitchFamily="34" charset="-122"/>
                <a:cs typeface="Sora Light" pitchFamily="34" charset="-120"/>
              </a:rPr>
              <a:t>, </a:t>
            </a:r>
            <a:r>
              <a:rPr lang="en-US" sz="1600" b="1" dirty="0">
                <a:solidFill>
                  <a:srgbClr val="3B3535"/>
                </a:solidFill>
                <a:highlight>
                  <a:srgbClr val="F2EDED"/>
                </a:highlight>
                <a:ea typeface="Consolas" pitchFamily="34" charset="-122"/>
                <a:cs typeface="Consolas" pitchFamily="34" charset="-120"/>
              </a:rPr>
              <a:t>Nilai &gt; 80</a:t>
            </a:r>
            <a:r>
              <a:rPr lang="en-US" sz="1600" b="1" dirty="0">
                <a:solidFill>
                  <a:srgbClr val="3B3535"/>
                </a:solidFill>
                <a:ea typeface="Sora Light" pitchFamily="34" charset="-122"/>
                <a:cs typeface="Sora Light" pitchFamily="34" charset="-120"/>
              </a:rPr>
              <a:t>) tidak akan pernah diperiksa jika menggunakan struktur IF terpisah seperti ini.</a:t>
            </a:r>
            <a:endParaRPr lang="en-US" sz="1600" b="1" dirty="0"/>
          </a:p>
        </p:txBody>
      </p:sp>
      <p:sp>
        <p:nvSpPr>
          <p:cNvPr id="15" name="Shape 13"/>
          <p:cNvSpPr/>
          <p:nvPr/>
        </p:nvSpPr>
        <p:spPr>
          <a:xfrm>
            <a:off x="1542336" y="4997172"/>
            <a:ext cx="5603200" cy="1411010"/>
          </a:xfrm>
          <a:prstGeom prst="roundRect">
            <a:avLst>
              <a:gd name="adj" fmla="val 5184"/>
            </a:avLst>
          </a:prstGeom>
          <a:solidFill>
            <a:srgbClr val="FFFAFA"/>
          </a:solidFill>
          <a:ln/>
        </p:spPr>
      </p:sp>
      <p:sp>
        <p:nvSpPr>
          <p:cNvPr id="16" name="Shape 14"/>
          <p:cNvSpPr/>
          <p:nvPr/>
        </p:nvSpPr>
        <p:spPr>
          <a:xfrm>
            <a:off x="1542336" y="4981932"/>
            <a:ext cx="5603200" cy="60960"/>
          </a:xfrm>
          <a:prstGeom prst="roundRect">
            <a:avLst>
              <a:gd name="adj" fmla="val 95832"/>
            </a:avLst>
          </a:prstGeom>
          <a:solidFill>
            <a:srgbClr val="1A2D7A"/>
          </a:solidFill>
          <a:ln/>
        </p:spPr>
      </p:sp>
      <p:sp>
        <p:nvSpPr>
          <p:cNvPr id="17" name="Shape 15"/>
          <p:cNvSpPr/>
          <p:nvPr/>
        </p:nvSpPr>
        <p:spPr>
          <a:xfrm>
            <a:off x="4135279" y="4788575"/>
            <a:ext cx="417195" cy="417195"/>
          </a:xfrm>
          <a:prstGeom prst="roundRect">
            <a:avLst>
              <a:gd name="adj" fmla="val 219178"/>
            </a:avLst>
          </a:prstGeom>
          <a:solidFill>
            <a:srgbClr val="1A2D7A"/>
          </a:solidFill>
          <a:ln/>
        </p:spPr>
      </p:sp>
      <p:sp>
        <p:nvSpPr>
          <p:cNvPr id="18" name="Text 16"/>
          <p:cNvSpPr/>
          <p:nvPr/>
        </p:nvSpPr>
        <p:spPr>
          <a:xfrm>
            <a:off x="4260413" y="4892873"/>
            <a:ext cx="166807" cy="208598"/>
          </a:xfrm>
          <a:prstGeom prst="rect">
            <a:avLst/>
          </a:prstGeom>
          <a:noFill/>
          <a:ln/>
        </p:spPr>
        <p:txBody>
          <a:bodyPr wrap="none" lIns="0" tIns="0" rIns="0" bIns="0" rtlCol="0" anchor="t"/>
          <a:lstStyle/>
          <a:p>
            <a:pPr marL="0" indent="0" algn="l">
              <a:lnSpc>
                <a:spcPts val="1800"/>
              </a:lnSpc>
              <a:buNone/>
            </a:pPr>
            <a:r>
              <a:rPr lang="en-US" sz="1300" dirty="0">
                <a:solidFill>
                  <a:srgbClr val="FFFFFF"/>
                </a:solidFill>
                <a:latin typeface="Alexandria Semi Bold" pitchFamily="34" charset="0"/>
                <a:ea typeface="Alexandria Semi Bold" pitchFamily="34" charset="-122"/>
                <a:cs typeface="Alexandria Semi Bold" pitchFamily="34" charset="-120"/>
              </a:rPr>
              <a:t>3</a:t>
            </a:r>
            <a:endParaRPr lang="en-US" sz="1300" dirty="0"/>
          </a:p>
        </p:txBody>
      </p:sp>
      <p:sp>
        <p:nvSpPr>
          <p:cNvPr id="19" name="Text 17"/>
          <p:cNvSpPr/>
          <p:nvPr/>
        </p:nvSpPr>
        <p:spPr>
          <a:xfrm>
            <a:off x="1696641" y="5344835"/>
            <a:ext cx="2848570" cy="228719"/>
          </a:xfrm>
          <a:prstGeom prst="rect">
            <a:avLst/>
          </a:prstGeom>
          <a:noFill/>
          <a:ln/>
        </p:spPr>
        <p:txBody>
          <a:bodyPr wrap="none" lIns="0" tIns="0" rIns="0" bIns="0" rtlCol="0" anchor="t"/>
          <a:lstStyle/>
          <a:p>
            <a:pPr marL="0" indent="0" algn="l">
              <a:lnSpc>
                <a:spcPts val="1800"/>
              </a:lnSpc>
              <a:buNone/>
            </a:pPr>
            <a:r>
              <a:rPr lang="en-US" sz="2000" b="1" dirty="0">
                <a:solidFill>
                  <a:srgbClr val="3B3535"/>
                </a:solidFill>
                <a:ea typeface="Alexandria Semi Bold" pitchFamily="34" charset="-122"/>
                <a:cs typeface="Alexandria Semi Bold" pitchFamily="34" charset="-120"/>
              </a:rPr>
              <a:t>Pentingnya Struktur IF-ELSE IF</a:t>
            </a:r>
            <a:endParaRPr lang="en-US" sz="2000" b="1" dirty="0"/>
          </a:p>
        </p:txBody>
      </p:sp>
      <p:sp>
        <p:nvSpPr>
          <p:cNvPr id="20" name="Text 18"/>
          <p:cNvSpPr/>
          <p:nvPr/>
        </p:nvSpPr>
        <p:spPr>
          <a:xfrm>
            <a:off x="1696641" y="5675590"/>
            <a:ext cx="5294590" cy="578287"/>
          </a:xfrm>
          <a:prstGeom prst="rect">
            <a:avLst/>
          </a:prstGeom>
          <a:noFill/>
          <a:ln/>
        </p:spPr>
        <p:txBody>
          <a:bodyPr wrap="square" lIns="0" tIns="0" rIns="0" bIns="0" rtlCol="0" anchor="t"/>
          <a:lstStyle/>
          <a:p>
            <a:pPr marL="0" indent="0" algn="l">
              <a:lnSpc>
                <a:spcPts val="1500"/>
              </a:lnSpc>
              <a:buNone/>
            </a:pPr>
            <a:r>
              <a:rPr lang="en-US" sz="1600" b="1" dirty="0">
                <a:solidFill>
                  <a:srgbClr val="3B3535"/>
                </a:solidFill>
                <a:ea typeface="Sora Light" pitchFamily="34" charset="-122"/>
                <a:cs typeface="Sora Light" pitchFamily="34" charset="-120"/>
              </a:rPr>
              <a:t>Untuk kondisi berjenjang seperti ini, kita memerlukan struktur yang memastikan hanya satu blok kode yang dieksekusi setelah satu kondisi terpenuhi, yaitu menggunakan IF-ELSE IF atau IF bertingkat.</a:t>
            </a:r>
            <a:endParaRPr lang="en-US" sz="1600" b="1" dirty="0"/>
          </a:p>
        </p:txBody>
      </p:sp>
      <p:pic>
        <p:nvPicPr>
          <p:cNvPr id="21" name="Image 0" descr="preencoded.png"/>
          <p:cNvPicPr>
            <a:picLocks noChangeAspect="1"/>
          </p:cNvPicPr>
          <p:nvPr/>
        </p:nvPicPr>
        <p:blipFill>
          <a:blip r:embed="rId3"/>
          <a:stretch>
            <a:fillRect/>
          </a:stretch>
        </p:blipFill>
        <p:spPr>
          <a:xfrm>
            <a:off x="7492484" y="1322427"/>
            <a:ext cx="5603200" cy="5603200"/>
          </a:xfrm>
          <a:prstGeom prst="rect">
            <a:avLst/>
          </a:prstGeom>
        </p:spPr>
      </p:pic>
      <p:sp>
        <p:nvSpPr>
          <p:cNvPr id="22" name="Text 19"/>
          <p:cNvSpPr/>
          <p:nvPr/>
        </p:nvSpPr>
        <p:spPr>
          <a:xfrm>
            <a:off x="1542336" y="6821923"/>
            <a:ext cx="11545729" cy="385524"/>
          </a:xfrm>
          <a:prstGeom prst="rect">
            <a:avLst/>
          </a:prstGeom>
          <a:noFill/>
          <a:ln/>
        </p:spPr>
        <p:txBody>
          <a:bodyPr wrap="square" lIns="0" tIns="0" rIns="0" bIns="0" rtlCol="0" anchor="t"/>
          <a:lstStyle/>
          <a:p>
            <a:pPr marL="0" indent="0" algn="l">
              <a:lnSpc>
                <a:spcPts val="1500"/>
              </a:lnSpc>
              <a:buNone/>
            </a:pPr>
            <a:r>
              <a:rPr lang="en-US" sz="1600" b="1" dirty="0">
                <a:solidFill>
                  <a:srgbClr val="3B3535"/>
                </a:solidFill>
                <a:ea typeface="Sora Light" pitchFamily="34" charset="-122"/>
                <a:cs typeface="Sora Light" pitchFamily="34" charset="-120"/>
              </a:rPr>
              <a:t>Kesalahan ini adalah contoh klasik dari jebakan logika yang sering ditemui pemula. Memahami bagaimana alur kontrol bekerja sangat penting untuk menghindari hasil yang tidak diinginkan.</a:t>
            </a:r>
            <a:endParaRPr lang="en-US" sz="1600" b="1" dirty="0"/>
          </a:p>
        </p:txBody>
      </p:sp>
      <p:sp>
        <p:nvSpPr>
          <p:cNvPr id="23" name="Rounded Rectangle 22"/>
          <p:cNvSpPr/>
          <p:nvPr/>
        </p:nvSpPr>
        <p:spPr>
          <a:xfrm>
            <a:off x="12748845" y="7649307"/>
            <a:ext cx="1846385" cy="527538"/>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53058" y="748070"/>
            <a:ext cx="6276856" cy="429578"/>
          </a:xfrm>
          <a:prstGeom prst="rect">
            <a:avLst/>
          </a:prstGeom>
          <a:noFill/>
          <a:ln/>
        </p:spPr>
        <p:txBody>
          <a:bodyPr wrap="none" lIns="0" tIns="0" rIns="0" bIns="0" rtlCol="0" anchor="t"/>
          <a:lstStyle/>
          <a:p>
            <a:pPr marL="0" indent="0" algn="l">
              <a:lnSpc>
                <a:spcPts val="3350"/>
              </a:lnSpc>
              <a:buNone/>
            </a:pPr>
            <a:r>
              <a:rPr lang="en-US" sz="2700" b="1" dirty="0">
                <a:solidFill>
                  <a:srgbClr val="1F1E1E"/>
                </a:solidFill>
                <a:latin typeface="+mj-lt"/>
                <a:ea typeface="Alexandria Semi Bold" pitchFamily="34" charset="-122"/>
                <a:cs typeface="Alexandria Semi Bold" pitchFamily="34" charset="-120"/>
              </a:rPr>
              <a:t>Algoritma yang Benar (Pseudocode)</a:t>
            </a:r>
            <a:endParaRPr lang="en-US" sz="2700" b="1" dirty="0">
              <a:latin typeface="+mj-lt"/>
            </a:endParaRPr>
          </a:p>
        </p:txBody>
      </p:sp>
      <p:pic>
        <p:nvPicPr>
          <p:cNvPr id="3" name="Image 0" descr="preencoded.png"/>
          <p:cNvPicPr>
            <a:picLocks noChangeAspect="1"/>
          </p:cNvPicPr>
          <p:nvPr/>
        </p:nvPicPr>
        <p:blipFill>
          <a:blip r:embed="rId3"/>
          <a:stretch>
            <a:fillRect/>
          </a:stretch>
        </p:blipFill>
        <p:spPr>
          <a:xfrm>
            <a:off x="653058" y="1546622"/>
            <a:ext cx="5776793" cy="5776793"/>
          </a:xfrm>
          <a:prstGeom prst="rect">
            <a:avLst/>
          </a:prstGeom>
        </p:spPr>
      </p:pic>
      <p:sp>
        <p:nvSpPr>
          <p:cNvPr id="4" name="Text 1"/>
          <p:cNvSpPr/>
          <p:nvPr/>
        </p:nvSpPr>
        <p:spPr>
          <a:xfrm>
            <a:off x="6835854" y="1514951"/>
            <a:ext cx="7148989" cy="729020"/>
          </a:xfrm>
          <a:prstGeom prst="rect">
            <a:avLst/>
          </a:prstGeom>
          <a:noFill/>
          <a:ln/>
        </p:spPr>
        <p:txBody>
          <a:bodyPr wrap="square" lIns="0" tIns="0" rIns="0" bIns="0" rtlCol="0" anchor="t"/>
          <a:lstStyle/>
          <a:p>
            <a:pPr marL="0" indent="0" algn="l">
              <a:lnSpc>
                <a:spcPts val="1900"/>
              </a:lnSpc>
              <a:buNone/>
            </a:pPr>
            <a:r>
              <a:rPr lang="en-US" sz="1600" b="1" dirty="0">
                <a:solidFill>
                  <a:srgbClr val="3B3535"/>
                </a:solidFill>
                <a:ea typeface="Sora Light" pitchFamily="34" charset="-122"/>
                <a:cs typeface="Sora Light" pitchFamily="34" charset="-120"/>
              </a:rPr>
              <a:t>Untuk memperbaiki kesalahan logika pada studi kasus penilaian mahasiswa, kita perlu memastikan bahwa kondisi diperiksa dari yang paling "ketat" atau spesifik terlebih dahulu, atau menggunakan struktur kontrol yang tepat seperti </a:t>
            </a:r>
            <a:r>
              <a:rPr lang="en-US" sz="1600" b="1" dirty="0">
                <a:solidFill>
                  <a:srgbClr val="1A2D7A"/>
                </a:solidFill>
                <a:ea typeface="Sora Light" pitchFamily="34" charset="-122"/>
                <a:cs typeface="Sora Light" pitchFamily="34" charset="-120"/>
              </a:rPr>
              <a:t>IF-ELSE IF</a:t>
            </a:r>
            <a:r>
              <a:rPr lang="en-US" sz="1600" b="1" dirty="0">
                <a:solidFill>
                  <a:srgbClr val="3B3535"/>
                </a:solidFill>
                <a:ea typeface="Sora Light" pitchFamily="34" charset="-122"/>
                <a:cs typeface="Sora Light" pitchFamily="34" charset="-120"/>
              </a:rPr>
              <a:t>.</a:t>
            </a:r>
            <a:endParaRPr lang="en-US" sz="1600" b="1" dirty="0"/>
          </a:p>
        </p:txBody>
      </p:sp>
      <p:sp>
        <p:nvSpPr>
          <p:cNvPr id="5" name="Shape 2"/>
          <p:cNvSpPr/>
          <p:nvPr/>
        </p:nvSpPr>
        <p:spPr>
          <a:xfrm>
            <a:off x="6835854" y="2402086"/>
            <a:ext cx="7148989" cy="3403878"/>
          </a:xfrm>
          <a:prstGeom prst="roundRect">
            <a:avLst>
              <a:gd name="adj" fmla="val 2015"/>
            </a:avLst>
          </a:prstGeom>
          <a:solidFill>
            <a:srgbClr val="F2EDED"/>
          </a:solidFill>
          <a:ln/>
        </p:spPr>
      </p:sp>
      <p:sp>
        <p:nvSpPr>
          <p:cNvPr id="6" name="Shape 3"/>
          <p:cNvSpPr/>
          <p:nvPr/>
        </p:nvSpPr>
        <p:spPr>
          <a:xfrm>
            <a:off x="6827758" y="2402086"/>
            <a:ext cx="7165181" cy="3403878"/>
          </a:xfrm>
          <a:prstGeom prst="roundRect">
            <a:avLst>
              <a:gd name="adj" fmla="val 720"/>
            </a:avLst>
          </a:prstGeom>
          <a:solidFill>
            <a:srgbClr val="F2EDED"/>
          </a:solidFill>
          <a:ln/>
        </p:spPr>
      </p:sp>
      <p:sp>
        <p:nvSpPr>
          <p:cNvPr id="7" name="Text 4"/>
          <p:cNvSpPr/>
          <p:nvPr/>
        </p:nvSpPr>
        <p:spPr>
          <a:xfrm>
            <a:off x="6990993" y="2524482"/>
            <a:ext cx="6838712" cy="3159085"/>
          </a:xfrm>
          <a:prstGeom prst="rect">
            <a:avLst/>
          </a:prstGeom>
          <a:noFill/>
          <a:ln/>
        </p:spPr>
        <p:txBody>
          <a:bodyPr wrap="square" lIns="0" tIns="0" rIns="0" bIns="0" rtlCol="0" anchor="t"/>
          <a:lstStyle/>
          <a:p>
            <a:pPr marL="0" indent="0" algn="l">
              <a:lnSpc>
                <a:spcPts val="1900"/>
              </a:lnSpc>
              <a:buNone/>
            </a:pPr>
            <a:r>
              <a:rPr lang="en-US" sz="1600" dirty="0">
                <a:solidFill>
                  <a:srgbClr val="3B3535"/>
                </a:solidFill>
                <a:highlight>
                  <a:srgbClr val="F2EDED"/>
                </a:highlight>
                <a:latin typeface="Calibri" panose="020F0502020204030204" pitchFamily="34" charset="0"/>
                <a:ea typeface="Consolas Light" pitchFamily="34" charset="-122"/>
                <a:cs typeface="Calibri" panose="020F0502020204030204" pitchFamily="34" charset="0"/>
              </a:rPr>
              <a:t>BACA Nilai
JIKA Nilai &gt; 80 MAKA
  TULIS "Grade A"
SELAIN JIKA Nilai &gt; 70 MAKA
  TULIS "Grade B"
SELAIN JIKA Nilai &gt; 60 MAKA
  TULIS "Grade C"
SELAIN JIKA Nilai &gt; 50 MAKA
  TULIS "Grade D"
SELAIN ITU
  TULIS "Grade E"
</a:t>
            </a:r>
            <a:endParaRPr lang="en-US" sz="1600" dirty="0">
              <a:latin typeface="Calibri" panose="020F0502020204030204" pitchFamily="34" charset="0"/>
              <a:cs typeface="Calibri" panose="020F0502020204030204" pitchFamily="34" charset="0"/>
            </a:endParaRPr>
          </a:p>
        </p:txBody>
      </p:sp>
      <p:sp>
        <p:nvSpPr>
          <p:cNvPr id="8" name="Text 5"/>
          <p:cNvSpPr/>
          <p:nvPr/>
        </p:nvSpPr>
        <p:spPr>
          <a:xfrm>
            <a:off x="6835854" y="5964079"/>
            <a:ext cx="7148989" cy="979646"/>
          </a:xfrm>
          <a:prstGeom prst="rect">
            <a:avLst/>
          </a:prstGeom>
          <a:noFill/>
          <a:ln/>
        </p:spPr>
        <p:txBody>
          <a:bodyPr wrap="square" lIns="0" tIns="0" rIns="0" bIns="0" rtlCol="0" anchor="t"/>
          <a:lstStyle/>
          <a:p>
            <a:pPr marL="0" indent="0" algn="l">
              <a:lnSpc>
                <a:spcPts val="1900"/>
              </a:lnSpc>
              <a:buNone/>
            </a:pPr>
            <a:r>
              <a:rPr lang="en-US" sz="1600" b="1" dirty="0">
                <a:solidFill>
                  <a:srgbClr val="3B3535"/>
                </a:solidFill>
                <a:latin typeface="Calibri" panose="020F0502020204030204" pitchFamily="34" charset="0"/>
                <a:ea typeface="Sora Light" pitchFamily="34" charset="-122"/>
                <a:cs typeface="Calibri" panose="020F0502020204030204" pitchFamily="34" charset="0"/>
              </a:rPr>
              <a:t>Perhatikan penggunaan </a:t>
            </a:r>
            <a:r>
              <a:rPr lang="en-US" sz="1600" b="1" dirty="0">
                <a:solidFill>
                  <a:srgbClr val="3B3535"/>
                </a:solidFill>
                <a:highlight>
                  <a:srgbClr val="F2EDED"/>
                </a:highlight>
                <a:latin typeface="Calibri" panose="020F0502020204030204" pitchFamily="34" charset="0"/>
                <a:ea typeface="Consolas" pitchFamily="34" charset="-122"/>
                <a:cs typeface="Calibri" panose="020F0502020204030204" pitchFamily="34" charset="0"/>
              </a:rPr>
              <a:t>SELAIN JIKA</a:t>
            </a:r>
            <a:r>
              <a:rPr lang="en-US" sz="1600" b="1" dirty="0">
                <a:solidFill>
                  <a:srgbClr val="3B3535"/>
                </a:solidFill>
                <a:latin typeface="Calibri" panose="020F0502020204030204" pitchFamily="34" charset="0"/>
                <a:ea typeface="Sora Light" pitchFamily="34" charset="-122"/>
                <a:cs typeface="Calibri" panose="020F0502020204030204" pitchFamily="34" charset="0"/>
              </a:rPr>
              <a:t> (atau </a:t>
            </a:r>
            <a:r>
              <a:rPr lang="en-US" sz="1600" b="1" dirty="0">
                <a:solidFill>
                  <a:srgbClr val="3B3535"/>
                </a:solidFill>
                <a:highlight>
                  <a:srgbClr val="F2EDED"/>
                </a:highlight>
                <a:latin typeface="Calibri" panose="020F0502020204030204" pitchFamily="34" charset="0"/>
                <a:ea typeface="Consolas" pitchFamily="34" charset="-122"/>
                <a:cs typeface="Calibri" panose="020F0502020204030204" pitchFamily="34" charset="0"/>
              </a:rPr>
              <a:t>ELSE IF</a:t>
            </a:r>
            <a:r>
              <a:rPr lang="en-US" sz="1600" b="1" dirty="0">
                <a:solidFill>
                  <a:srgbClr val="3B3535"/>
                </a:solidFill>
                <a:latin typeface="Calibri" panose="020F0502020204030204" pitchFamily="34" charset="0"/>
                <a:ea typeface="Sora Light" pitchFamily="34" charset="-122"/>
                <a:cs typeface="Calibri" panose="020F0502020204030204" pitchFamily="34" charset="0"/>
              </a:rPr>
              <a:t> dalam banyak bahasa pemrograman). Struktur ini menjamin bahwa jika satu kondisi terpenuhi, kondisi selanjutnya tidak akan dievaluasi, sehingga hanya satu grade yang akan ditetapkan dengan benar. Ini adalah kunci dari </a:t>
            </a:r>
            <a:r>
              <a:rPr lang="en-US" sz="1600" b="1" dirty="0">
                <a:solidFill>
                  <a:srgbClr val="1A2D7A"/>
                </a:solidFill>
                <a:latin typeface="Calibri" panose="020F0502020204030204" pitchFamily="34" charset="0"/>
                <a:ea typeface="Sora Light" pitchFamily="34" charset="-122"/>
                <a:cs typeface="Calibri" panose="020F0502020204030204" pitchFamily="34" charset="0"/>
              </a:rPr>
              <a:t>logika</a:t>
            </a:r>
            <a:r>
              <a:rPr lang="en-US" sz="1600" b="1" dirty="0">
                <a:solidFill>
                  <a:srgbClr val="3B3535"/>
                </a:solidFill>
                <a:latin typeface="Calibri" panose="020F0502020204030204" pitchFamily="34" charset="0"/>
                <a:ea typeface="Sora Light" pitchFamily="34" charset="-122"/>
                <a:cs typeface="Calibri" panose="020F0502020204030204" pitchFamily="34" charset="0"/>
              </a:rPr>
              <a:t> yang benar, bukan sekadar sintaks.</a:t>
            </a:r>
            <a:endParaRPr lang="en-US" sz="1600" b="1" dirty="0">
              <a:latin typeface="Calibri" panose="020F0502020204030204" pitchFamily="34" charset="0"/>
              <a:cs typeface="Calibri" panose="020F0502020204030204" pitchFamily="34" charset="0"/>
            </a:endParaRPr>
          </a:p>
        </p:txBody>
      </p:sp>
      <p:sp>
        <p:nvSpPr>
          <p:cNvPr id="9" name="Rounded Rectangle 8"/>
          <p:cNvSpPr/>
          <p:nvPr/>
        </p:nvSpPr>
        <p:spPr>
          <a:xfrm>
            <a:off x="12731261" y="7631722"/>
            <a:ext cx="1863969" cy="562708"/>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58309" y="2444710"/>
            <a:ext cx="6177082" cy="498872"/>
          </a:xfrm>
          <a:prstGeom prst="rect">
            <a:avLst/>
          </a:prstGeom>
          <a:noFill/>
          <a:ln/>
        </p:spPr>
        <p:txBody>
          <a:bodyPr wrap="none" lIns="0" tIns="0" rIns="0" bIns="0" rtlCol="0" anchor="t"/>
          <a:lstStyle/>
          <a:p>
            <a:pPr marL="0" indent="0" algn="l">
              <a:lnSpc>
                <a:spcPts val="3900"/>
              </a:lnSpc>
              <a:buNone/>
            </a:pPr>
            <a:r>
              <a:rPr lang="en-US" sz="3100" b="1" dirty="0">
                <a:solidFill>
                  <a:srgbClr val="1F1E1E"/>
                </a:solidFill>
                <a:latin typeface="+mj-lt"/>
                <a:ea typeface="Alexandria Semi Bold" pitchFamily="34" charset="-122"/>
                <a:cs typeface="Alexandria Semi Bold" pitchFamily="34" charset="-120"/>
              </a:rPr>
              <a:t>Implementasi dalam Bahasa C</a:t>
            </a:r>
            <a:endParaRPr lang="en-US" sz="3100" b="1" dirty="0">
              <a:latin typeface="+mj-lt"/>
            </a:endParaRPr>
          </a:p>
        </p:txBody>
      </p:sp>
      <p:sp>
        <p:nvSpPr>
          <p:cNvPr id="4" name="Text 1"/>
          <p:cNvSpPr/>
          <p:nvPr/>
        </p:nvSpPr>
        <p:spPr>
          <a:xfrm>
            <a:off x="758309" y="3227903"/>
            <a:ext cx="7627382" cy="606504"/>
          </a:xfrm>
          <a:prstGeom prst="rect">
            <a:avLst/>
          </a:prstGeom>
          <a:noFill/>
          <a:ln/>
        </p:spPr>
        <p:txBody>
          <a:bodyPr wrap="square" lIns="0" tIns="0" rIns="0" bIns="0" rtlCol="0" anchor="t"/>
          <a:lstStyle/>
          <a:p>
            <a:pPr marL="0" indent="0" algn="l">
              <a:lnSpc>
                <a:spcPts val="2350"/>
              </a:lnSpc>
              <a:buNone/>
            </a:pPr>
            <a:r>
              <a:rPr lang="en-US" sz="1600" b="1" dirty="0">
                <a:solidFill>
                  <a:srgbClr val="3B3535"/>
                </a:solidFill>
                <a:ea typeface="Sora Light" pitchFamily="34" charset="-122"/>
                <a:cs typeface="Sora Light" pitchFamily="34" charset="-120"/>
              </a:rPr>
              <a:t>Pada sesi </a:t>
            </a:r>
            <a:r>
              <a:rPr lang="en-US" sz="1600" b="1" dirty="0">
                <a:solidFill>
                  <a:srgbClr val="1A2D7A"/>
                </a:solidFill>
                <a:ea typeface="Sora Light" pitchFamily="34" charset="-122"/>
                <a:cs typeface="Sora Light" pitchFamily="34" charset="-120"/>
              </a:rPr>
              <a:t>live coding</a:t>
            </a:r>
            <a:r>
              <a:rPr lang="en-US" sz="1600" b="1" dirty="0">
                <a:solidFill>
                  <a:srgbClr val="3B3535"/>
                </a:solidFill>
                <a:ea typeface="Sora Light" pitchFamily="34" charset="-122"/>
                <a:cs typeface="Sora Light" pitchFamily="34" charset="-120"/>
              </a:rPr>
              <a:t>, kita akan bersama-sama mengimplementasikan algoritma penilaian mahasiswa yang benar ini menggunakan bahasa pemrograman C.</a:t>
            </a:r>
            <a:endParaRPr lang="en-US" sz="1600" b="1" dirty="0"/>
          </a:p>
        </p:txBody>
      </p:sp>
      <p:sp>
        <p:nvSpPr>
          <p:cNvPr id="5" name="Text 2"/>
          <p:cNvSpPr/>
          <p:nvPr/>
        </p:nvSpPr>
        <p:spPr>
          <a:xfrm>
            <a:off x="758309" y="4047649"/>
            <a:ext cx="7627382" cy="917377"/>
          </a:xfrm>
          <a:prstGeom prst="rect">
            <a:avLst/>
          </a:prstGeom>
          <a:noFill/>
          <a:ln/>
        </p:spPr>
        <p:txBody>
          <a:bodyPr wrap="square" lIns="0" tIns="0" rIns="0" bIns="0" rtlCol="0" anchor="t"/>
          <a:lstStyle/>
          <a:p>
            <a:pPr marL="0" indent="0" algn="l">
              <a:lnSpc>
                <a:spcPts val="2350"/>
              </a:lnSpc>
              <a:buNone/>
            </a:pPr>
            <a:r>
              <a:rPr lang="en-US" sz="1600" b="1" dirty="0">
                <a:solidFill>
                  <a:srgbClr val="3B3535"/>
                </a:solidFill>
                <a:ea typeface="Sora Light" pitchFamily="34" charset="-122"/>
                <a:cs typeface="Sora Light" pitchFamily="34" charset="-120"/>
              </a:rPr>
              <a:t>Kita akan melihat bagaimana pseudocode yang telah dirancang diterjemahkan ke dalam sintaks C, dengan fokus pada penggunaan struktur </a:t>
            </a:r>
            <a:r>
              <a:rPr lang="en-US" sz="1600" b="1" dirty="0">
                <a:solidFill>
                  <a:srgbClr val="3B3535"/>
                </a:solidFill>
                <a:highlight>
                  <a:srgbClr val="F2EDED"/>
                </a:highlight>
                <a:ea typeface="Consolas" pitchFamily="34" charset="-122"/>
                <a:cs typeface="Consolas" pitchFamily="34" charset="-120"/>
              </a:rPr>
              <a:t>if-else if-else</a:t>
            </a:r>
            <a:r>
              <a:rPr lang="en-US" sz="1600" b="1" dirty="0">
                <a:solidFill>
                  <a:srgbClr val="3B3535"/>
                </a:solidFill>
                <a:ea typeface="Sora Light" pitchFamily="34" charset="-122"/>
                <a:cs typeface="Sora Light" pitchFamily="34" charset="-120"/>
              </a:rPr>
              <a:t> yang tepat untuk menangani kondisi berjenjang.</a:t>
            </a:r>
            <a:endParaRPr lang="en-US" sz="1600" b="1" dirty="0"/>
          </a:p>
        </p:txBody>
      </p:sp>
      <p:sp>
        <p:nvSpPr>
          <p:cNvPr id="6" name="Text 3"/>
          <p:cNvSpPr/>
          <p:nvPr/>
        </p:nvSpPr>
        <p:spPr>
          <a:xfrm>
            <a:off x="758309" y="5178266"/>
            <a:ext cx="7627382" cy="606504"/>
          </a:xfrm>
          <a:prstGeom prst="rect">
            <a:avLst/>
          </a:prstGeom>
          <a:noFill/>
          <a:ln/>
        </p:spPr>
        <p:txBody>
          <a:bodyPr wrap="square" lIns="0" tIns="0" rIns="0" bIns="0" rtlCol="0" anchor="t"/>
          <a:lstStyle/>
          <a:p>
            <a:pPr marL="0" indent="0" algn="l">
              <a:lnSpc>
                <a:spcPts val="2350"/>
              </a:lnSpc>
              <a:buNone/>
            </a:pPr>
            <a:r>
              <a:rPr lang="en-US" sz="1600" b="1" dirty="0">
                <a:solidFill>
                  <a:srgbClr val="3B3535"/>
                </a:solidFill>
                <a:ea typeface="Sora Light" pitchFamily="34" charset="-122"/>
                <a:cs typeface="Sora Light" pitchFamily="34" charset="-120"/>
              </a:rPr>
              <a:t>Ini adalah kesempatan untuk melihat bagaimana pemikiran logis kita diwujudkan menjadi kode yang berfungsi dan akurat.</a:t>
            </a:r>
            <a:endParaRPr lang="en-US" sz="1600" b="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789986" y="1063466"/>
            <a:ext cx="5074206" cy="350282"/>
          </a:xfrm>
          <a:prstGeom prst="rect">
            <a:avLst/>
          </a:prstGeom>
          <a:noFill/>
          <a:ln/>
        </p:spPr>
        <p:txBody>
          <a:bodyPr wrap="none" lIns="0" tIns="0" rIns="0" bIns="0" rtlCol="0" anchor="t"/>
          <a:lstStyle/>
          <a:p>
            <a:pPr marL="0" indent="0" algn="l">
              <a:lnSpc>
                <a:spcPts val="2750"/>
              </a:lnSpc>
              <a:buNone/>
            </a:pPr>
            <a:r>
              <a:rPr lang="en-US" sz="3200" b="1" dirty="0">
                <a:solidFill>
                  <a:srgbClr val="1F1E1E"/>
                </a:solidFill>
                <a:latin typeface="+mj-lt"/>
                <a:ea typeface="Alexandria Semi Bold" pitchFamily="34" charset="-122"/>
                <a:cs typeface="Alexandria Semi Bold" pitchFamily="34" charset="-120"/>
              </a:rPr>
              <a:t>Latihan Kelas: Kasus Diskon Belanja</a:t>
            </a:r>
            <a:endParaRPr lang="en-US" sz="3200" b="1" dirty="0">
              <a:latin typeface="+mj-lt"/>
            </a:endParaRPr>
          </a:p>
        </p:txBody>
      </p:sp>
      <p:sp>
        <p:nvSpPr>
          <p:cNvPr id="3" name="Text 1"/>
          <p:cNvSpPr/>
          <p:nvPr/>
        </p:nvSpPr>
        <p:spPr>
          <a:xfrm>
            <a:off x="7485102" y="1647349"/>
            <a:ext cx="2101929" cy="262652"/>
          </a:xfrm>
          <a:prstGeom prst="rect">
            <a:avLst/>
          </a:prstGeom>
          <a:noFill/>
          <a:ln/>
        </p:spPr>
        <p:txBody>
          <a:bodyPr wrap="none" lIns="0" tIns="0" rIns="0" bIns="0" rtlCol="0" anchor="t"/>
          <a:lstStyle/>
          <a:p>
            <a:pPr marL="0" indent="0" algn="l">
              <a:lnSpc>
                <a:spcPts val="2050"/>
              </a:lnSpc>
              <a:buNone/>
            </a:pPr>
            <a:r>
              <a:rPr lang="en-US" sz="2400" b="1" dirty="0">
                <a:solidFill>
                  <a:srgbClr val="1F1E1E"/>
                </a:solidFill>
                <a:ea typeface="Alexandria Semi Bold" pitchFamily="34" charset="-122"/>
                <a:cs typeface="Alexandria Semi Bold" pitchFamily="34" charset="-120"/>
              </a:rPr>
              <a:t>Tujuan:</a:t>
            </a:r>
            <a:endParaRPr lang="en-US" sz="2400" b="1" dirty="0"/>
          </a:p>
        </p:txBody>
      </p:sp>
      <p:sp>
        <p:nvSpPr>
          <p:cNvPr id="4" name="Text 2"/>
          <p:cNvSpPr/>
          <p:nvPr/>
        </p:nvSpPr>
        <p:spPr>
          <a:xfrm>
            <a:off x="7485102" y="2003465"/>
            <a:ext cx="5362694" cy="181213"/>
          </a:xfrm>
          <a:prstGeom prst="rect">
            <a:avLst/>
          </a:prstGeom>
          <a:noFill/>
          <a:ln/>
        </p:spPr>
        <p:txBody>
          <a:bodyPr wrap="none" lIns="0" tIns="0" rIns="0" bIns="0" rtlCol="0" anchor="t"/>
          <a:lstStyle/>
          <a:p>
            <a:pPr marL="0" indent="0" algn="l">
              <a:lnSpc>
                <a:spcPts val="1400"/>
              </a:lnSpc>
              <a:buNone/>
            </a:pPr>
            <a:r>
              <a:rPr lang="en-US" sz="1600" b="1" dirty="0">
                <a:solidFill>
                  <a:srgbClr val="3B3535"/>
                </a:solidFill>
                <a:ea typeface="Sora Light" pitchFamily="34" charset="-122"/>
                <a:cs typeface="Sora Light" pitchFamily="34" charset="-120"/>
              </a:rPr>
              <a:t>Membuat program untuk menghitung harga akhir setelah diskon.</a:t>
            </a:r>
            <a:endParaRPr lang="en-US" sz="1600" b="1" dirty="0"/>
          </a:p>
        </p:txBody>
      </p:sp>
      <p:sp>
        <p:nvSpPr>
          <p:cNvPr id="5" name="Text 3"/>
          <p:cNvSpPr/>
          <p:nvPr/>
        </p:nvSpPr>
        <p:spPr>
          <a:xfrm>
            <a:off x="7485102" y="2278142"/>
            <a:ext cx="2101929" cy="262652"/>
          </a:xfrm>
          <a:prstGeom prst="rect">
            <a:avLst/>
          </a:prstGeom>
          <a:noFill/>
          <a:ln/>
        </p:spPr>
        <p:txBody>
          <a:bodyPr wrap="none" lIns="0" tIns="0" rIns="0" bIns="0" rtlCol="0" anchor="t"/>
          <a:lstStyle/>
          <a:p>
            <a:pPr marL="0" indent="0" algn="l">
              <a:lnSpc>
                <a:spcPts val="2050"/>
              </a:lnSpc>
              <a:buNone/>
            </a:pPr>
            <a:r>
              <a:rPr lang="en-US" sz="2400" b="1" dirty="0">
                <a:solidFill>
                  <a:srgbClr val="1F1E1E"/>
                </a:solidFill>
                <a:ea typeface="Alexandria Semi Bold" pitchFamily="34" charset="-122"/>
                <a:cs typeface="Alexandria Semi Bold" pitchFamily="34" charset="-120"/>
              </a:rPr>
              <a:t>Input:</a:t>
            </a:r>
            <a:endParaRPr lang="en-US" sz="2400" b="1" dirty="0"/>
          </a:p>
        </p:txBody>
      </p:sp>
      <p:sp>
        <p:nvSpPr>
          <p:cNvPr id="6" name="Text 4"/>
          <p:cNvSpPr/>
          <p:nvPr/>
        </p:nvSpPr>
        <p:spPr>
          <a:xfrm>
            <a:off x="7485102" y="2634258"/>
            <a:ext cx="5362694" cy="181213"/>
          </a:xfrm>
          <a:prstGeom prst="rect">
            <a:avLst/>
          </a:prstGeom>
          <a:noFill/>
          <a:ln/>
        </p:spPr>
        <p:txBody>
          <a:bodyPr wrap="none" lIns="0" tIns="0" rIns="0" bIns="0" rtlCol="0" anchor="t"/>
          <a:lstStyle/>
          <a:p>
            <a:pPr marL="342900" indent="-342900" algn="l">
              <a:lnSpc>
                <a:spcPts val="1400"/>
              </a:lnSpc>
              <a:buSzPct val="100000"/>
              <a:buChar char="•"/>
            </a:pPr>
            <a:r>
              <a:rPr lang="en-US" sz="1600" b="1" dirty="0">
                <a:solidFill>
                  <a:srgbClr val="3B3535"/>
                </a:solidFill>
                <a:ea typeface="Sora Light" pitchFamily="34" charset="-122"/>
                <a:cs typeface="Sora Light" pitchFamily="34" charset="-120"/>
              </a:rPr>
              <a:t>Total Belanja (angka)</a:t>
            </a:r>
            <a:endParaRPr lang="en-US" sz="1600" b="1" dirty="0"/>
          </a:p>
        </p:txBody>
      </p:sp>
      <p:sp>
        <p:nvSpPr>
          <p:cNvPr id="7" name="Text 5"/>
          <p:cNvSpPr/>
          <p:nvPr/>
        </p:nvSpPr>
        <p:spPr>
          <a:xfrm>
            <a:off x="7485102" y="2908935"/>
            <a:ext cx="2101929" cy="262652"/>
          </a:xfrm>
          <a:prstGeom prst="rect">
            <a:avLst/>
          </a:prstGeom>
          <a:noFill/>
          <a:ln/>
        </p:spPr>
        <p:txBody>
          <a:bodyPr wrap="none" lIns="0" tIns="0" rIns="0" bIns="0" rtlCol="0" anchor="t"/>
          <a:lstStyle/>
          <a:p>
            <a:pPr marL="0" indent="0" algn="l">
              <a:lnSpc>
                <a:spcPts val="2050"/>
              </a:lnSpc>
              <a:buNone/>
            </a:pPr>
            <a:r>
              <a:rPr lang="en-US" sz="2400" b="1" dirty="0">
                <a:solidFill>
                  <a:srgbClr val="1F1E1E"/>
                </a:solidFill>
                <a:ea typeface="Alexandria Semi Bold" pitchFamily="34" charset="-122"/>
                <a:cs typeface="Alexandria Semi Bold" pitchFamily="34" charset="-120"/>
              </a:rPr>
              <a:t>Kriteria Diskon:</a:t>
            </a:r>
            <a:endParaRPr lang="en-US" sz="2400" b="1" dirty="0"/>
          </a:p>
        </p:txBody>
      </p:sp>
      <p:sp>
        <p:nvSpPr>
          <p:cNvPr id="8" name="Text 6"/>
          <p:cNvSpPr/>
          <p:nvPr/>
        </p:nvSpPr>
        <p:spPr>
          <a:xfrm>
            <a:off x="7485102" y="3265051"/>
            <a:ext cx="5362694" cy="181213"/>
          </a:xfrm>
          <a:prstGeom prst="rect">
            <a:avLst/>
          </a:prstGeom>
          <a:noFill/>
          <a:ln/>
        </p:spPr>
        <p:txBody>
          <a:bodyPr wrap="none" lIns="0" tIns="0" rIns="0" bIns="0" rtlCol="0" anchor="t"/>
          <a:lstStyle/>
          <a:p>
            <a:pPr marL="342900" indent="-342900" algn="l">
              <a:lnSpc>
                <a:spcPts val="1400"/>
              </a:lnSpc>
              <a:buSzPct val="100000"/>
              <a:buChar char="•"/>
            </a:pPr>
            <a:r>
              <a:rPr lang="en-US" sz="1600" b="1" dirty="0">
                <a:solidFill>
                  <a:srgbClr val="3B3535"/>
                </a:solidFill>
                <a:ea typeface="Sora Light" pitchFamily="34" charset="-122"/>
                <a:cs typeface="Sora Light" pitchFamily="34" charset="-120"/>
              </a:rPr>
              <a:t>Jika Total Belanja &gt; Rp 500.000, diskon 20%</a:t>
            </a:r>
            <a:endParaRPr lang="en-US" sz="1600" b="1" dirty="0"/>
          </a:p>
        </p:txBody>
      </p:sp>
      <p:sp>
        <p:nvSpPr>
          <p:cNvPr id="9" name="Text 7"/>
          <p:cNvSpPr/>
          <p:nvPr/>
        </p:nvSpPr>
        <p:spPr>
          <a:xfrm>
            <a:off x="7485102" y="3478887"/>
            <a:ext cx="5362694" cy="181213"/>
          </a:xfrm>
          <a:prstGeom prst="rect">
            <a:avLst/>
          </a:prstGeom>
          <a:noFill/>
          <a:ln/>
        </p:spPr>
        <p:txBody>
          <a:bodyPr wrap="none" lIns="0" tIns="0" rIns="0" bIns="0" rtlCol="0" anchor="t"/>
          <a:lstStyle/>
          <a:p>
            <a:pPr marL="342900" indent="-342900" algn="l">
              <a:lnSpc>
                <a:spcPts val="1400"/>
              </a:lnSpc>
              <a:buSzPct val="100000"/>
              <a:buChar char="•"/>
            </a:pPr>
            <a:r>
              <a:rPr lang="en-US" sz="1600" b="1" dirty="0">
                <a:solidFill>
                  <a:srgbClr val="3B3535"/>
                </a:solidFill>
                <a:ea typeface="Sora Light" pitchFamily="34" charset="-122"/>
                <a:cs typeface="Sora Light" pitchFamily="34" charset="-120"/>
              </a:rPr>
              <a:t>Jika Total Belanja &gt; Rp 200.000, diskon 10%</a:t>
            </a:r>
            <a:endParaRPr lang="en-US" sz="1600" b="1" dirty="0"/>
          </a:p>
        </p:txBody>
      </p:sp>
      <p:sp>
        <p:nvSpPr>
          <p:cNvPr id="10" name="Text 8"/>
          <p:cNvSpPr/>
          <p:nvPr/>
        </p:nvSpPr>
        <p:spPr>
          <a:xfrm>
            <a:off x="7485102" y="3692723"/>
            <a:ext cx="5362694" cy="181213"/>
          </a:xfrm>
          <a:prstGeom prst="rect">
            <a:avLst/>
          </a:prstGeom>
          <a:noFill/>
          <a:ln/>
        </p:spPr>
        <p:txBody>
          <a:bodyPr wrap="none" lIns="0" tIns="0" rIns="0" bIns="0" rtlCol="0" anchor="t"/>
          <a:lstStyle/>
          <a:p>
            <a:pPr marL="342900" indent="-342900" algn="l">
              <a:lnSpc>
                <a:spcPts val="1400"/>
              </a:lnSpc>
              <a:buSzPct val="100000"/>
              <a:buChar char="•"/>
            </a:pPr>
            <a:r>
              <a:rPr lang="en-US" sz="1600" b="1" dirty="0">
                <a:solidFill>
                  <a:srgbClr val="3B3535"/>
                </a:solidFill>
                <a:ea typeface="Sora Light" pitchFamily="34" charset="-122"/>
                <a:cs typeface="Sora Light" pitchFamily="34" charset="-120"/>
              </a:rPr>
              <a:t>Selain itu, tidak ada diskon</a:t>
            </a:r>
            <a:endParaRPr lang="en-US" sz="1600" b="1" dirty="0"/>
          </a:p>
        </p:txBody>
      </p:sp>
      <p:sp>
        <p:nvSpPr>
          <p:cNvPr id="11" name="Text 9"/>
          <p:cNvSpPr/>
          <p:nvPr/>
        </p:nvSpPr>
        <p:spPr>
          <a:xfrm>
            <a:off x="7485102" y="3967401"/>
            <a:ext cx="2101929" cy="262652"/>
          </a:xfrm>
          <a:prstGeom prst="rect">
            <a:avLst/>
          </a:prstGeom>
          <a:noFill/>
          <a:ln/>
        </p:spPr>
        <p:txBody>
          <a:bodyPr wrap="none" lIns="0" tIns="0" rIns="0" bIns="0" rtlCol="0" anchor="t"/>
          <a:lstStyle/>
          <a:p>
            <a:pPr marL="0" indent="0" algn="l">
              <a:lnSpc>
                <a:spcPts val="2050"/>
              </a:lnSpc>
              <a:buNone/>
            </a:pPr>
            <a:r>
              <a:rPr lang="en-US" sz="2400" b="1" dirty="0" err="1" smtClean="0">
                <a:solidFill>
                  <a:srgbClr val="1F1E1E"/>
                </a:solidFill>
                <a:latin typeface="Calibri" panose="020F0502020204030204" pitchFamily="34" charset="0"/>
                <a:ea typeface="Alexandria Semi Bold" pitchFamily="34" charset="-122"/>
                <a:cs typeface="Calibri" panose="020F0502020204030204" pitchFamily="34" charset="0"/>
              </a:rPr>
              <a:t>Instruksi</a:t>
            </a:r>
            <a:r>
              <a:rPr lang="en-US" sz="2400" b="1" dirty="0">
                <a:solidFill>
                  <a:srgbClr val="1F1E1E"/>
                </a:solidFill>
                <a:latin typeface="Calibri" panose="020F0502020204030204" pitchFamily="34" charset="0"/>
                <a:ea typeface="Alexandria Semi Bold" pitchFamily="34" charset="-122"/>
                <a:cs typeface="Calibri" panose="020F0502020204030204" pitchFamily="34" charset="0"/>
              </a:rPr>
              <a:t>:</a:t>
            </a:r>
            <a:endParaRPr lang="en-US" sz="2400" b="1" dirty="0">
              <a:latin typeface="Calibri" panose="020F0502020204030204" pitchFamily="34" charset="0"/>
              <a:cs typeface="Calibri" panose="020F0502020204030204" pitchFamily="34" charset="0"/>
            </a:endParaRPr>
          </a:p>
        </p:txBody>
      </p:sp>
      <p:sp>
        <p:nvSpPr>
          <p:cNvPr id="12" name="Text 10"/>
          <p:cNvSpPr/>
          <p:nvPr/>
        </p:nvSpPr>
        <p:spPr>
          <a:xfrm>
            <a:off x="7485102" y="4335185"/>
            <a:ext cx="133112" cy="166330"/>
          </a:xfrm>
          <a:prstGeom prst="rect">
            <a:avLst/>
          </a:prstGeom>
          <a:noFill/>
          <a:ln/>
        </p:spPr>
        <p:txBody>
          <a:bodyPr wrap="none" lIns="0" tIns="0" rIns="0" bIns="0" rtlCol="0" anchor="t"/>
          <a:lstStyle/>
          <a:p>
            <a:pPr marL="0" indent="0" algn="l">
              <a:lnSpc>
                <a:spcPts val="1400"/>
              </a:lnSpc>
              <a:buNone/>
            </a:pPr>
            <a:endParaRPr lang="en-US" sz="1000" dirty="0"/>
          </a:p>
        </p:txBody>
      </p:sp>
      <p:sp>
        <p:nvSpPr>
          <p:cNvPr id="13" name="Shape 11"/>
          <p:cNvSpPr/>
          <p:nvPr/>
        </p:nvSpPr>
        <p:spPr>
          <a:xfrm>
            <a:off x="7485102" y="4546044"/>
            <a:ext cx="5362694" cy="15240"/>
          </a:xfrm>
          <a:prstGeom prst="rect">
            <a:avLst/>
          </a:prstGeom>
          <a:solidFill>
            <a:srgbClr val="1A2D7A"/>
          </a:solidFill>
          <a:ln/>
        </p:spPr>
      </p:sp>
      <p:sp>
        <p:nvSpPr>
          <p:cNvPr id="14" name="Text 12"/>
          <p:cNvSpPr/>
          <p:nvPr/>
        </p:nvSpPr>
        <p:spPr>
          <a:xfrm>
            <a:off x="7485102" y="4643080"/>
            <a:ext cx="1751528" cy="218837"/>
          </a:xfrm>
          <a:prstGeom prst="rect">
            <a:avLst/>
          </a:prstGeom>
          <a:noFill/>
          <a:ln/>
        </p:spPr>
        <p:txBody>
          <a:bodyPr wrap="none" lIns="0" tIns="0" rIns="0" bIns="0" rtlCol="0" anchor="t"/>
          <a:lstStyle/>
          <a:p>
            <a:pPr marL="0" indent="0" algn="l">
              <a:lnSpc>
                <a:spcPts val="1700"/>
              </a:lnSpc>
              <a:buNone/>
            </a:pPr>
            <a:r>
              <a:rPr lang="en-US" sz="2400" b="1" dirty="0">
                <a:solidFill>
                  <a:srgbClr val="3B3535"/>
                </a:solidFill>
                <a:ea typeface="Alexandria Semi Bold" pitchFamily="34" charset="-122"/>
                <a:cs typeface="Alexandria Semi Bold" pitchFamily="34" charset="-120"/>
              </a:rPr>
              <a:t>Tulis Logika Dulu</a:t>
            </a:r>
            <a:endParaRPr lang="en-US" sz="2400" b="1" dirty="0"/>
          </a:p>
        </p:txBody>
      </p:sp>
      <p:sp>
        <p:nvSpPr>
          <p:cNvPr id="15" name="Text 13"/>
          <p:cNvSpPr/>
          <p:nvPr/>
        </p:nvSpPr>
        <p:spPr>
          <a:xfrm>
            <a:off x="7485102" y="4955381"/>
            <a:ext cx="5362694" cy="362426"/>
          </a:xfrm>
          <a:prstGeom prst="rect">
            <a:avLst/>
          </a:prstGeom>
          <a:noFill/>
          <a:ln/>
        </p:spPr>
        <p:txBody>
          <a:bodyPr wrap="square" lIns="0" tIns="0" rIns="0" bIns="0" rtlCol="0" anchor="t"/>
          <a:lstStyle/>
          <a:p>
            <a:pPr marL="0" indent="0" algn="l">
              <a:lnSpc>
                <a:spcPts val="1400"/>
              </a:lnSpc>
              <a:buNone/>
            </a:pPr>
            <a:r>
              <a:rPr lang="en-US" sz="1600" b="1" dirty="0">
                <a:solidFill>
                  <a:srgbClr val="3B3535"/>
                </a:solidFill>
                <a:ea typeface="Sora Light" pitchFamily="34" charset="-122"/>
                <a:cs typeface="Sora Light" pitchFamily="34" charset="-120"/>
              </a:rPr>
              <a:t>Mulailah dengan merancang pseudocode untuk algoritma ini. Pikirkan baik-baik urutan kondisi dan bagaimana diskon akan diterapkan.</a:t>
            </a:r>
            <a:endParaRPr lang="en-US" sz="1600" b="1" dirty="0"/>
          </a:p>
        </p:txBody>
      </p:sp>
      <p:sp>
        <p:nvSpPr>
          <p:cNvPr id="16" name="Text 14"/>
          <p:cNvSpPr/>
          <p:nvPr/>
        </p:nvSpPr>
        <p:spPr>
          <a:xfrm>
            <a:off x="7485102" y="5511046"/>
            <a:ext cx="133112" cy="166330"/>
          </a:xfrm>
          <a:prstGeom prst="rect">
            <a:avLst/>
          </a:prstGeom>
          <a:noFill/>
          <a:ln/>
        </p:spPr>
        <p:txBody>
          <a:bodyPr wrap="none" lIns="0" tIns="0" rIns="0" bIns="0" rtlCol="0" anchor="t"/>
          <a:lstStyle/>
          <a:p>
            <a:pPr marL="0" indent="0" algn="l">
              <a:lnSpc>
                <a:spcPts val="1400"/>
              </a:lnSpc>
              <a:buNone/>
            </a:pPr>
            <a:endParaRPr lang="en-US" sz="1000" dirty="0"/>
          </a:p>
        </p:txBody>
      </p:sp>
      <p:sp>
        <p:nvSpPr>
          <p:cNvPr id="17" name="Shape 15"/>
          <p:cNvSpPr/>
          <p:nvPr/>
        </p:nvSpPr>
        <p:spPr>
          <a:xfrm>
            <a:off x="7485102" y="5721906"/>
            <a:ext cx="5362694" cy="15240"/>
          </a:xfrm>
          <a:prstGeom prst="rect">
            <a:avLst/>
          </a:prstGeom>
          <a:solidFill>
            <a:srgbClr val="1A2D7A"/>
          </a:solidFill>
          <a:ln/>
        </p:spPr>
      </p:sp>
      <p:sp>
        <p:nvSpPr>
          <p:cNvPr id="18" name="Text 16"/>
          <p:cNvSpPr/>
          <p:nvPr/>
        </p:nvSpPr>
        <p:spPr>
          <a:xfrm>
            <a:off x="7485102" y="5818942"/>
            <a:ext cx="1895237" cy="218837"/>
          </a:xfrm>
          <a:prstGeom prst="rect">
            <a:avLst/>
          </a:prstGeom>
          <a:noFill/>
          <a:ln/>
        </p:spPr>
        <p:txBody>
          <a:bodyPr wrap="none" lIns="0" tIns="0" rIns="0" bIns="0" rtlCol="0" anchor="t"/>
          <a:lstStyle/>
          <a:p>
            <a:pPr marL="0" indent="0" algn="l">
              <a:lnSpc>
                <a:spcPts val="1700"/>
              </a:lnSpc>
              <a:buNone/>
            </a:pPr>
            <a:r>
              <a:rPr lang="en-US" sz="2400" b="1" dirty="0">
                <a:solidFill>
                  <a:srgbClr val="3B3535"/>
                </a:solidFill>
                <a:ea typeface="Alexandria Semi Bold" pitchFamily="34" charset="-122"/>
                <a:cs typeface="Alexandria Semi Bold" pitchFamily="34" charset="-120"/>
              </a:rPr>
              <a:t>Baru Lakukan Coding</a:t>
            </a:r>
            <a:endParaRPr lang="en-US" sz="2400" b="1" dirty="0"/>
          </a:p>
        </p:txBody>
      </p:sp>
      <p:sp>
        <p:nvSpPr>
          <p:cNvPr id="19" name="Text 17"/>
          <p:cNvSpPr/>
          <p:nvPr/>
        </p:nvSpPr>
        <p:spPr>
          <a:xfrm>
            <a:off x="7485102" y="6131242"/>
            <a:ext cx="5362694" cy="543639"/>
          </a:xfrm>
          <a:prstGeom prst="rect">
            <a:avLst/>
          </a:prstGeom>
          <a:noFill/>
          <a:ln/>
        </p:spPr>
        <p:txBody>
          <a:bodyPr wrap="square" lIns="0" tIns="0" rIns="0" bIns="0" rtlCol="0" anchor="t"/>
          <a:lstStyle/>
          <a:p>
            <a:pPr marL="0" indent="0" algn="l">
              <a:lnSpc>
                <a:spcPts val="1400"/>
              </a:lnSpc>
              <a:buNone/>
            </a:pPr>
            <a:r>
              <a:rPr lang="en-US" sz="1600" b="1" dirty="0">
                <a:solidFill>
                  <a:srgbClr val="3B3535"/>
                </a:solidFill>
                <a:ea typeface="Sora Light" pitchFamily="34" charset="-122"/>
                <a:cs typeface="Sora Light" pitchFamily="34" charset="-120"/>
              </a:rPr>
              <a:t>Setelah pseudocode Anda yakin benar, implementasikan algoritma tersebut dalam bahasa pemrograman C. Fokus pada penerapan logika yang sudah Anda susun.</a:t>
            </a:r>
            <a:endParaRPr lang="en-US" sz="1600" b="1" dirty="0"/>
          </a:p>
        </p:txBody>
      </p:sp>
      <p:sp>
        <p:nvSpPr>
          <p:cNvPr id="20" name="Text 18"/>
          <p:cNvSpPr/>
          <p:nvPr/>
        </p:nvSpPr>
        <p:spPr>
          <a:xfrm>
            <a:off x="1789986" y="6984921"/>
            <a:ext cx="11050310" cy="181213"/>
          </a:xfrm>
          <a:prstGeom prst="rect">
            <a:avLst/>
          </a:prstGeom>
          <a:noFill/>
          <a:ln/>
        </p:spPr>
        <p:txBody>
          <a:bodyPr wrap="none" lIns="0" tIns="0" rIns="0" bIns="0" rtlCol="0" anchor="t"/>
          <a:lstStyle/>
          <a:p>
            <a:pPr marL="0" indent="0" algn="l">
              <a:lnSpc>
                <a:spcPts val="1400"/>
              </a:lnSpc>
              <a:buNone/>
            </a:pPr>
            <a:r>
              <a:rPr lang="en-US" sz="1600" b="1" dirty="0">
                <a:solidFill>
                  <a:srgbClr val="3B3535"/>
                </a:solidFill>
                <a:ea typeface="Sora Light" pitchFamily="34" charset="-122"/>
                <a:cs typeface="Sora Light" pitchFamily="34" charset="-120"/>
              </a:rPr>
              <a:t>Latihan ini akan membantu Anda mengasah kemampuan berpikir algoritmik dan menerjemahkannya ke dalam kode yang berfungsi dengan benar.</a:t>
            </a:r>
            <a:endParaRPr lang="en-US" sz="1600" b="1" dirty="0"/>
          </a:p>
        </p:txBody>
      </p:sp>
      <p:sp>
        <p:nvSpPr>
          <p:cNvPr id="21" name="Rounded Rectangle 20"/>
          <p:cNvSpPr/>
          <p:nvPr/>
        </p:nvSpPr>
        <p:spPr>
          <a:xfrm>
            <a:off x="12660922" y="7578968"/>
            <a:ext cx="1934308" cy="615462"/>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TotalTime>
  <Words>1184</Words>
  <Application>Microsoft Office PowerPoint</Application>
  <PresentationFormat>Custom</PresentationFormat>
  <Paragraphs>118</Paragraphs>
  <Slides>13</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Calibri</vt:lpstr>
      <vt:lpstr>Arial</vt:lpstr>
      <vt:lpstr>Alexandria Semi Bold</vt:lpstr>
      <vt:lpstr>Calibri Light</vt:lpstr>
      <vt:lpstr>Sora Light</vt:lpstr>
      <vt:lpstr>Consolas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HP</cp:lastModifiedBy>
  <cp:revision>21</cp:revision>
  <dcterms:created xsi:type="dcterms:W3CDTF">2026-01-27T03:10:10Z</dcterms:created>
  <dcterms:modified xsi:type="dcterms:W3CDTF">2026-01-31T07:22:04Z</dcterms:modified>
</cp:coreProperties>
</file>