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eague Spartan" charset="1" panose="00000800000000000000"/>
      <p:regular r:id="rId16"/>
    </p:embeddedFont>
    <p:embeddedFont>
      <p:font typeface="DM Sans" charset="1" panose="00000000000000000000"/>
      <p:regular r:id="rId17"/>
    </p:embeddedFont>
    <p:embeddedFont>
      <p:font typeface="DM Sans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1.jpe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8690A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7462436"/>
          </a:xfrm>
          <a:custGeom>
            <a:avLst/>
            <a:gdLst/>
            <a:ahLst/>
            <a:cxnLst/>
            <a:rect r="r" b="b" t="t" l="l"/>
            <a:pathLst>
              <a:path h="7462436" w="18288000">
                <a:moveTo>
                  <a:pt x="0" y="0"/>
                </a:moveTo>
                <a:lnTo>
                  <a:pt x="18288000" y="0"/>
                </a:lnTo>
                <a:lnTo>
                  <a:pt x="18288000" y="7462436"/>
                </a:lnTo>
                <a:lnTo>
                  <a:pt x="0" y="74624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6000"/>
            </a:blip>
            <a:stretch>
              <a:fillRect l="0" t="-14917" r="-7164" b="-6005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2952980" cy="10287000"/>
          </a:xfrm>
          <a:custGeom>
            <a:avLst/>
            <a:gdLst/>
            <a:ahLst/>
            <a:cxnLst/>
            <a:rect r="r" b="b" t="t" l="l"/>
            <a:pathLst>
              <a:path h="10287000" w="2952980">
                <a:moveTo>
                  <a:pt x="0" y="0"/>
                </a:moveTo>
                <a:lnTo>
                  <a:pt x="2952980" y="0"/>
                </a:lnTo>
                <a:lnTo>
                  <a:pt x="29529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8000"/>
            </a:blip>
            <a:stretch>
              <a:fillRect l="-257476" t="0" r="-164411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04476" y="2261160"/>
            <a:ext cx="14338528" cy="360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280"/>
              </a:lnSpc>
            </a:pPr>
            <a:r>
              <a:rPr lang="en-US" sz="11900" spc="1725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LOGIKA DAN ALGORITMA II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502727" y="7973431"/>
            <a:ext cx="10968621" cy="488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060"/>
              </a:lnSpc>
            </a:pPr>
            <a:r>
              <a:rPr lang="en-US" sz="29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D3 MANAJEMEN INFORMATIKA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C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5726" y="8649837"/>
            <a:ext cx="4058542" cy="368301"/>
            <a:chOff x="0" y="0"/>
            <a:chExt cx="1068916" cy="970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8916" cy="97001"/>
            </a:xfrm>
            <a:custGeom>
              <a:avLst/>
              <a:gdLst/>
              <a:ahLst/>
              <a:cxnLst/>
              <a:rect r="r" b="b" t="t" l="l"/>
              <a:pathLst>
                <a:path h="97001" w="1068916">
                  <a:moveTo>
                    <a:pt x="48501" y="0"/>
                  </a:moveTo>
                  <a:lnTo>
                    <a:pt x="1020416" y="0"/>
                  </a:lnTo>
                  <a:cubicBezTo>
                    <a:pt x="1033279" y="0"/>
                    <a:pt x="1045615" y="5110"/>
                    <a:pt x="1054711" y="14205"/>
                  </a:cubicBezTo>
                  <a:cubicBezTo>
                    <a:pt x="1063806" y="23301"/>
                    <a:pt x="1068916" y="35637"/>
                    <a:pt x="1068916" y="48501"/>
                  </a:cubicBezTo>
                  <a:lnTo>
                    <a:pt x="1068916" y="48501"/>
                  </a:lnTo>
                  <a:cubicBezTo>
                    <a:pt x="1068916" y="61364"/>
                    <a:pt x="1063806" y="73700"/>
                    <a:pt x="1054711" y="82796"/>
                  </a:cubicBezTo>
                  <a:cubicBezTo>
                    <a:pt x="1045615" y="91891"/>
                    <a:pt x="1033279" y="97001"/>
                    <a:pt x="1020416" y="97001"/>
                  </a:cubicBezTo>
                  <a:lnTo>
                    <a:pt x="48501" y="97001"/>
                  </a:lnTo>
                  <a:cubicBezTo>
                    <a:pt x="35637" y="97001"/>
                    <a:pt x="23301" y="91891"/>
                    <a:pt x="14205" y="82796"/>
                  </a:cubicBezTo>
                  <a:cubicBezTo>
                    <a:pt x="5110" y="73700"/>
                    <a:pt x="0" y="61364"/>
                    <a:pt x="0" y="48501"/>
                  </a:cubicBezTo>
                  <a:lnTo>
                    <a:pt x="0" y="48501"/>
                  </a:lnTo>
                  <a:cubicBezTo>
                    <a:pt x="0" y="35637"/>
                    <a:pt x="5110" y="23301"/>
                    <a:pt x="14205" y="14205"/>
                  </a:cubicBezTo>
                  <a:cubicBezTo>
                    <a:pt x="23301" y="5110"/>
                    <a:pt x="35637" y="0"/>
                    <a:pt x="48501" y="0"/>
                  </a:cubicBezTo>
                  <a:close/>
                </a:path>
              </a:pathLst>
            </a:custGeom>
            <a:solidFill>
              <a:srgbClr val="EBECE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68916" cy="135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0"/>
            <a:ext cx="2554319" cy="10287000"/>
          </a:xfrm>
          <a:custGeom>
            <a:avLst/>
            <a:gdLst/>
            <a:ahLst/>
            <a:cxnLst/>
            <a:rect r="r" b="b" t="t" l="l"/>
            <a:pathLst>
              <a:path h="10287000" w="2554319">
                <a:moveTo>
                  <a:pt x="0" y="0"/>
                </a:moveTo>
                <a:lnTo>
                  <a:pt x="2554319" y="0"/>
                </a:lnTo>
                <a:lnTo>
                  <a:pt x="255431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143" t="0" r="-482328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54319" y="0"/>
            <a:ext cx="15733681" cy="10287000"/>
          </a:xfrm>
          <a:custGeom>
            <a:avLst/>
            <a:gdLst/>
            <a:ahLst/>
            <a:cxnLst/>
            <a:rect r="r" b="b" t="t" l="l"/>
            <a:pathLst>
              <a:path h="10287000" w="15733681">
                <a:moveTo>
                  <a:pt x="0" y="0"/>
                </a:moveTo>
                <a:lnTo>
                  <a:pt x="15733681" y="0"/>
                </a:lnTo>
                <a:lnTo>
                  <a:pt x="157336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 l="0" t="-3929" r="-5649" b="-392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19267" y="3598545"/>
            <a:ext cx="12011428" cy="103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6" indent="-323853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Operator aritmatika merupakan operator yang digunakan untuk operasi matematika dasar dalam algoritma dan program.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91504" y="658870"/>
            <a:ext cx="13710987" cy="222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7"/>
              </a:lnSpc>
            </a:pPr>
            <a:r>
              <a:rPr lang="en-US" sz="6383">
                <a:solidFill>
                  <a:srgbClr val="2B2D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Operator Aritmatika, Relasional dan Logika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91504" y="5086350"/>
            <a:ext cx="12011428" cy="103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6" indent="-323853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Operator relasional merupakan operator yang digunakan untuk membandingkan dua nilai dan menghasilkan true atau false.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19267" y="6576059"/>
            <a:ext cx="11167836" cy="103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6" indent="-323853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Operator logika merupakan operator yang digunakan untuk menggabungkan lebih dari satu kondisi.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C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5726" y="8649837"/>
            <a:ext cx="4058542" cy="368301"/>
            <a:chOff x="0" y="0"/>
            <a:chExt cx="1068916" cy="970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8916" cy="97001"/>
            </a:xfrm>
            <a:custGeom>
              <a:avLst/>
              <a:gdLst/>
              <a:ahLst/>
              <a:cxnLst/>
              <a:rect r="r" b="b" t="t" l="l"/>
              <a:pathLst>
                <a:path h="97001" w="1068916">
                  <a:moveTo>
                    <a:pt x="48501" y="0"/>
                  </a:moveTo>
                  <a:lnTo>
                    <a:pt x="1020416" y="0"/>
                  </a:lnTo>
                  <a:cubicBezTo>
                    <a:pt x="1033279" y="0"/>
                    <a:pt x="1045615" y="5110"/>
                    <a:pt x="1054711" y="14205"/>
                  </a:cubicBezTo>
                  <a:cubicBezTo>
                    <a:pt x="1063806" y="23301"/>
                    <a:pt x="1068916" y="35637"/>
                    <a:pt x="1068916" y="48501"/>
                  </a:cubicBezTo>
                  <a:lnTo>
                    <a:pt x="1068916" y="48501"/>
                  </a:lnTo>
                  <a:cubicBezTo>
                    <a:pt x="1068916" y="61364"/>
                    <a:pt x="1063806" y="73700"/>
                    <a:pt x="1054711" y="82796"/>
                  </a:cubicBezTo>
                  <a:cubicBezTo>
                    <a:pt x="1045615" y="91891"/>
                    <a:pt x="1033279" y="97001"/>
                    <a:pt x="1020416" y="97001"/>
                  </a:cubicBezTo>
                  <a:lnTo>
                    <a:pt x="48501" y="97001"/>
                  </a:lnTo>
                  <a:cubicBezTo>
                    <a:pt x="35637" y="97001"/>
                    <a:pt x="23301" y="91891"/>
                    <a:pt x="14205" y="82796"/>
                  </a:cubicBezTo>
                  <a:cubicBezTo>
                    <a:pt x="5110" y="73700"/>
                    <a:pt x="0" y="61364"/>
                    <a:pt x="0" y="48501"/>
                  </a:cubicBezTo>
                  <a:lnTo>
                    <a:pt x="0" y="48501"/>
                  </a:lnTo>
                  <a:cubicBezTo>
                    <a:pt x="0" y="35637"/>
                    <a:pt x="5110" y="23301"/>
                    <a:pt x="14205" y="14205"/>
                  </a:cubicBezTo>
                  <a:cubicBezTo>
                    <a:pt x="23301" y="5110"/>
                    <a:pt x="35637" y="0"/>
                    <a:pt x="48501" y="0"/>
                  </a:cubicBezTo>
                  <a:close/>
                </a:path>
              </a:pathLst>
            </a:custGeom>
            <a:solidFill>
              <a:srgbClr val="EBECE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68916" cy="135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0"/>
            <a:ext cx="2554319" cy="10287000"/>
          </a:xfrm>
          <a:custGeom>
            <a:avLst/>
            <a:gdLst/>
            <a:ahLst/>
            <a:cxnLst/>
            <a:rect r="r" b="b" t="t" l="l"/>
            <a:pathLst>
              <a:path h="10287000" w="2554319">
                <a:moveTo>
                  <a:pt x="0" y="0"/>
                </a:moveTo>
                <a:lnTo>
                  <a:pt x="2554319" y="0"/>
                </a:lnTo>
                <a:lnTo>
                  <a:pt x="255431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143" t="0" r="-482328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54319" y="0"/>
            <a:ext cx="15733681" cy="10287000"/>
          </a:xfrm>
          <a:custGeom>
            <a:avLst/>
            <a:gdLst/>
            <a:ahLst/>
            <a:cxnLst/>
            <a:rect r="r" b="b" t="t" l="l"/>
            <a:pathLst>
              <a:path h="10287000" w="15733681">
                <a:moveTo>
                  <a:pt x="0" y="0"/>
                </a:moveTo>
                <a:lnTo>
                  <a:pt x="15733681" y="0"/>
                </a:lnTo>
                <a:lnTo>
                  <a:pt x="157336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 l="0" t="-3929" r="-5649" b="-392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19267" y="3598545"/>
            <a:ext cx="12011428" cy="508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70"/>
              </a:lnSpc>
            </a:pPr>
            <a:r>
              <a:rPr lang="en-US" b="true" sz="3000">
                <a:solidFill>
                  <a:srgbClr val="2B2D42"/>
                </a:solidFill>
                <a:latin typeface="DM Sans Bold"/>
                <a:ea typeface="DM Sans Bold"/>
                <a:cs typeface="DM Sans Bold"/>
                <a:sym typeface="DM Sans Bold"/>
              </a:rPr>
              <a:t>Jenis-jenis operator aritmatika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91504" y="658870"/>
            <a:ext cx="13710987" cy="222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7"/>
              </a:lnSpc>
            </a:pPr>
            <a:r>
              <a:rPr lang="en-US" sz="6383">
                <a:solidFill>
                  <a:srgbClr val="2B2D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Penerapkan Operator Aritmatika?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91504" y="4477089"/>
            <a:ext cx="5871953" cy="312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70"/>
              </a:lnSpc>
            </a:pPr>
          </a:p>
          <a:p>
            <a:pPr algn="just" marL="647706" indent="-323853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+  Penjumlahan</a:t>
            </a:r>
          </a:p>
          <a:p>
            <a:pPr algn="just" marL="647706" indent="-323853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-  Pengurangan</a:t>
            </a:r>
          </a:p>
          <a:p>
            <a:pPr algn="just" marL="647706" indent="-323853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*  Perkalian</a:t>
            </a:r>
          </a:p>
          <a:p>
            <a:pPr algn="just" marL="647706" indent="-323853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/  Pembagian</a:t>
            </a:r>
          </a:p>
          <a:p>
            <a:pPr algn="just" marL="647706" indent="-323853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% Modulus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858743" y="4477089"/>
            <a:ext cx="5871953" cy="312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70"/>
              </a:lnSpc>
            </a:pPr>
          </a:p>
          <a:p>
            <a:pPr algn="just" marL="647706" indent="-323853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Operator Increment (++)</a:t>
            </a:r>
          </a:p>
          <a:p>
            <a:pPr algn="just" marL="647706" indent="-323853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Operator Decrement (--)</a:t>
            </a:r>
          </a:p>
          <a:p>
            <a:pPr algn="just" marL="647706" indent="-323853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Precedence &amp; Associativity</a:t>
            </a:r>
          </a:p>
          <a:p>
            <a:pPr algn="just" marL="647706" indent="-323853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Ekspresi aritmatika kompleks</a:t>
            </a:r>
          </a:p>
          <a:p>
            <a:pPr algn="just">
              <a:lnSpc>
                <a:spcPts val="417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C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5726" y="8649837"/>
            <a:ext cx="4058542" cy="368301"/>
            <a:chOff x="0" y="0"/>
            <a:chExt cx="1068916" cy="970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8916" cy="97001"/>
            </a:xfrm>
            <a:custGeom>
              <a:avLst/>
              <a:gdLst/>
              <a:ahLst/>
              <a:cxnLst/>
              <a:rect r="r" b="b" t="t" l="l"/>
              <a:pathLst>
                <a:path h="97001" w="1068916">
                  <a:moveTo>
                    <a:pt x="48501" y="0"/>
                  </a:moveTo>
                  <a:lnTo>
                    <a:pt x="1020416" y="0"/>
                  </a:lnTo>
                  <a:cubicBezTo>
                    <a:pt x="1033279" y="0"/>
                    <a:pt x="1045615" y="5110"/>
                    <a:pt x="1054711" y="14205"/>
                  </a:cubicBezTo>
                  <a:cubicBezTo>
                    <a:pt x="1063806" y="23301"/>
                    <a:pt x="1068916" y="35637"/>
                    <a:pt x="1068916" y="48501"/>
                  </a:cubicBezTo>
                  <a:lnTo>
                    <a:pt x="1068916" y="48501"/>
                  </a:lnTo>
                  <a:cubicBezTo>
                    <a:pt x="1068916" y="61364"/>
                    <a:pt x="1063806" y="73700"/>
                    <a:pt x="1054711" y="82796"/>
                  </a:cubicBezTo>
                  <a:cubicBezTo>
                    <a:pt x="1045615" y="91891"/>
                    <a:pt x="1033279" y="97001"/>
                    <a:pt x="1020416" y="97001"/>
                  </a:cubicBezTo>
                  <a:lnTo>
                    <a:pt x="48501" y="97001"/>
                  </a:lnTo>
                  <a:cubicBezTo>
                    <a:pt x="35637" y="97001"/>
                    <a:pt x="23301" y="91891"/>
                    <a:pt x="14205" y="82796"/>
                  </a:cubicBezTo>
                  <a:cubicBezTo>
                    <a:pt x="5110" y="73700"/>
                    <a:pt x="0" y="61364"/>
                    <a:pt x="0" y="48501"/>
                  </a:cubicBezTo>
                  <a:lnTo>
                    <a:pt x="0" y="48501"/>
                  </a:lnTo>
                  <a:cubicBezTo>
                    <a:pt x="0" y="35637"/>
                    <a:pt x="5110" y="23301"/>
                    <a:pt x="14205" y="14205"/>
                  </a:cubicBezTo>
                  <a:cubicBezTo>
                    <a:pt x="23301" y="5110"/>
                    <a:pt x="35637" y="0"/>
                    <a:pt x="48501" y="0"/>
                  </a:cubicBezTo>
                  <a:close/>
                </a:path>
              </a:pathLst>
            </a:custGeom>
            <a:solidFill>
              <a:srgbClr val="EBECE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68916" cy="135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0"/>
            <a:ext cx="2554319" cy="10287000"/>
          </a:xfrm>
          <a:custGeom>
            <a:avLst/>
            <a:gdLst/>
            <a:ahLst/>
            <a:cxnLst/>
            <a:rect r="r" b="b" t="t" l="l"/>
            <a:pathLst>
              <a:path h="10287000" w="2554319">
                <a:moveTo>
                  <a:pt x="0" y="0"/>
                </a:moveTo>
                <a:lnTo>
                  <a:pt x="2554319" y="0"/>
                </a:lnTo>
                <a:lnTo>
                  <a:pt x="255431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143" t="0" r="-482328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91504" y="2028527"/>
            <a:ext cx="12011428" cy="103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70"/>
              </a:lnSpc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Operator Increment (++) merupakan operator yang digunakan untuk menambah nilai suatu variabel sebesar 1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91504" y="658870"/>
            <a:ext cx="13710987" cy="109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7"/>
              </a:lnSpc>
            </a:pPr>
            <a:r>
              <a:rPr lang="en-US" sz="6383">
                <a:solidFill>
                  <a:srgbClr val="2B2D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Operator Increment (++)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91504" y="3867828"/>
            <a:ext cx="6729656" cy="3651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70"/>
              </a:lnSpc>
            </a:pPr>
            <a:r>
              <a:rPr lang="en-US" sz="3000" b="true">
                <a:solidFill>
                  <a:srgbClr val="2B2D42"/>
                </a:solidFill>
                <a:latin typeface="DM Sans Bold"/>
                <a:ea typeface="DM Sans Bold"/>
                <a:cs typeface="DM Sans Bold"/>
                <a:sym typeface="DM Sans Bold"/>
              </a:rPr>
              <a:t>1.Pre Increment (++x)</a:t>
            </a:r>
          </a:p>
          <a:p>
            <a:pPr algn="just">
              <a:lnSpc>
                <a:spcPts val="4170"/>
              </a:lnSpc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Nilai ditambah dulu, baru digunakan</a:t>
            </a:r>
          </a:p>
          <a:p>
            <a:pPr algn="just">
              <a:lnSpc>
                <a:spcPts val="4170"/>
              </a:lnSpc>
            </a:pPr>
          </a:p>
          <a:p>
            <a:pPr algn="just">
              <a:lnSpc>
                <a:spcPts val="4170"/>
              </a:lnSpc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Contoh : </a:t>
            </a:r>
          </a:p>
          <a:p>
            <a:pPr algn="just">
              <a:lnSpc>
                <a:spcPts val="4170"/>
              </a:lnSpc>
            </a:pPr>
            <a:r>
              <a:rPr lang="en-US" sz="3000" b="true">
                <a:solidFill>
                  <a:srgbClr val="2B2D42"/>
                </a:solidFill>
                <a:latin typeface="DM Sans Bold"/>
                <a:ea typeface="DM Sans Bold"/>
                <a:cs typeface="DM Sans Bold"/>
                <a:sym typeface="DM Sans Bold"/>
              </a:rPr>
              <a:t>int</a:t>
            </a: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 x = 5;</a:t>
            </a:r>
          </a:p>
          <a:p>
            <a:pPr algn="just">
              <a:lnSpc>
                <a:spcPts val="4170"/>
              </a:lnSpc>
            </a:pPr>
            <a:r>
              <a:rPr lang="en-US" sz="3000" b="true">
                <a:solidFill>
                  <a:srgbClr val="2B2D42"/>
                </a:solidFill>
                <a:latin typeface="DM Sans Bold"/>
                <a:ea typeface="DM Sans Bold"/>
                <a:cs typeface="DM Sans Bold"/>
                <a:sym typeface="DM Sans Bold"/>
              </a:rPr>
              <a:t>int</a:t>
            </a: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 y = ++x;   // x = 6, y = 6</a:t>
            </a:r>
          </a:p>
          <a:p>
            <a:pPr algn="just">
              <a:lnSpc>
                <a:spcPts val="4170"/>
              </a:lnSpc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82315" y="3867828"/>
            <a:ext cx="6270316" cy="3651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70"/>
              </a:lnSpc>
            </a:pPr>
            <a:r>
              <a:rPr lang="en-US" sz="3000" b="true">
                <a:solidFill>
                  <a:srgbClr val="2B2D42"/>
                </a:solidFill>
                <a:latin typeface="DM Sans Bold"/>
                <a:ea typeface="DM Sans Bold"/>
                <a:cs typeface="DM Sans Bold"/>
                <a:sym typeface="DM Sans Bold"/>
              </a:rPr>
              <a:t>2.Post Increment (x++)</a:t>
            </a:r>
          </a:p>
          <a:p>
            <a:pPr algn="just">
              <a:lnSpc>
                <a:spcPts val="4170"/>
              </a:lnSpc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Nilai digunakan dulu, baru ditambah</a:t>
            </a:r>
          </a:p>
          <a:p>
            <a:pPr algn="just">
              <a:lnSpc>
                <a:spcPts val="4170"/>
              </a:lnSpc>
            </a:pPr>
          </a:p>
          <a:p>
            <a:pPr algn="just">
              <a:lnSpc>
                <a:spcPts val="4170"/>
              </a:lnSpc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Contoh : </a:t>
            </a:r>
          </a:p>
          <a:p>
            <a:pPr algn="just">
              <a:lnSpc>
                <a:spcPts val="4170"/>
              </a:lnSpc>
            </a:pPr>
            <a:r>
              <a:rPr lang="en-US" sz="3000" b="true">
                <a:solidFill>
                  <a:srgbClr val="2B2D42"/>
                </a:solidFill>
                <a:latin typeface="DM Sans Bold"/>
                <a:ea typeface="DM Sans Bold"/>
                <a:cs typeface="DM Sans Bold"/>
                <a:sym typeface="DM Sans Bold"/>
              </a:rPr>
              <a:t>int</a:t>
            </a: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 x = 5;</a:t>
            </a:r>
          </a:p>
          <a:p>
            <a:pPr algn="just">
              <a:lnSpc>
                <a:spcPts val="4170"/>
              </a:lnSpc>
            </a:pPr>
            <a:r>
              <a:rPr lang="en-US" sz="3000" b="true">
                <a:solidFill>
                  <a:srgbClr val="2B2D42"/>
                </a:solidFill>
                <a:latin typeface="DM Sans Bold"/>
                <a:ea typeface="DM Sans Bold"/>
                <a:cs typeface="DM Sans Bold"/>
                <a:sym typeface="DM Sans Bold"/>
              </a:rPr>
              <a:t>int</a:t>
            </a: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 y = x++;   // y = 5, x = 6</a:t>
            </a:r>
          </a:p>
          <a:p>
            <a:pPr algn="just">
              <a:lnSpc>
                <a:spcPts val="417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691504" y="7795938"/>
            <a:ext cx="12011428" cy="1556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70"/>
              </a:lnSpc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Dalam flowchart &amp; pseudocode, biasanya tidak dibedakan pre/post, cukup ditulis:</a:t>
            </a:r>
          </a:p>
          <a:p>
            <a:pPr algn="just">
              <a:lnSpc>
                <a:spcPts val="4170"/>
              </a:lnSpc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x = x + 1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C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5726" y="8649837"/>
            <a:ext cx="4058542" cy="368301"/>
            <a:chOff x="0" y="0"/>
            <a:chExt cx="1068916" cy="970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8916" cy="97001"/>
            </a:xfrm>
            <a:custGeom>
              <a:avLst/>
              <a:gdLst/>
              <a:ahLst/>
              <a:cxnLst/>
              <a:rect r="r" b="b" t="t" l="l"/>
              <a:pathLst>
                <a:path h="97001" w="1068916">
                  <a:moveTo>
                    <a:pt x="48501" y="0"/>
                  </a:moveTo>
                  <a:lnTo>
                    <a:pt x="1020416" y="0"/>
                  </a:lnTo>
                  <a:cubicBezTo>
                    <a:pt x="1033279" y="0"/>
                    <a:pt x="1045615" y="5110"/>
                    <a:pt x="1054711" y="14205"/>
                  </a:cubicBezTo>
                  <a:cubicBezTo>
                    <a:pt x="1063806" y="23301"/>
                    <a:pt x="1068916" y="35637"/>
                    <a:pt x="1068916" y="48501"/>
                  </a:cubicBezTo>
                  <a:lnTo>
                    <a:pt x="1068916" y="48501"/>
                  </a:lnTo>
                  <a:cubicBezTo>
                    <a:pt x="1068916" y="61364"/>
                    <a:pt x="1063806" y="73700"/>
                    <a:pt x="1054711" y="82796"/>
                  </a:cubicBezTo>
                  <a:cubicBezTo>
                    <a:pt x="1045615" y="91891"/>
                    <a:pt x="1033279" y="97001"/>
                    <a:pt x="1020416" y="97001"/>
                  </a:cubicBezTo>
                  <a:lnTo>
                    <a:pt x="48501" y="97001"/>
                  </a:lnTo>
                  <a:cubicBezTo>
                    <a:pt x="35637" y="97001"/>
                    <a:pt x="23301" y="91891"/>
                    <a:pt x="14205" y="82796"/>
                  </a:cubicBezTo>
                  <a:cubicBezTo>
                    <a:pt x="5110" y="73700"/>
                    <a:pt x="0" y="61364"/>
                    <a:pt x="0" y="48501"/>
                  </a:cubicBezTo>
                  <a:lnTo>
                    <a:pt x="0" y="48501"/>
                  </a:lnTo>
                  <a:cubicBezTo>
                    <a:pt x="0" y="35637"/>
                    <a:pt x="5110" y="23301"/>
                    <a:pt x="14205" y="14205"/>
                  </a:cubicBezTo>
                  <a:cubicBezTo>
                    <a:pt x="23301" y="5110"/>
                    <a:pt x="35637" y="0"/>
                    <a:pt x="48501" y="0"/>
                  </a:cubicBezTo>
                  <a:close/>
                </a:path>
              </a:pathLst>
            </a:custGeom>
            <a:solidFill>
              <a:srgbClr val="EBECE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68916" cy="135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0"/>
            <a:ext cx="2554319" cy="10287000"/>
          </a:xfrm>
          <a:custGeom>
            <a:avLst/>
            <a:gdLst/>
            <a:ahLst/>
            <a:cxnLst/>
            <a:rect r="r" b="b" t="t" l="l"/>
            <a:pathLst>
              <a:path h="10287000" w="2554319">
                <a:moveTo>
                  <a:pt x="0" y="0"/>
                </a:moveTo>
                <a:lnTo>
                  <a:pt x="2554319" y="0"/>
                </a:lnTo>
                <a:lnTo>
                  <a:pt x="255431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143" t="0" r="-482328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91504" y="2028527"/>
            <a:ext cx="12011428" cy="103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70"/>
              </a:lnSpc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Operator Decrement (++) merupakan operator yang digunakan untuk mengurangi nilai suatu variabel sebesar 1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91504" y="658870"/>
            <a:ext cx="13710987" cy="109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7"/>
              </a:lnSpc>
            </a:pPr>
            <a:r>
              <a:rPr lang="en-US" sz="6383">
                <a:solidFill>
                  <a:srgbClr val="2B2D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Operator Decrement (--)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91504" y="3867828"/>
            <a:ext cx="6729656" cy="3651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70"/>
              </a:lnSpc>
            </a:pPr>
            <a:r>
              <a:rPr lang="en-US" sz="3000" b="true">
                <a:solidFill>
                  <a:srgbClr val="2B2D42"/>
                </a:solidFill>
                <a:latin typeface="DM Sans Bold"/>
                <a:ea typeface="DM Sans Bold"/>
                <a:cs typeface="DM Sans Bold"/>
                <a:sym typeface="DM Sans Bold"/>
              </a:rPr>
              <a:t>1.Pre Decrement (--x)</a:t>
            </a:r>
          </a:p>
          <a:p>
            <a:pPr algn="just">
              <a:lnSpc>
                <a:spcPts val="4170"/>
              </a:lnSpc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Nilai dikurangi dulu, baru dipakai</a:t>
            </a:r>
          </a:p>
          <a:p>
            <a:pPr algn="just">
              <a:lnSpc>
                <a:spcPts val="4170"/>
              </a:lnSpc>
            </a:pPr>
          </a:p>
          <a:p>
            <a:pPr algn="just">
              <a:lnSpc>
                <a:spcPts val="4170"/>
              </a:lnSpc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Contoh : </a:t>
            </a:r>
          </a:p>
          <a:p>
            <a:pPr algn="just">
              <a:lnSpc>
                <a:spcPts val="4170"/>
              </a:lnSpc>
            </a:pPr>
            <a:r>
              <a:rPr lang="en-US" sz="3000" b="true">
                <a:solidFill>
                  <a:srgbClr val="2B2D42"/>
                </a:solidFill>
                <a:latin typeface="DM Sans Bold"/>
                <a:ea typeface="DM Sans Bold"/>
                <a:cs typeface="DM Sans Bold"/>
                <a:sym typeface="DM Sans Bold"/>
              </a:rPr>
              <a:t>int</a:t>
            </a: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 x = 5;</a:t>
            </a:r>
          </a:p>
          <a:p>
            <a:pPr algn="just">
              <a:lnSpc>
                <a:spcPts val="4170"/>
              </a:lnSpc>
            </a:pPr>
            <a:r>
              <a:rPr lang="en-US" sz="3000" b="true">
                <a:solidFill>
                  <a:srgbClr val="2B2D42"/>
                </a:solidFill>
                <a:latin typeface="DM Sans Bold"/>
                <a:ea typeface="DM Sans Bold"/>
                <a:cs typeface="DM Sans Bold"/>
                <a:sym typeface="DM Sans Bold"/>
              </a:rPr>
              <a:t>int</a:t>
            </a: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 y = --x;   // x = 4, y = 4</a:t>
            </a:r>
          </a:p>
          <a:p>
            <a:pPr algn="just">
              <a:lnSpc>
                <a:spcPts val="4170"/>
              </a:lnSpc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382315" y="3867828"/>
            <a:ext cx="5871953" cy="3651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70"/>
              </a:lnSpc>
            </a:pPr>
            <a:r>
              <a:rPr lang="en-US" sz="3000" b="true">
                <a:solidFill>
                  <a:srgbClr val="2B2D42"/>
                </a:solidFill>
                <a:latin typeface="DM Sans Bold"/>
                <a:ea typeface="DM Sans Bold"/>
                <a:cs typeface="DM Sans Bold"/>
                <a:sym typeface="DM Sans Bold"/>
              </a:rPr>
              <a:t>2.Post Decrement (x--)</a:t>
            </a:r>
          </a:p>
          <a:p>
            <a:pPr algn="just">
              <a:lnSpc>
                <a:spcPts val="4170"/>
              </a:lnSpc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Nilai dipakai dulu, baru dikurangi</a:t>
            </a:r>
          </a:p>
          <a:p>
            <a:pPr algn="just">
              <a:lnSpc>
                <a:spcPts val="4170"/>
              </a:lnSpc>
            </a:pPr>
          </a:p>
          <a:p>
            <a:pPr algn="just">
              <a:lnSpc>
                <a:spcPts val="4170"/>
              </a:lnSpc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Contoh : </a:t>
            </a:r>
          </a:p>
          <a:p>
            <a:pPr algn="just">
              <a:lnSpc>
                <a:spcPts val="4170"/>
              </a:lnSpc>
            </a:pPr>
            <a:r>
              <a:rPr lang="en-US" sz="3000" b="true">
                <a:solidFill>
                  <a:srgbClr val="2B2D42"/>
                </a:solidFill>
                <a:latin typeface="DM Sans Bold"/>
                <a:ea typeface="DM Sans Bold"/>
                <a:cs typeface="DM Sans Bold"/>
                <a:sym typeface="DM Sans Bold"/>
              </a:rPr>
              <a:t>int</a:t>
            </a: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 x = 5;</a:t>
            </a:r>
          </a:p>
          <a:p>
            <a:pPr algn="just">
              <a:lnSpc>
                <a:spcPts val="4170"/>
              </a:lnSpc>
            </a:pPr>
            <a:r>
              <a:rPr lang="en-US" sz="3000" b="true">
                <a:solidFill>
                  <a:srgbClr val="2B2D42"/>
                </a:solidFill>
                <a:latin typeface="DM Sans Bold"/>
                <a:ea typeface="DM Sans Bold"/>
                <a:cs typeface="DM Sans Bold"/>
                <a:sym typeface="DM Sans Bold"/>
              </a:rPr>
              <a:t>int</a:t>
            </a: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 y = x--;   // y = 5, x = 4</a:t>
            </a:r>
          </a:p>
          <a:p>
            <a:pPr algn="just">
              <a:lnSpc>
                <a:spcPts val="417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691504" y="7795938"/>
            <a:ext cx="12011428" cy="1556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70"/>
              </a:lnSpc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Dalam flowchart &amp; pseudocode, biasanya tidak dibedakan pre/post, cukup ditulis:</a:t>
            </a:r>
          </a:p>
          <a:p>
            <a:pPr algn="just">
              <a:lnSpc>
                <a:spcPts val="4170"/>
              </a:lnSpc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x = x - 1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C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5726" y="8649837"/>
            <a:ext cx="4058542" cy="368301"/>
            <a:chOff x="0" y="0"/>
            <a:chExt cx="1068916" cy="970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8916" cy="97001"/>
            </a:xfrm>
            <a:custGeom>
              <a:avLst/>
              <a:gdLst/>
              <a:ahLst/>
              <a:cxnLst/>
              <a:rect r="r" b="b" t="t" l="l"/>
              <a:pathLst>
                <a:path h="97001" w="1068916">
                  <a:moveTo>
                    <a:pt x="48501" y="0"/>
                  </a:moveTo>
                  <a:lnTo>
                    <a:pt x="1020416" y="0"/>
                  </a:lnTo>
                  <a:cubicBezTo>
                    <a:pt x="1033279" y="0"/>
                    <a:pt x="1045615" y="5110"/>
                    <a:pt x="1054711" y="14205"/>
                  </a:cubicBezTo>
                  <a:cubicBezTo>
                    <a:pt x="1063806" y="23301"/>
                    <a:pt x="1068916" y="35637"/>
                    <a:pt x="1068916" y="48501"/>
                  </a:cubicBezTo>
                  <a:lnTo>
                    <a:pt x="1068916" y="48501"/>
                  </a:lnTo>
                  <a:cubicBezTo>
                    <a:pt x="1068916" y="61364"/>
                    <a:pt x="1063806" y="73700"/>
                    <a:pt x="1054711" y="82796"/>
                  </a:cubicBezTo>
                  <a:cubicBezTo>
                    <a:pt x="1045615" y="91891"/>
                    <a:pt x="1033279" y="97001"/>
                    <a:pt x="1020416" y="97001"/>
                  </a:cubicBezTo>
                  <a:lnTo>
                    <a:pt x="48501" y="97001"/>
                  </a:lnTo>
                  <a:cubicBezTo>
                    <a:pt x="35637" y="97001"/>
                    <a:pt x="23301" y="91891"/>
                    <a:pt x="14205" y="82796"/>
                  </a:cubicBezTo>
                  <a:cubicBezTo>
                    <a:pt x="5110" y="73700"/>
                    <a:pt x="0" y="61364"/>
                    <a:pt x="0" y="48501"/>
                  </a:cubicBezTo>
                  <a:lnTo>
                    <a:pt x="0" y="48501"/>
                  </a:lnTo>
                  <a:cubicBezTo>
                    <a:pt x="0" y="35637"/>
                    <a:pt x="5110" y="23301"/>
                    <a:pt x="14205" y="14205"/>
                  </a:cubicBezTo>
                  <a:cubicBezTo>
                    <a:pt x="23301" y="5110"/>
                    <a:pt x="35637" y="0"/>
                    <a:pt x="48501" y="0"/>
                  </a:cubicBezTo>
                  <a:close/>
                </a:path>
              </a:pathLst>
            </a:custGeom>
            <a:solidFill>
              <a:srgbClr val="EBECE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68916" cy="135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0"/>
            <a:ext cx="2554319" cy="10287000"/>
          </a:xfrm>
          <a:custGeom>
            <a:avLst/>
            <a:gdLst/>
            <a:ahLst/>
            <a:cxnLst/>
            <a:rect r="r" b="b" t="t" l="l"/>
            <a:pathLst>
              <a:path h="10287000" w="2554319">
                <a:moveTo>
                  <a:pt x="0" y="0"/>
                </a:moveTo>
                <a:lnTo>
                  <a:pt x="2554319" y="0"/>
                </a:lnTo>
                <a:lnTo>
                  <a:pt x="255431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143" t="0" r="-482328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43563" y="1630164"/>
            <a:ext cx="12011428" cy="103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70"/>
              </a:lnSpc>
            </a:pPr>
            <a:r>
              <a:rPr lang="en-US" b="true" sz="3000">
                <a:solidFill>
                  <a:srgbClr val="2B2D42"/>
                </a:solidFill>
                <a:latin typeface="DM Sans Bold"/>
                <a:ea typeface="DM Sans Bold"/>
                <a:cs typeface="DM Sans Bold"/>
                <a:sym typeface="DM Sans Bold"/>
              </a:rPr>
              <a:t>Precedence</a:t>
            </a: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 menentukan operator mana yang dikerjakan lebih dulu ketika ada lebih dari satu operator dalam satu baris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614988" y="419247"/>
            <a:ext cx="13710987" cy="109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7"/>
              </a:lnSpc>
            </a:pPr>
            <a:r>
              <a:rPr lang="en-US" sz="6383">
                <a:solidFill>
                  <a:srgbClr val="2B2D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Precedence &amp; Associativity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91504" y="3036570"/>
            <a:ext cx="5183070" cy="2409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92"/>
              </a:lnSpc>
            </a:pPr>
            <a:r>
              <a:rPr lang="en-US" sz="28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Contoh :  </a:t>
            </a:r>
            <a:r>
              <a:rPr lang="en-US" sz="2800" b="true">
                <a:solidFill>
                  <a:srgbClr val="2B2D42"/>
                </a:solidFill>
                <a:latin typeface="DM Sans Bold"/>
                <a:ea typeface="DM Sans Bold"/>
                <a:cs typeface="DM Sans Bold"/>
                <a:sym typeface="DM Sans Bold"/>
              </a:rPr>
              <a:t>2 + 3 × 4 </a:t>
            </a:r>
          </a:p>
          <a:p>
            <a:pPr algn="just">
              <a:lnSpc>
                <a:spcPts val="3892"/>
              </a:lnSpc>
            </a:pPr>
            <a:r>
              <a:rPr lang="en-US" sz="28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bukan </a:t>
            </a:r>
            <a:r>
              <a:rPr lang="en-US" sz="2800" b="true">
                <a:solidFill>
                  <a:srgbClr val="2B2D42"/>
                </a:solidFill>
                <a:latin typeface="DM Sans Bold"/>
                <a:ea typeface="DM Sans Bold"/>
                <a:cs typeface="DM Sans Bold"/>
                <a:sym typeface="DM Sans Bold"/>
              </a:rPr>
              <a:t>(2+3)x4</a:t>
            </a:r>
          </a:p>
          <a:p>
            <a:pPr algn="just">
              <a:lnSpc>
                <a:spcPts val="3892"/>
              </a:lnSpc>
            </a:pPr>
            <a:r>
              <a:rPr lang="en-US" sz="28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tapi menjadi </a:t>
            </a:r>
            <a:r>
              <a:rPr lang="en-US" sz="2800" b="true">
                <a:solidFill>
                  <a:srgbClr val="2B2D42"/>
                </a:solidFill>
                <a:latin typeface="DM Sans Bold"/>
                <a:ea typeface="DM Sans Bold"/>
                <a:cs typeface="DM Sans Bold"/>
                <a:sym typeface="DM Sans Bold"/>
              </a:rPr>
              <a:t>2+(3x4) = 14</a:t>
            </a:r>
          </a:p>
          <a:p>
            <a:pPr algn="just">
              <a:lnSpc>
                <a:spcPts val="3892"/>
              </a:lnSpc>
            </a:pPr>
          </a:p>
          <a:p>
            <a:pPr algn="just">
              <a:lnSpc>
                <a:spcPts val="3892"/>
              </a:lnSpc>
            </a:pPr>
            <a:r>
              <a:rPr lang="en-US" sz="28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91504" y="6505885"/>
            <a:ext cx="7777908" cy="4026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16"/>
              </a:lnSpc>
            </a:pPr>
            <a:r>
              <a:rPr lang="en-US" sz="2889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Digunakan saat:</a:t>
            </a:r>
          </a:p>
          <a:p>
            <a:pPr algn="just" marL="623787" indent="-311893" lvl="1">
              <a:lnSpc>
                <a:spcPts val="4016"/>
              </a:lnSpc>
              <a:buFont typeface="Arial"/>
              <a:buChar char="•"/>
            </a:pPr>
            <a:r>
              <a:rPr lang="en-US" sz="2889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Operator selevel</a:t>
            </a:r>
          </a:p>
          <a:p>
            <a:pPr algn="just" marL="623787" indent="-311893" lvl="1">
              <a:lnSpc>
                <a:spcPts val="4016"/>
              </a:lnSpc>
              <a:buFont typeface="Arial"/>
              <a:buChar char="•"/>
            </a:pPr>
            <a:r>
              <a:rPr lang="en-US" sz="2889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Muncul lebih dari satu dalam ekspresi</a:t>
            </a:r>
          </a:p>
          <a:p>
            <a:pPr algn="just">
              <a:lnSpc>
                <a:spcPts val="4016"/>
              </a:lnSpc>
            </a:pPr>
          </a:p>
          <a:p>
            <a:pPr algn="just">
              <a:lnSpc>
                <a:spcPts val="4016"/>
              </a:lnSpc>
            </a:pPr>
            <a:r>
              <a:rPr lang="en-US" sz="2889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Arah associativity:</a:t>
            </a:r>
          </a:p>
          <a:p>
            <a:pPr algn="just" marL="623787" indent="-311893" lvl="1">
              <a:lnSpc>
                <a:spcPts val="4016"/>
              </a:lnSpc>
              <a:buFont typeface="Arial"/>
              <a:buChar char="•"/>
            </a:pPr>
            <a:r>
              <a:rPr lang="en-US" sz="2889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Left to Right (kiri → kanan)</a:t>
            </a:r>
          </a:p>
          <a:p>
            <a:pPr algn="just" marL="623787" indent="-311893" lvl="1">
              <a:lnSpc>
                <a:spcPts val="4016"/>
              </a:lnSpc>
              <a:buFont typeface="Arial"/>
              <a:buChar char="•"/>
            </a:pPr>
            <a:r>
              <a:rPr lang="en-US" sz="2889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Right to Left (kanan → kiri)</a:t>
            </a:r>
          </a:p>
          <a:p>
            <a:pPr algn="just">
              <a:lnSpc>
                <a:spcPts val="4016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691504" y="5111425"/>
            <a:ext cx="10533494" cy="10325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70"/>
              </a:lnSpc>
            </a:pPr>
            <a:r>
              <a:rPr lang="en-US" b="true" sz="3000">
                <a:solidFill>
                  <a:srgbClr val="2B2D42"/>
                </a:solidFill>
                <a:latin typeface="DM Sans Bold"/>
                <a:ea typeface="DM Sans Bold"/>
                <a:cs typeface="DM Sans Bold"/>
                <a:sym typeface="DM Sans Bold"/>
              </a:rPr>
              <a:t>Associativity</a:t>
            </a: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 menentukan arah pengerjaan operator jika precedence-nya sama.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95726" y="6193273"/>
            <a:ext cx="6590845" cy="5224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25"/>
              </a:lnSpc>
            </a:pPr>
            <a:r>
              <a:rPr lang="en-US" sz="2968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Contoh : </a:t>
            </a:r>
          </a:p>
          <a:p>
            <a:pPr algn="just">
              <a:lnSpc>
                <a:spcPts val="4125"/>
              </a:lnSpc>
            </a:pPr>
          </a:p>
          <a:p>
            <a:pPr algn="just">
              <a:lnSpc>
                <a:spcPts val="4125"/>
              </a:lnSpc>
            </a:pPr>
            <a:r>
              <a:rPr lang="en-US" sz="2968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Associaty Left to Right</a:t>
            </a:r>
          </a:p>
          <a:p>
            <a:pPr algn="just">
              <a:lnSpc>
                <a:spcPts val="4125"/>
              </a:lnSpc>
            </a:pPr>
            <a:r>
              <a:rPr lang="en-US" sz="2968" b="true">
                <a:solidFill>
                  <a:srgbClr val="2B2D42"/>
                </a:solidFill>
                <a:latin typeface="DM Sans Bold"/>
                <a:ea typeface="DM Sans Bold"/>
                <a:cs typeface="DM Sans Bold"/>
                <a:sym typeface="DM Sans Bold"/>
              </a:rPr>
              <a:t>int</a:t>
            </a:r>
            <a:r>
              <a:rPr lang="en-US" sz="2968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 x = 20 / 5 / </a:t>
            </a:r>
            <a:r>
              <a:rPr lang="en-US" sz="2968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  <a:r>
              <a:rPr lang="en-US" sz="2968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;</a:t>
            </a:r>
          </a:p>
          <a:p>
            <a:pPr algn="just">
              <a:lnSpc>
                <a:spcPts val="4125"/>
              </a:lnSpc>
            </a:pPr>
          </a:p>
          <a:p>
            <a:pPr algn="just">
              <a:lnSpc>
                <a:spcPts val="4125"/>
              </a:lnSpc>
            </a:pPr>
            <a:r>
              <a:rPr lang="en-US" sz="2968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Associaty Left to Right</a:t>
            </a:r>
          </a:p>
          <a:p>
            <a:pPr algn="just">
              <a:lnSpc>
                <a:spcPts val="4125"/>
              </a:lnSpc>
            </a:pPr>
            <a:r>
              <a:rPr lang="en-US" sz="2968" b="true">
                <a:solidFill>
                  <a:srgbClr val="2B2D42"/>
                </a:solidFill>
                <a:latin typeface="DM Sans Bold"/>
                <a:ea typeface="DM Sans Bold"/>
                <a:cs typeface="DM Sans Bold"/>
                <a:sym typeface="DM Sans Bold"/>
              </a:rPr>
              <a:t>int</a:t>
            </a:r>
            <a:r>
              <a:rPr lang="en-US" sz="2968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 x = y = z = 10;</a:t>
            </a:r>
          </a:p>
          <a:p>
            <a:pPr algn="just">
              <a:lnSpc>
                <a:spcPts val="4125"/>
              </a:lnSpc>
            </a:pPr>
          </a:p>
          <a:p>
            <a:pPr algn="just">
              <a:lnSpc>
                <a:spcPts val="4125"/>
              </a:lnSpc>
            </a:pPr>
          </a:p>
          <a:p>
            <a:pPr algn="just">
              <a:lnSpc>
                <a:spcPts val="4125"/>
              </a:lnSpc>
            </a:pPr>
            <a:r>
              <a:rPr lang="en-US" sz="2968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C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5726" y="8649837"/>
            <a:ext cx="4058542" cy="368301"/>
            <a:chOff x="0" y="0"/>
            <a:chExt cx="1068916" cy="970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8916" cy="97001"/>
            </a:xfrm>
            <a:custGeom>
              <a:avLst/>
              <a:gdLst/>
              <a:ahLst/>
              <a:cxnLst/>
              <a:rect r="r" b="b" t="t" l="l"/>
              <a:pathLst>
                <a:path h="97001" w="1068916">
                  <a:moveTo>
                    <a:pt x="48501" y="0"/>
                  </a:moveTo>
                  <a:lnTo>
                    <a:pt x="1020416" y="0"/>
                  </a:lnTo>
                  <a:cubicBezTo>
                    <a:pt x="1033279" y="0"/>
                    <a:pt x="1045615" y="5110"/>
                    <a:pt x="1054711" y="14205"/>
                  </a:cubicBezTo>
                  <a:cubicBezTo>
                    <a:pt x="1063806" y="23301"/>
                    <a:pt x="1068916" y="35637"/>
                    <a:pt x="1068916" y="48501"/>
                  </a:cubicBezTo>
                  <a:lnTo>
                    <a:pt x="1068916" y="48501"/>
                  </a:lnTo>
                  <a:cubicBezTo>
                    <a:pt x="1068916" y="61364"/>
                    <a:pt x="1063806" y="73700"/>
                    <a:pt x="1054711" y="82796"/>
                  </a:cubicBezTo>
                  <a:cubicBezTo>
                    <a:pt x="1045615" y="91891"/>
                    <a:pt x="1033279" y="97001"/>
                    <a:pt x="1020416" y="97001"/>
                  </a:cubicBezTo>
                  <a:lnTo>
                    <a:pt x="48501" y="97001"/>
                  </a:lnTo>
                  <a:cubicBezTo>
                    <a:pt x="35637" y="97001"/>
                    <a:pt x="23301" y="91891"/>
                    <a:pt x="14205" y="82796"/>
                  </a:cubicBezTo>
                  <a:cubicBezTo>
                    <a:pt x="5110" y="73700"/>
                    <a:pt x="0" y="61364"/>
                    <a:pt x="0" y="48501"/>
                  </a:cubicBezTo>
                  <a:lnTo>
                    <a:pt x="0" y="48501"/>
                  </a:lnTo>
                  <a:cubicBezTo>
                    <a:pt x="0" y="35637"/>
                    <a:pt x="5110" y="23301"/>
                    <a:pt x="14205" y="14205"/>
                  </a:cubicBezTo>
                  <a:cubicBezTo>
                    <a:pt x="23301" y="5110"/>
                    <a:pt x="35637" y="0"/>
                    <a:pt x="48501" y="0"/>
                  </a:cubicBezTo>
                  <a:close/>
                </a:path>
              </a:pathLst>
            </a:custGeom>
            <a:solidFill>
              <a:srgbClr val="EBECE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68916" cy="135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0"/>
            <a:ext cx="2554319" cy="10287000"/>
          </a:xfrm>
          <a:custGeom>
            <a:avLst/>
            <a:gdLst/>
            <a:ahLst/>
            <a:cxnLst/>
            <a:rect r="r" b="b" t="t" l="l"/>
            <a:pathLst>
              <a:path h="10287000" w="2554319">
                <a:moveTo>
                  <a:pt x="0" y="0"/>
                </a:moveTo>
                <a:lnTo>
                  <a:pt x="2554319" y="0"/>
                </a:lnTo>
                <a:lnTo>
                  <a:pt x="255431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143" t="0" r="-482328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691504" y="-233329"/>
            <a:ext cx="15733681" cy="10287000"/>
          </a:xfrm>
          <a:custGeom>
            <a:avLst/>
            <a:gdLst/>
            <a:ahLst/>
            <a:cxnLst/>
            <a:rect r="r" b="b" t="t" l="l"/>
            <a:pathLst>
              <a:path h="10287000" w="15733681">
                <a:moveTo>
                  <a:pt x="0" y="0"/>
                </a:moveTo>
                <a:lnTo>
                  <a:pt x="15733681" y="0"/>
                </a:lnTo>
                <a:lnTo>
                  <a:pt x="157336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 l="0" t="-3929" r="-5649" b="-392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719267" y="3598545"/>
            <a:ext cx="12011428" cy="508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70"/>
              </a:lnSpc>
            </a:pPr>
            <a:r>
              <a:rPr lang="en-US" b="true" sz="3000">
                <a:solidFill>
                  <a:srgbClr val="2B2D42"/>
                </a:solidFill>
                <a:latin typeface="DM Sans Bold"/>
                <a:ea typeface="DM Sans Bold"/>
                <a:cs typeface="DM Sans Bold"/>
                <a:sym typeface="DM Sans Bold"/>
              </a:rPr>
              <a:t>Jenis-jenis operator rasional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91504" y="658870"/>
            <a:ext cx="13710987" cy="2228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7"/>
              </a:lnSpc>
            </a:pPr>
            <a:r>
              <a:rPr lang="en-US" sz="6383">
                <a:solidFill>
                  <a:srgbClr val="2B2D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Penerapkan Operator Rasional?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19267" y="4134353"/>
            <a:ext cx="6033478" cy="417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70"/>
              </a:lnSpc>
            </a:pPr>
          </a:p>
          <a:p>
            <a:pPr algn="just" marL="647706" indent="-323853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== Sama dengan</a:t>
            </a:r>
          </a:p>
          <a:p>
            <a:pPr algn="just" marL="647706" indent="-323853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!= Tidak sama dengan</a:t>
            </a:r>
          </a:p>
          <a:p>
            <a:pPr algn="just" marL="647706" indent="-323853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&gt;  Lebih besar</a:t>
            </a:r>
          </a:p>
          <a:p>
            <a:pPr algn="just" marL="647706" indent="-323853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&lt;  Lebih kecil</a:t>
            </a:r>
          </a:p>
          <a:p>
            <a:pPr algn="just" marL="647706" indent="-323853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&gt;= Lebih besar sama dengan</a:t>
            </a:r>
          </a:p>
          <a:p>
            <a:pPr algn="just" marL="647706" indent="-323853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&lt;= Lebih kecil sama dengan</a:t>
            </a:r>
          </a:p>
          <a:p>
            <a:pPr algn="just">
              <a:lnSpc>
                <a:spcPts val="417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1225822" y="3598545"/>
            <a:ext cx="6033478" cy="2566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70"/>
              </a:lnSpc>
            </a:pPr>
            <a:r>
              <a:rPr lang="en-US" sz="3000" b="true">
                <a:solidFill>
                  <a:srgbClr val="2B2D42"/>
                </a:solidFill>
                <a:latin typeface="DM Sans Bold"/>
                <a:ea typeface="DM Sans Bold"/>
                <a:cs typeface="DM Sans Bold"/>
                <a:sym typeface="DM Sans Bold"/>
              </a:rPr>
              <a:t>Pseudocode :</a:t>
            </a:r>
          </a:p>
          <a:p>
            <a:pPr algn="just">
              <a:lnSpc>
                <a:spcPts val="4170"/>
              </a:lnSpc>
            </a:pPr>
          </a:p>
          <a:p>
            <a:pPr algn="just">
              <a:lnSpc>
                <a:spcPts val="4031"/>
              </a:lnSpc>
            </a:pPr>
            <a:r>
              <a:rPr lang="en-US" sz="29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Jika nilai &lt; 0 ATAU nilai &gt; 100 maka</a:t>
            </a:r>
          </a:p>
          <a:p>
            <a:pPr algn="just">
              <a:lnSpc>
                <a:spcPts val="4031"/>
              </a:lnSpc>
            </a:pPr>
            <a:r>
              <a:rPr lang="en-US" sz="29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  Tampilkan "Data tidak valid"</a:t>
            </a:r>
          </a:p>
          <a:p>
            <a:pPr algn="just">
              <a:lnSpc>
                <a:spcPts val="417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1225822" y="6193657"/>
            <a:ext cx="6033478" cy="408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70"/>
              </a:lnSpc>
            </a:pPr>
            <a:r>
              <a:rPr lang="en-US" sz="3000" b="true">
                <a:solidFill>
                  <a:srgbClr val="2B2D42"/>
                </a:solidFill>
                <a:latin typeface="DM Sans Bold"/>
                <a:ea typeface="DM Sans Bold"/>
                <a:cs typeface="DM Sans Bold"/>
                <a:sym typeface="DM Sans Bold"/>
              </a:rPr>
              <a:t>Coding :</a:t>
            </a:r>
          </a:p>
          <a:p>
            <a:pPr algn="just">
              <a:lnSpc>
                <a:spcPts val="4031"/>
              </a:lnSpc>
            </a:pPr>
          </a:p>
          <a:p>
            <a:pPr algn="just">
              <a:lnSpc>
                <a:spcPts val="4031"/>
              </a:lnSpc>
            </a:pPr>
            <a:r>
              <a:rPr lang="en-US" sz="29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if (nilai &lt; 0 || nilai &gt; 100) {</a:t>
            </a:r>
          </a:p>
          <a:p>
            <a:pPr algn="just">
              <a:lnSpc>
                <a:spcPts val="4031"/>
              </a:lnSpc>
            </a:pPr>
            <a:r>
              <a:rPr lang="en-US" sz="29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    cout &lt;&lt; "Data tidak valid";</a:t>
            </a:r>
          </a:p>
          <a:p>
            <a:pPr algn="just">
              <a:lnSpc>
                <a:spcPts val="4031"/>
              </a:lnSpc>
            </a:pPr>
            <a:r>
              <a:rPr lang="en-US" sz="29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} else {</a:t>
            </a:r>
          </a:p>
          <a:p>
            <a:pPr algn="just">
              <a:lnSpc>
                <a:spcPts val="4031"/>
              </a:lnSpc>
            </a:pPr>
            <a:r>
              <a:rPr lang="en-US" sz="29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    cout &lt;&lt; "Data valid";</a:t>
            </a:r>
          </a:p>
          <a:p>
            <a:pPr algn="just">
              <a:lnSpc>
                <a:spcPts val="4170"/>
              </a:lnSpc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}</a:t>
            </a:r>
          </a:p>
          <a:p>
            <a:pPr algn="just">
              <a:lnSpc>
                <a:spcPts val="417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C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5726" y="8649837"/>
            <a:ext cx="4058542" cy="368301"/>
            <a:chOff x="0" y="0"/>
            <a:chExt cx="1068916" cy="970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8916" cy="97001"/>
            </a:xfrm>
            <a:custGeom>
              <a:avLst/>
              <a:gdLst/>
              <a:ahLst/>
              <a:cxnLst/>
              <a:rect r="r" b="b" t="t" l="l"/>
              <a:pathLst>
                <a:path h="97001" w="1068916">
                  <a:moveTo>
                    <a:pt x="48501" y="0"/>
                  </a:moveTo>
                  <a:lnTo>
                    <a:pt x="1020416" y="0"/>
                  </a:lnTo>
                  <a:cubicBezTo>
                    <a:pt x="1033279" y="0"/>
                    <a:pt x="1045615" y="5110"/>
                    <a:pt x="1054711" y="14205"/>
                  </a:cubicBezTo>
                  <a:cubicBezTo>
                    <a:pt x="1063806" y="23301"/>
                    <a:pt x="1068916" y="35637"/>
                    <a:pt x="1068916" y="48501"/>
                  </a:cubicBezTo>
                  <a:lnTo>
                    <a:pt x="1068916" y="48501"/>
                  </a:lnTo>
                  <a:cubicBezTo>
                    <a:pt x="1068916" y="61364"/>
                    <a:pt x="1063806" y="73700"/>
                    <a:pt x="1054711" y="82796"/>
                  </a:cubicBezTo>
                  <a:cubicBezTo>
                    <a:pt x="1045615" y="91891"/>
                    <a:pt x="1033279" y="97001"/>
                    <a:pt x="1020416" y="97001"/>
                  </a:cubicBezTo>
                  <a:lnTo>
                    <a:pt x="48501" y="97001"/>
                  </a:lnTo>
                  <a:cubicBezTo>
                    <a:pt x="35637" y="97001"/>
                    <a:pt x="23301" y="91891"/>
                    <a:pt x="14205" y="82796"/>
                  </a:cubicBezTo>
                  <a:cubicBezTo>
                    <a:pt x="5110" y="73700"/>
                    <a:pt x="0" y="61364"/>
                    <a:pt x="0" y="48501"/>
                  </a:cubicBezTo>
                  <a:lnTo>
                    <a:pt x="0" y="48501"/>
                  </a:lnTo>
                  <a:cubicBezTo>
                    <a:pt x="0" y="35637"/>
                    <a:pt x="5110" y="23301"/>
                    <a:pt x="14205" y="14205"/>
                  </a:cubicBezTo>
                  <a:cubicBezTo>
                    <a:pt x="23301" y="5110"/>
                    <a:pt x="35637" y="0"/>
                    <a:pt x="48501" y="0"/>
                  </a:cubicBezTo>
                  <a:close/>
                </a:path>
              </a:pathLst>
            </a:custGeom>
            <a:solidFill>
              <a:srgbClr val="EBECE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68916" cy="135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0"/>
            <a:ext cx="2554319" cy="10287000"/>
          </a:xfrm>
          <a:custGeom>
            <a:avLst/>
            <a:gdLst/>
            <a:ahLst/>
            <a:cxnLst/>
            <a:rect r="r" b="b" t="t" l="l"/>
            <a:pathLst>
              <a:path h="10287000" w="2554319">
                <a:moveTo>
                  <a:pt x="0" y="0"/>
                </a:moveTo>
                <a:lnTo>
                  <a:pt x="2554319" y="0"/>
                </a:lnTo>
                <a:lnTo>
                  <a:pt x="255431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143" t="0" r="-482328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54319" y="0"/>
            <a:ext cx="15733681" cy="10287000"/>
          </a:xfrm>
          <a:custGeom>
            <a:avLst/>
            <a:gdLst/>
            <a:ahLst/>
            <a:cxnLst/>
            <a:rect r="r" b="b" t="t" l="l"/>
            <a:pathLst>
              <a:path h="10287000" w="15733681">
                <a:moveTo>
                  <a:pt x="0" y="0"/>
                </a:moveTo>
                <a:lnTo>
                  <a:pt x="15733681" y="0"/>
                </a:lnTo>
                <a:lnTo>
                  <a:pt x="157336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 l="0" t="-3929" r="-5649" b="-392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691504" y="2837498"/>
            <a:ext cx="11355301" cy="508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70"/>
              </a:lnSpc>
            </a:pPr>
            <a:r>
              <a:rPr lang="en-US" b="true" sz="3000">
                <a:solidFill>
                  <a:srgbClr val="2B2D42"/>
                </a:solidFill>
                <a:latin typeface="DM Sans Bold"/>
                <a:ea typeface="DM Sans Bold"/>
                <a:cs typeface="DM Sans Bold"/>
                <a:sym typeface="DM Sans Bold"/>
              </a:rPr>
              <a:t>Jenis-jenis operator logika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91504" y="658870"/>
            <a:ext cx="13710987" cy="109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7"/>
              </a:lnSpc>
            </a:pPr>
            <a:r>
              <a:rPr lang="en-US" sz="6383">
                <a:solidFill>
                  <a:srgbClr val="2B2D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Penerapkan Operator Logika?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91504" y="3288983"/>
            <a:ext cx="5871953" cy="3128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70"/>
              </a:lnSpc>
            </a:pPr>
          </a:p>
          <a:p>
            <a:pPr algn="just" marL="647706" indent="-323853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&amp;&amp; AND</a:t>
            </a:r>
          </a:p>
          <a:p>
            <a:pPr algn="just" marL="647706" indent="-323853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|| OR</a:t>
            </a:r>
          </a:p>
          <a:p>
            <a:pPr algn="just" marL="647706" indent="-323853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!  NOT</a:t>
            </a:r>
          </a:p>
          <a:p>
            <a:pPr algn="just">
              <a:lnSpc>
                <a:spcPts val="4170"/>
              </a:lnSpc>
            </a:pPr>
          </a:p>
          <a:p>
            <a:pPr algn="just">
              <a:lnSpc>
                <a:spcPts val="417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3691504" y="6047835"/>
            <a:ext cx="6033478" cy="408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70"/>
              </a:lnSpc>
            </a:pPr>
            <a:r>
              <a:rPr lang="en-US" sz="3000" b="true">
                <a:solidFill>
                  <a:srgbClr val="2B2D42"/>
                </a:solidFill>
                <a:latin typeface="DM Sans Bold"/>
                <a:ea typeface="DM Sans Bold"/>
                <a:cs typeface="DM Sans Bold"/>
                <a:sym typeface="DM Sans Bold"/>
              </a:rPr>
              <a:t>Pseudocode :</a:t>
            </a:r>
          </a:p>
          <a:p>
            <a:pPr algn="just">
              <a:lnSpc>
                <a:spcPts val="4170"/>
              </a:lnSpc>
            </a:pPr>
          </a:p>
          <a:p>
            <a:pPr algn="just">
              <a:lnSpc>
                <a:spcPts val="4031"/>
              </a:lnSpc>
            </a:pPr>
            <a:r>
              <a:rPr lang="en-US" sz="29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Jika nilai ≥ 60 DAN hadir ≥ 75 maka</a:t>
            </a:r>
          </a:p>
          <a:p>
            <a:pPr algn="just">
              <a:lnSpc>
                <a:spcPts val="4031"/>
              </a:lnSpc>
            </a:pPr>
            <a:r>
              <a:rPr lang="en-US" sz="29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  Lulus</a:t>
            </a:r>
          </a:p>
          <a:p>
            <a:pPr algn="just">
              <a:lnSpc>
                <a:spcPts val="4031"/>
              </a:lnSpc>
            </a:pPr>
            <a:r>
              <a:rPr lang="en-US" sz="29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Jika tidak</a:t>
            </a:r>
          </a:p>
          <a:p>
            <a:pPr algn="just">
              <a:lnSpc>
                <a:spcPts val="4031"/>
              </a:lnSpc>
            </a:pPr>
            <a:r>
              <a:rPr lang="en-US" sz="29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  Tidak Lulus</a:t>
            </a:r>
          </a:p>
          <a:p>
            <a:pPr algn="just">
              <a:lnSpc>
                <a:spcPts val="4031"/>
              </a:lnSpc>
            </a:pPr>
          </a:p>
          <a:p>
            <a:pPr algn="just">
              <a:lnSpc>
                <a:spcPts val="4170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1676921" y="2837498"/>
            <a:ext cx="6033478" cy="4585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70"/>
              </a:lnSpc>
            </a:pPr>
            <a:r>
              <a:rPr lang="en-US" sz="3000" b="true">
                <a:solidFill>
                  <a:srgbClr val="2B2D42"/>
                </a:solidFill>
                <a:latin typeface="DM Sans Bold"/>
                <a:ea typeface="DM Sans Bold"/>
                <a:cs typeface="DM Sans Bold"/>
                <a:sym typeface="DM Sans Bold"/>
              </a:rPr>
              <a:t>Coding :</a:t>
            </a:r>
          </a:p>
          <a:p>
            <a:pPr algn="just">
              <a:lnSpc>
                <a:spcPts val="4031"/>
              </a:lnSpc>
            </a:pPr>
          </a:p>
          <a:p>
            <a:pPr algn="just">
              <a:lnSpc>
                <a:spcPts val="4031"/>
              </a:lnSpc>
            </a:pPr>
            <a:r>
              <a:rPr lang="en-US" sz="29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if (nilai &gt;= 60 &amp;&amp; hadir &gt;= 75) {</a:t>
            </a:r>
          </a:p>
          <a:p>
            <a:pPr algn="just">
              <a:lnSpc>
                <a:spcPts val="4031"/>
              </a:lnSpc>
            </a:pPr>
            <a:r>
              <a:rPr lang="en-US" sz="29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    cout &lt;&lt; "Lulus";</a:t>
            </a:r>
          </a:p>
          <a:p>
            <a:pPr algn="just">
              <a:lnSpc>
                <a:spcPts val="4031"/>
              </a:lnSpc>
            </a:pPr>
            <a:r>
              <a:rPr lang="en-US" sz="29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} else {</a:t>
            </a:r>
          </a:p>
          <a:p>
            <a:pPr algn="just">
              <a:lnSpc>
                <a:spcPts val="4031"/>
              </a:lnSpc>
            </a:pPr>
            <a:r>
              <a:rPr lang="en-US" sz="29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    cout &lt;&lt; "Tidak Lulus";</a:t>
            </a:r>
          </a:p>
          <a:p>
            <a:pPr algn="just">
              <a:lnSpc>
                <a:spcPts val="4031"/>
              </a:lnSpc>
            </a:pPr>
            <a:r>
              <a:rPr lang="en-US" sz="29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}</a:t>
            </a:r>
          </a:p>
          <a:p>
            <a:pPr algn="just">
              <a:lnSpc>
                <a:spcPts val="4170"/>
              </a:lnSpc>
            </a:pPr>
          </a:p>
          <a:p>
            <a:pPr algn="just">
              <a:lnSpc>
                <a:spcPts val="4170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C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5726" y="8649837"/>
            <a:ext cx="4058542" cy="368301"/>
            <a:chOff x="0" y="0"/>
            <a:chExt cx="1068916" cy="9700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68916" cy="97001"/>
            </a:xfrm>
            <a:custGeom>
              <a:avLst/>
              <a:gdLst/>
              <a:ahLst/>
              <a:cxnLst/>
              <a:rect r="r" b="b" t="t" l="l"/>
              <a:pathLst>
                <a:path h="97001" w="1068916">
                  <a:moveTo>
                    <a:pt x="48501" y="0"/>
                  </a:moveTo>
                  <a:lnTo>
                    <a:pt x="1020416" y="0"/>
                  </a:lnTo>
                  <a:cubicBezTo>
                    <a:pt x="1033279" y="0"/>
                    <a:pt x="1045615" y="5110"/>
                    <a:pt x="1054711" y="14205"/>
                  </a:cubicBezTo>
                  <a:cubicBezTo>
                    <a:pt x="1063806" y="23301"/>
                    <a:pt x="1068916" y="35637"/>
                    <a:pt x="1068916" y="48501"/>
                  </a:cubicBezTo>
                  <a:lnTo>
                    <a:pt x="1068916" y="48501"/>
                  </a:lnTo>
                  <a:cubicBezTo>
                    <a:pt x="1068916" y="61364"/>
                    <a:pt x="1063806" y="73700"/>
                    <a:pt x="1054711" y="82796"/>
                  </a:cubicBezTo>
                  <a:cubicBezTo>
                    <a:pt x="1045615" y="91891"/>
                    <a:pt x="1033279" y="97001"/>
                    <a:pt x="1020416" y="97001"/>
                  </a:cubicBezTo>
                  <a:lnTo>
                    <a:pt x="48501" y="97001"/>
                  </a:lnTo>
                  <a:cubicBezTo>
                    <a:pt x="35637" y="97001"/>
                    <a:pt x="23301" y="91891"/>
                    <a:pt x="14205" y="82796"/>
                  </a:cubicBezTo>
                  <a:cubicBezTo>
                    <a:pt x="5110" y="73700"/>
                    <a:pt x="0" y="61364"/>
                    <a:pt x="0" y="48501"/>
                  </a:cubicBezTo>
                  <a:lnTo>
                    <a:pt x="0" y="48501"/>
                  </a:lnTo>
                  <a:cubicBezTo>
                    <a:pt x="0" y="35637"/>
                    <a:pt x="5110" y="23301"/>
                    <a:pt x="14205" y="14205"/>
                  </a:cubicBezTo>
                  <a:cubicBezTo>
                    <a:pt x="23301" y="5110"/>
                    <a:pt x="35637" y="0"/>
                    <a:pt x="48501" y="0"/>
                  </a:cubicBezTo>
                  <a:close/>
                </a:path>
              </a:pathLst>
            </a:custGeom>
            <a:solidFill>
              <a:srgbClr val="EBECE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68916" cy="135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0" y="0"/>
            <a:ext cx="2554319" cy="10287000"/>
          </a:xfrm>
          <a:custGeom>
            <a:avLst/>
            <a:gdLst/>
            <a:ahLst/>
            <a:cxnLst/>
            <a:rect r="r" b="b" t="t" l="l"/>
            <a:pathLst>
              <a:path h="10287000" w="2554319">
                <a:moveTo>
                  <a:pt x="0" y="0"/>
                </a:moveTo>
                <a:lnTo>
                  <a:pt x="2554319" y="0"/>
                </a:lnTo>
                <a:lnTo>
                  <a:pt x="2554319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143" t="0" r="-482328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54319" y="0"/>
            <a:ext cx="15733681" cy="10287000"/>
          </a:xfrm>
          <a:custGeom>
            <a:avLst/>
            <a:gdLst/>
            <a:ahLst/>
            <a:cxnLst/>
            <a:rect r="r" b="b" t="t" l="l"/>
            <a:pathLst>
              <a:path h="10287000" w="15733681">
                <a:moveTo>
                  <a:pt x="0" y="0"/>
                </a:moveTo>
                <a:lnTo>
                  <a:pt x="15733681" y="0"/>
                </a:lnTo>
                <a:lnTo>
                  <a:pt x="1573368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3000"/>
            </a:blip>
            <a:stretch>
              <a:fillRect l="0" t="-3929" r="-5649" b="-3929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691504" y="2951562"/>
            <a:ext cx="11355301" cy="5086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70"/>
              </a:lnSpc>
            </a:pPr>
            <a:r>
              <a:rPr lang="en-US" b="true" sz="3000">
                <a:solidFill>
                  <a:srgbClr val="2B2D42"/>
                </a:solidFill>
                <a:latin typeface="DM Sans Bold"/>
                <a:ea typeface="DM Sans Bold"/>
                <a:cs typeface="DM Sans Bold"/>
                <a:sym typeface="DM Sans Bold"/>
              </a:rPr>
              <a:t>Studi Kasus 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91504" y="716020"/>
            <a:ext cx="13710987" cy="1781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37"/>
              </a:lnSpc>
            </a:pPr>
            <a:r>
              <a:rPr lang="en-US" sz="3384">
                <a:solidFill>
                  <a:srgbClr val="2B2D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Bagaimana Menerapkan Operator Aritmatika, Rasional dan Logika Pada Percabangan, Validasi Data serta Pengambilan Keputusan?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91504" y="3491865"/>
            <a:ext cx="8894824" cy="6795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70"/>
              </a:lnSpc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Sebuah program digunakan untuk menentukan status kelulusan mahasiswa berdasarkan:</a:t>
            </a:r>
          </a:p>
          <a:p>
            <a:pPr algn="just">
              <a:lnSpc>
                <a:spcPts val="4170"/>
              </a:lnSpc>
            </a:pPr>
          </a:p>
          <a:p>
            <a:pPr algn="just" marL="647706" indent="-323853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Nilai Tugas</a:t>
            </a:r>
          </a:p>
          <a:p>
            <a:pPr algn="just" marL="647706" indent="-323853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Nilai UTS</a:t>
            </a:r>
          </a:p>
          <a:p>
            <a:pPr algn="just" marL="647706" indent="-323853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Nilai UAS</a:t>
            </a:r>
          </a:p>
          <a:p>
            <a:pPr algn="just" marL="647706" indent="-323853" lvl="1">
              <a:lnSpc>
                <a:spcPts val="4170"/>
              </a:lnSpc>
              <a:buFont typeface="Arial"/>
              <a:buChar char="•"/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Kehadiran (%)</a:t>
            </a:r>
          </a:p>
          <a:p>
            <a:pPr algn="just">
              <a:lnSpc>
                <a:spcPts val="4170"/>
              </a:lnSpc>
            </a:pPr>
          </a:p>
          <a:p>
            <a:pPr algn="just">
              <a:lnSpc>
                <a:spcPts val="4170"/>
              </a:lnSpc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Program harus:</a:t>
            </a:r>
          </a:p>
          <a:p>
            <a:pPr algn="just" marL="647706" indent="-323853" lvl="1">
              <a:lnSpc>
                <a:spcPts val="4170"/>
              </a:lnSpc>
              <a:buAutoNum type="arabicPeriod" startAt="1"/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Memvalidasi data input</a:t>
            </a:r>
          </a:p>
          <a:p>
            <a:pPr algn="just" marL="647706" indent="-323853" lvl="1">
              <a:lnSpc>
                <a:spcPts val="4170"/>
              </a:lnSpc>
              <a:buAutoNum type="arabicPeriod" startAt="1"/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Menghitung nilai akhir</a:t>
            </a:r>
          </a:p>
          <a:p>
            <a:pPr algn="just" marL="647706" indent="-323853" lvl="1">
              <a:lnSpc>
                <a:spcPts val="4170"/>
              </a:lnSpc>
              <a:buAutoNum type="arabicPeriod" startAt="1"/>
            </a:pPr>
            <a:r>
              <a:rPr lang="en-US" sz="3000">
                <a:solidFill>
                  <a:srgbClr val="2B2D42"/>
                </a:solidFill>
                <a:latin typeface="DM Sans"/>
                <a:ea typeface="DM Sans"/>
                <a:cs typeface="DM Sans"/>
                <a:sym typeface="DM Sans"/>
              </a:rPr>
              <a:t>Mengambil keputusan kelulusan</a:t>
            </a:r>
          </a:p>
          <a:p>
            <a:pPr algn="just">
              <a:lnSpc>
                <a:spcPts val="4170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BEC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532532" y="-72344"/>
            <a:ext cx="19629774" cy="8229600"/>
          </a:xfrm>
          <a:custGeom>
            <a:avLst/>
            <a:gdLst/>
            <a:ahLst/>
            <a:cxnLst/>
            <a:rect r="r" b="b" t="t" l="l"/>
            <a:pathLst>
              <a:path h="8229600" w="19629774">
                <a:moveTo>
                  <a:pt x="0" y="0"/>
                </a:moveTo>
                <a:lnTo>
                  <a:pt x="19629774" y="0"/>
                </a:lnTo>
                <a:lnTo>
                  <a:pt x="1962977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9680" r="0" b="-12968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6027513"/>
            <a:ext cx="18288000" cy="4259487"/>
          </a:xfrm>
          <a:custGeom>
            <a:avLst/>
            <a:gdLst/>
            <a:ahLst/>
            <a:cxnLst/>
            <a:rect r="r" b="b" t="t" l="l"/>
            <a:pathLst>
              <a:path h="4259487" w="18288000">
                <a:moveTo>
                  <a:pt x="0" y="0"/>
                </a:moveTo>
                <a:lnTo>
                  <a:pt x="18288000" y="0"/>
                </a:lnTo>
                <a:lnTo>
                  <a:pt x="18288000" y="4259487"/>
                </a:lnTo>
                <a:lnTo>
                  <a:pt x="0" y="42594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4000"/>
            </a:blip>
            <a:stretch>
              <a:fillRect l="0" t="-162024" r="0" b="-2402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03139" y="-766547"/>
            <a:ext cx="16681722" cy="7946566"/>
          </a:xfrm>
          <a:custGeom>
            <a:avLst/>
            <a:gdLst/>
            <a:ahLst/>
            <a:cxnLst/>
            <a:rect r="r" b="b" t="t" l="l"/>
            <a:pathLst>
              <a:path h="7946566" w="16681722">
                <a:moveTo>
                  <a:pt x="0" y="0"/>
                </a:moveTo>
                <a:lnTo>
                  <a:pt x="16681722" y="0"/>
                </a:lnTo>
                <a:lnTo>
                  <a:pt x="16681722" y="7946566"/>
                </a:lnTo>
                <a:lnTo>
                  <a:pt x="0" y="79465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474487" y="6216369"/>
            <a:ext cx="13339026" cy="2205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88"/>
              </a:lnSpc>
            </a:pPr>
            <a:r>
              <a:rPr lang="en-US" b="true" sz="12920">
                <a:solidFill>
                  <a:srgbClr val="2B2D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TERIMAKASIH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45589" y="8308700"/>
            <a:ext cx="7996821" cy="94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11"/>
              </a:lnSpc>
            </a:pPr>
            <a:r>
              <a:rPr lang="en-US" sz="5579">
                <a:solidFill>
                  <a:srgbClr val="2B2D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Semoga Bermanfaat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DAHA4tn4GyA</dc:identifier>
  <dcterms:modified xsi:type="dcterms:W3CDTF">2011-08-01T06:04:30Z</dcterms:modified>
  <cp:revision>1</cp:revision>
  <dc:title>Abu abu Modern Presentasi Seminar Proposal</dc:title>
</cp:coreProperties>
</file>